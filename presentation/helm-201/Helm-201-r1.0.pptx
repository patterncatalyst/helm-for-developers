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second of two decks for the Helm for Developers tutorial. The 101 covered charts, values, templates, hooks and safe releases with Helm 4. This deck covers chapters 13 to 27: testing, multi-service charts, distribution, plugins, delivery and OpenShift. Every example runs against Helm 4.3.0 on minikube profile helm4dev; the OpenShift section is the exception and is covered in that section.
What to show: nothing live on the cover; have a terminal open in the repository root with `source scripts/env.sh` already run.
Fallback: none needed; the deck stands on its own and each section names its examples/NN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Six sections that follow the order a chart team meets the problems: prove the chart works, compose several charts into a platform, publish it, extend Helm where the chart cannot reach, deliver it across environments, and run it on OpenShift. Helm 101 is assumed: charts, values precedence, templates, hooks, --wait and --rollback-on-failure.
What to show: the repository tree: `ls examples/` and `ls charts/`; the 201 uses examples/13 to 27.
Fallback: the tutorial site lists the same chapters in the same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five ideas from the 101 that the 201 builds on. Nothing new here; it is a checkpoint so the audience can place themselves. Helm 4 renamed the rollback and replace flags; the 101 appendix has the Helm 3 to Helm 4 flag map.
What to show: `helm history shipping -n hfd-12` from examples/12-release-lifecycle if a release is still installed.
Fallback: the 101 deck's closing slide carries the same four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13 and 14. Most chart bugs are visible without a cluster: schema errors, template errors, invalid YAML, deprecated APIs, wrong field types. This section orders the checks from cheapest to most expensive and then turns them into tests and a CI pipeline.
What to show: examples/13-debugging and examples/14-chart-testing.
Fallback: the chapters carry recorded output for every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Seven rungs from `helm lint --strict` to `helm get manifest`. Rungs one to four need no cluster; five to seven need an API server. The example plants five faults, one per early rung: a values schema violation, a nil pointer in a template, valid template with invalid YAML, a deprecated API that only --strict fails, and a string containerPort that only kubeconform rejects.
What to show: `cd examples/13-debugging &amp;&amp; ./demo.sh offline` and read the five fault blocks.
Fallback: the chapter 13 transcript shows the same five error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cluster-facing rungs. `--dry-run=server` connects to the API server, resolves every kind against it and runs `lookup`, which catches unknown kinds. On Helm 4.3.0 it does not schema-validate fields: a string containerPort, an unknown field, negative replicas and a Pod Security violation all pass. For field validation pipe `helm template` into `kubectl apply --server-side --dry-run=server -f -`, which rejects them. `helm diff` is a plugin that compares rendered output against another chart directory or the live release. `helm get manifest` closes the loop by feeding the stored manifest back into kubeconform.
What to show: `cd examples/13-debugging &amp;&amp; ./demo.sh` runs the cluster rungs in namespace hfd-13.
Fallback: the chapter 13 transcript for rungs five to seven.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Three layers. The base is many fast tests that only render: helm-unittest and lint. The middle validates rendered output against schemas and the API server. The top installs the chart into a real cluster and runs helm test. Each layer asserts something the layer below cannot see.
What to show: `helm unittest charts/shipping-service` (30 tests across 6 suites in the reference chart) and then `helm test shipping -n hfd-14`.
Fallback: the chapter 14 transcript lists the passing suites.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helm-unittest suite is YAML beside the chart. Each test renders templates with chosen values and asserts on the output. `failedTemplate` asserts that a `required` or `fail` call fires with the expected message, which tests the guard rails and not only the happy path. Snapshot tests store whole rendered documents; a change shows up as a failed snapshot until it is reviewed and refreshed with `-u`.
What to show: `cd examples/14-chart-testing &amp;&amp; ./demo.sh offline` for the pass run and the planted snapshot failure.
Fallback: chapter 14 shows 30 passing tests in 6 suites and the snapshot failure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Two tools that sit between unit tests and a full install. chart-testing (ct) lints chart metadata and runs each ci/ values file through lint and install. kubeconform validates the rendered manifests against the schema of the Kubernetes version you pin, and against CRD schemas when given a catalog. Unknown Chart.yaml keys are rejected by ct lint, which the example plants as a failure.
What to show: `cd examples/14-chart-testing &amp;&amp; ./demo.sh offline`, then the no-argument run for `ct install`.
Fallback: chapter 14 cross-check section shows the expected output of each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pipeline is the chapter 14 commands in order, with publication from chapter 20 appended. Stage one is cheap and runs on every push. Stage two needs a cluster, so it runs in a job that provisions one. Stage three runs only on a version tag. The same script runs locally, which is the point: the pipeline adds no check a developer cannot run.
What to show: `cd examples/14-chart-testing &amp;&amp; ./demo.sh` runs stages one and two against minikube.
Fallback: the pipeline slide itself; every command appears in chapters 14 and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15 to 18. A notification service and a Kafka cluster join the shipping service, an umbrella chart composes them, a library chart removes the duplicated templates, and a starter turns the result into a golden path for new services.
What to show: examples/15-kafka-notification, 16-umbrella, 17-library-chart, 18-starters.
Fallback: chapter transcripts for each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An operator owns the brokers and the chart owns the declaration. Strimzi 0.51.0 is installed once per cluster in the strimzi namespace and watches every namespace. The shipping-kafka chart renders the Kafka, KafkaNodePool and KafkaTopic resources. Its `exports.kafka.bootstrap` value is static so that an umbrella can import it into the services that need a broker address.
What to show: `cd examples/15-kafka-notification &amp;&amp; ./demo.sh`, then `kubectl -n hfd-15 get kafka,kafkanodepool,kafkatopic`.
Fallback: chapter 15 transcript; the cross-check section shows the expected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shipping-platform umbrella declares four dependencies under aliases. Postgres and Kafka values flow into the services through import-values. The operators for Postgres and Kafka are installed once per cluster, outside the release. The umbrella sets the migration hook to post-install because the CloudNativePG Cluster and its credentials Secret are created in the same release, and a pre-install hook would run before they exist.
What to show: `cd examples/16-umbrella &amp;&amp; ./demo.sh`, then `helm list -n hfd-16`.
Fallback: chapter 16 shows the rendered release and the rollback-on-failure error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Three controls on a dependency. `condition` is a values path that enables or disables one subchart. `tags` group subcharts so one flag, `tags.messaging=false`, removes notification and Kafka together. `alias` lets the same chart appear under a different name in values. When a condition path exists in values it wins over tags. With tags off, also disable the subchart settings that point at Kafka, as `ci/ci-values.yaml` does.
What to show: `helm template platform charts/shipping-platform --set tags.messaging=false` and count the Deployments.
Fallback: chapter 16 transcript shows both renders.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Global values and imports are the two ways data crosses subchart boundaries. Globals flow downward from the umbrella. Imports flow from a subchart's exports to the parent. The trap is precedence: an imported value cannot replace a key the importing subchart already defaults, which is why postgres.host, postgres.existingSecret and kafka.bootstrap carry no default in the service charts.
What to show: `helm template platform charts/shipping-platform | grep -n KAFKA_BOOTSTRAP` shows the imported address in the notification Deployment.
Fallback: chapter 16 section 'Two traps' shows the stale value that a default would leave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Four ways a chart relates to a CRD. The reference charts use the third and fourth: CloudNativePG and Strimzi own their CRDs, and the application charts ship Cluster and Kafka resources and refuse to render if the API is missing. A CRD placed in templates/ is deleted on uninstall together with every custom resource of that kind, which is rarely intended.
What to show: `cd examples/10-crds-operators &amp;&amp; ./demo.sh offline`; the cluster run prints the CRD's managed fields.
Fallback: chapter 10 transcript with the planted guard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`.Capabilities.APIVersions.Has` reports which APIs the target cluster serves. The first guard turns a missing operator into a message that names the fix instead of an opaque apply error. The second makes a Route render only on OpenShift, so the same umbrella installs on minikube unchanged. Offline, `helm template` has no cluster, so `--api-versions` supplies the answer; without it the Route is absent, and the example asserts both outcomes.
What to show: `cd examples/27-openshift-crc &amp;&amp; ./demo.sh offline` shows the Route with and without the flag.
Fallback: chapters 10 and 27 carry both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pc-lib is a chart with `type: library`. It holds the Deployment, Service, probe, security-context and OpenTelemetry templates as named templates. The service charts include them with a dict of arguments. The refactor reduced notification-service templates from 224 lines to 16 and shipping-service from 295 to 87, and a diff of `helm template` before and after confirms identical manifests. A library chart cannot be installed on its own.
What to show: `cd examples/17-library-chart &amp;&amp; ./demo.sh` prints the line counts and the identical-output check.
Fallback: chapter 17 transcript with the line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golden path is the supported route to a working service. The starter supplies the first commit, pc-lib supplies behavior, and the schema and ci/ values supply the guardrails. `helm create --starter` copies the starter and replaces `&lt;CHARTNAME&gt;`; it also rewrites Chart.yaml, so the pc-lib dependency ships as a snippet to append. Version the starter and record which version a service was built from, and measure the path by how many teams stay on it.
What to show: `cd examples/18-starters &amp;&amp; ./demo.sh`; it generates a service and runs it through lint, kubeconform, install and helm test.
Fallback: chapter 18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19 to 21. Chart versions have rules, repositories come in two forms, OCI registries are the current default, and there are two independent signature mechanisms.
What to show: examples/19-packaging-repos, 20-oci, 21-signing.
Fallback: chapter transcripts.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Two numbers that move independently. `version` is SemVer for the chart: major when a values key a consumer sets disappears or changes meaning, minor for an added template or optional value, patch for a fix. `appVersion` describes the software inside and is the default image tag. Helm's version parser is lenient and accepts 1.0 or v1.0.2; use three-part numbers without a v so ordering, ranges and tooling behave.
What to show: `cd examples/19-packaging-repos &amp;&amp; ./demo.sh`.
Fallback: chapter 19 shows the packaged chart rendering image shipping-service:0.1.1.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Classic repositories are an index.yaml plus tarballs served over HTTP, built with `helm repo index`. OCI registries store the chart as an artifact, so push, pull and install use oci:// references and the tag is the version. OCI adds digest pinning, which is why the promotion workflow later in this deck records digests. The Helm 4 OCI behavior, including install by digest and changes to `helm registry`, is documented on helm.sh/docs.
What to show: `cd examples/19-packaging-repos &amp;&amp; ./demo.sh` for a classic repo, then `cd ../20-oci &amp;&amp; ./demo.sh`.
Fallback: chapters 19 and 20 transcripts.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OCI flow end to end. `helm package` builds the tarball, `helm push` sends it to oci://host/charts, and the registry stores the chart under its version tag. Signatures live beside it as separate artifacts. Installs accept a tag or a manifest digest. A local registry on plain HTTP needs `--plain-http`, which the example uses with a registry container on 127.0.0.1:5001.
What to show: `cd examples/20-oci &amp;&amp; ./demo.sh` and `curl -s http://127.0.0.1:5001/v2/charts/shipping-service/tags/list`.
Fallback: chapter 20 transcript; it shows the HTTP-to-HTTPS error that --plain-http removes.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Helm's native provenance is a PGP signature. `helm package --sign` writes a .prov file next to the tarball containing the chart metadata and its sha256, signed with the key. `helm verify` recomputes the hash and checks the signature. In the example a modified tarball fails with a sha256 mismatch. Keys here are throwaway keys in a project-local GNUPGHOME; production keys belong in a managed keyring or hardware token.
What to show: `cd examples/21-signing &amp;&amp; ./demo.sh`, which also shows the tamper failure.
Fallback: chapter 21 transcript with the 'Chart Hash Verified' output and the mismatch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Two signatures cover two things. The .prov file covers the chart tarball as a PGP signature that Helm verifies. cosign signs the OCI manifest digest in the registry, so it covers whatever the registry serves under that digest. They are independent and can be used together. cosign 3.1.3 needs extra flags for an HTTP registry and no transparency log; those flags are scaffolding for the local example and are dropped in a real registry with keyless signing.
What to show: `cd examples/21-signing &amp;&amp; ./demo.sh`; the last block runs cosign sign and verify, then the missing-signature failure.
Fallback: chapter 21 transcript with the 'no signatures found'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22 and 23. Helm 4 redesigned the plugin system around typed plugins and a sandboxed Wasm runtime, and made post-renderers plugins. Both are Helm-4-changed topics; the authoritative sources are helm.sh/docs and HIP-0026.
What to show: examples/22-plugins and 23-post-renderers.
Fallback: chapter transcripts; the plugins directory holds the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plugin has a type, which says what Helm uses it for, and a runtime, which says how Helm runs it. The plugin.yaml uses apiVersion v1. `helm plugin install` verifies provenance by default; installing from a git URL needs `--verify=false`, and installing from a local directory is a development install. Design reference: HIP-0026 and the plugins overview on helm.sh/docs.
What to show: `cd examples/22-plugins &amp;&amp; ./demo.sh`; it runs `helm plugin list` showing TYPE and APIVERSION columns.
Fallback: chapter 22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Wasm runtime is the reason for the redesign. The module is sandboxed, with memory and time limits set in the plugin's own configuration, so it holds fewer permissions than a subprocess plugin. `runtime: extism/v1` tells Helm to load plugin.wasm into the Extism runtime instead of running a platform command.
What to show: `cd examples/22-plugins &amp;&amp; ./demo.sh` runs `helm wasm-hello Helm4`; the committed plugin.wasm means no Go toolchain is needed.
Fallback: chapter 22 transcript with the greeting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entry point is the exported `helm_plugin_main`; input and output are JSON through the Extism PDK, and the plugin returns an empty JSON object on success. The example builds with Go targeting wasip1 and the resulting plugin.wasm sits beside plugin.yaml.
What to show: `cd examples/22-plugins &amp;&amp; ./demo.sh` prints the greeting.
Fallback: chapter 22 transcript with the greeting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post-renderer receives the rendered manifests on stdin and writes the modified manifests to stdout before Helm applies them. In Helm 4 a post-renderer is a plugin of type postrenderer/v1, selected by name; a path to an executable is rejected. The example plugin runs kustomize to add a label to every object and an annotation to Deployments. Use one when you need a change the chart's templates do not expose and you do not own the chart.
What to show: `cd examples/23-post-renderers &amp;&amp; ./demo.sh`; it runs `helm template ... --post-renderer kustomize-postrender`.
Fallback: chapter 23 transcript with the labeled output and the path-rejection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Chapters 24 to 26. Environments are values layers plus pins, Helmfile is optional glue, Argo CD changes who runs the release, and the library chart carries telemetry configuration to every service.
What to show: examples/24-environments, 25-gitops-argocd, 26-observability.
Fallback: chapter transcripts.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An environment is a set of values files, not a copy of the chart. The base values.yaml is shared; values-dev, values-stage and values-prod hold the differences; a pins file per environment records the chart version and image tag or digest. Promotion is a reviewed change to the next environment's pins file. The same chart build moves through every environment.
What to show: `cd examples/24-environments &amp;&amp; ./demo.sh offline` renders all three environments; `./demo.sh` installs one.
Fallback: chapter 24 transcript with the rendered diffs between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Helmfile declares the releases for every environment in one file. Its `rollbackOnFailure` maps to Helm 4's `--rollback-on-failure`, and Helmfile refuses it on Helm 3. It is optional: the same promotion works with plain helm commands and a script. The `version:` line is enforced only for charts from a repository or OCI registry; for a local path it is documentation.
What to show: `cd examples/24-environments &amp;&amp; ./demo.sh offline`, which also runs `helmfile -l env=prod template --skip-deps`.
Fallback: the equivalent `helm template platform charts/shipping-platform -f values-prod.yaml -f pins/prod.yaml` from chapter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Argo CD does not run `helm install`. Its repo server renders the chart with `helm template` and its controller applies and reconciles the output. The consequences: no release Secret, so `helm list` shows nothing; Helm hooks are mapped to Argo sync phases; and `--wait` has no counterpart, so health comes from Argo's own checks. The Application points at the chart, a version and a valuesObject. Argo CD is installed from its Helm chart with Dex and notifications disabled for the demo.
What to show: `cd examples/25-gitops-argocd &amp;&amp; ./demo.sh offline`; the cluster run installs Argo CD in namespace argocd and syncs the chart from the registry addon.
Fallback: chapter 25 transcript with the sync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How Helm's ordering maps onto Argo CD. The umbrella's migration Job is post-install and post-upgrade, which Argo treats as PostSync: it runs after every regular resource is Healthy, so the shipping pods must become Ready first. That is the same ordering `--wait` enforced under Helm. Within a phase, order comes from weights and waves; the two mechanisms look alike but differ in scope.
What to show: `cd examples/25-gitops-argocd &amp;&amp; ./demo.sh` and `kubectl -n hfd-25 get deploy,job,svc`.
Fallback: chapter 25 section 'Sync waves and hook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library chart turns telemetry configuration into one helper. Every service includes `pc-lib.otelEnv`, which reads `global.otlpEndpoint` and renders the OTEL_* environment variables, including service name and resource attributes. An empty endpoint renders OTEL_SDK_DISABLED=true, so the same chart works with no collector. The umbrella also ships the Grafana dashboard as a ConfigMap that the Grafana sidecar loads.
What to show: `cd examples/26-observability &amp;&amp; ./demo.sh offline`, then `kubectl -n hfd-26 exec deploy/platform-shipping -- env`.
Fallback: chapter 26 transcript with the rendered env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path a request's telemetry takes. Both services export OTLP to the OpenTelemetry Collector in the observability namespace, which fans out traces to Tempo, logs to Loki and metrics to Mimir. Grafana reads all three and loads the chart's dashboard from a labeled ConfigMap. A trace crosses Kafka: the dispatch span in shipping links to the consume span in notification. A TraceQL query on `resource.service.name = "platform-shipping"` finds it.
What to show: Grafana at 127.0.0.1:3000 after `scripts/tunnel.sh`; run the TraceQL query from chapter 26 and open the dispatch trace.
Fallback: chapter 26 transcript lists the spans of one dispatch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Chapter 27. The same umbrella chart installs on OpenShift Local (CRC) with an override values file. The appendix was verified on OpenShift Local 2.64.0 (OpenShift 4.22.14) on 2026-10-08: the full profile with CloudNativePG and either Strimzi 1.2.0 or Streams for Apache Kafka 3.2.1 from OperatorHub, and the minimal profile, all passing verify-crc.sh. The two Kafka operators own the same CRDs, so a cluster runs one of them. The Developer console Helm view was set up against the published repository; the console's own catalog listing was not opened.
What to show: `cd examples/27-openshift-crc &amp;&amp; ./demo.sh offline` anywhere; `PROFILE=full ./verify-crc.sh` on a CRC host.
Fallback: the offline render plus the chapter text; the verify-crc.sh PASS lines from the 2026-10-08 CRC run in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one place a chart written for minikube can fail on OpenShift without a template error. The reference charts avoid it by construction: no runAsUser, no fsGroup. The Containerfile's USER 1001:0 is only a default, replaced by the project's assigned UID. On CRC every pod, the operator-managed ones included, carried `openshift.io/scc: restricted-v2`, and `id` inside the services showed uid=1000650000 gid=0, not 1001; the root filesystem stayed read-only and the app ran. verify-crc.sh checks both.
What to show: `./verify-crc.sh` on a CRC host prints PASS or FAIL for the SCC annotation and the UID check; `oc exec deploy/platform-shipping -- id` shows it directly.
Fallback: the rendered Deployment from `helm template` shows no runAsUser; the `id` output from the CRC run in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OpenShift overrides switch Services to ClusterIP, point images at the internal registry and enable the Route template gated on `route.openshift.io/v1`. A Route is OpenShift's native entry point, served by the cluster router with edge TLS termination and a redirect from HTTP. On OpenShift Local 2.64.0 (OpenShift 4.22.14) the Route host was generated as platform-shipping-hfd-ocp.apps-crc.testing, `/api/info` returned 200 and plain HTTP redirected with 302.
What to show: `cd examples/27-openshift-crc &amp;&amp; ./demo.sh offline` for the Route render; on CRC, `./verify-crc.sh`.
Fallback: the offline render; the OpenShift Container Platform documentation for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`ProjectHelmChartRepository` makes a chart repository visible in the Developer console's Helm catalog for one project. On OpenShift Local 2.64.0 the resource was accepted with the published URL, the console pod read the index (HTTP 200) and `helm search repo` listed all six charts. The console's catalog listing needs a browser login and was not opened.
What to show: `oc get projecthelmchartrepository -n hfd-ocp` on a CRC host; open Developer, Helm, Create to see the catalog.
Fallback: the YAML on this slide and the chapter 27 section on the Developer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Five points. If the audience keeps one: every check in this deck can run from the command line before CI, and every release step has a Helm-native form even when a GitOps tool drives it. Next steps are the chapter exercises, the cheat sheet that follows, and the reading list.
What to show: return to the tutorial site's chapter list.
Fallback: the cheat sheet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A reference page to keep open in another window. It lists the commands that matter most from chapters 13 to 27; the full cheat sheet is chapter 29 on the tutorial site, including the Helm 3 to Helm 4 flag map in chapter 28.
What to show: `helm &lt;command&gt; --help` from .tools/bin after `source scripts/env.sh` for any flag in doubt.
Fallback: chapter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nine books the tutorial cites, and the official sources. Books are cited for concepts Helm 4 left unchanged: chart anatomy, templating, Kubernetes objects, GitOps and platform ideas. Anything Helm 4 changed, including flags, plugins, post-renderers, OCI and server-side apply, comes from helm.sh/docs, the release notes and the HIPs, because the two Helm books were written for Helm 3.
What to show: chapter 30 on the tutorial site, which gives each book's scope and ISBN.
Fallback: chapter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500" kern="0" dirty="0">
                <a:solidFill>
                  <a:srgbClr val="EE0000"/>
                </a:solidFill>
                <a:latin typeface="Red Hat Display" pitchFamily="34" charset="0"/>
                <a:ea typeface="Red Hat Display" pitchFamily="34" charset="-122"/>
                <a:cs typeface="Red Hat Display" pitchFamily="34" charset="-120"/>
              </a:rPr>
              <a:t>HELM FOR DEVELOPERS · 201</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5000" b="1" dirty="0">
                <a:solidFill>
                  <a:srgbClr val="151515"/>
                </a:solidFill>
                <a:latin typeface="Red Hat Display" pitchFamily="34" charset="0"/>
                <a:ea typeface="Red Hat Display" pitchFamily="34" charset="-122"/>
                <a:cs typeface="Red Hat Display" pitchFamily="34" charset="-120"/>
              </a:rPr>
              <a:t>Helm for</a:t>
            </a:r>
            <a:endParaRPr lang="en-US" sz="5000" dirty="0"/>
          </a:p>
          <a:p>
            <a:pPr algn="l" indent="0" marL="0">
              <a:buNone/>
            </a:pPr>
            <a:r>
              <a:rPr lang="en-US" sz="5000" b="1" dirty="0">
                <a:solidFill>
                  <a:srgbClr val="151515"/>
                </a:solidFill>
                <a:latin typeface="Red Hat Display" pitchFamily="34" charset="0"/>
                <a:ea typeface="Red Hat Display" pitchFamily="34" charset="-122"/>
                <a:cs typeface="Red Hat Display" pitchFamily="34" charset="-120"/>
              </a:rPr>
              <a:t>Developers 201</a:t>
            </a:r>
            <a:endParaRPr lang="en-US" sz="5000" dirty="0"/>
          </a:p>
        </p:txBody>
      </p:sp>
      <p:sp>
        <p:nvSpPr>
          <p:cNvPr id="5" name="Text 2"/>
          <p:cNvSpPr/>
          <p:nvPr/>
        </p:nvSpPr>
        <p:spPr>
          <a:xfrm>
            <a:off x="5486400" y="4160520"/>
            <a:ext cx="6126480" cy="914400"/>
          </a:xfrm>
          <a:prstGeom prst="rect">
            <a:avLst/>
          </a:prstGeom>
          <a:noFill/>
          <a:ln/>
        </p:spPr>
        <p:txBody>
          <a:bodyPr wrap="square" rtlCol="0" anchor="t"/>
          <a:lstStyle/>
          <a:p>
            <a:pPr algn="l" indent="0" marL="0">
              <a:buNone/>
            </a:pPr>
            <a:r>
              <a:rPr lang="en-US" sz="1800" i="1" dirty="0">
                <a:solidFill>
                  <a:srgbClr val="5A5A5A"/>
                </a:solidFill>
                <a:latin typeface="Red Hat Text" pitchFamily="34" charset="0"/>
                <a:ea typeface="Red Hat Text" pitchFamily="34" charset="-122"/>
                <a:cs typeface="Red Hat Text" pitchFamily="34" charset="-120"/>
              </a:rPr>
              <a:t>Testing, umbrella and library charts, OCI distribution, plugins, GitOps and OpenShift with Helm 4</a:t>
            </a:r>
            <a:endParaRPr lang="en-US" sz="18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201 · SESSION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Testing and debugging: the debug ladder, </a:t>
            </a:r>
            <a:r>
              <a:rPr lang="en-US" sz="1900" dirty="0">
                <a:solidFill>
                  <a:srgbClr val="151515"/>
                </a:solidFill>
                <a:latin typeface="Red Hat Mono" pitchFamily="34" charset="0"/>
                <a:ea typeface="Red Hat Mono" pitchFamily="34" charset="-122"/>
                <a:cs typeface="Red Hat Mono" pitchFamily="34" charset="-120"/>
              </a:rPr>
              <a:t>helm-unittest</a:t>
            </a:r>
            <a:r>
              <a:rPr lang="en-US" sz="2000" dirty="0">
                <a:solidFill>
                  <a:srgbClr val="242424"/>
                </a:solidFill>
                <a:latin typeface="Red Hat Text" pitchFamily="34" charset="0"/>
                <a:ea typeface="Red Hat Text" pitchFamily="34" charset="-122"/>
                <a:cs typeface="Red Hat Text" pitchFamily="34" charset="-120"/>
              </a:rPr>
              <a:t>, </a:t>
            </a:r>
            <a:r>
              <a:rPr lang="en-US" sz="1900" dirty="0">
                <a:solidFill>
                  <a:srgbClr val="151515"/>
                </a:solidFill>
                <a:latin typeface="Red Hat Mono" pitchFamily="34" charset="0"/>
                <a:ea typeface="Red Hat Mono" pitchFamily="34" charset="-122"/>
                <a:cs typeface="Red Hat Mono" pitchFamily="34" charset="-120"/>
              </a:rPr>
              <a:t>chart-testing</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Multi-service applications: Strimzi, umbrella charts, library charts, starters</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Distribution: SemVer, OCI registries, provenance, cosign</a:t>
            </a:r>
            <a:endParaRPr lang="en-US" sz="20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Extending Helm: plugin types, Wasm, post-renderer plugins</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Delivery: environments, Helmfile, Argo CD, observability</a:t>
            </a:r>
            <a:endParaRPr lang="en-US" sz="2000" dirty="0"/>
          </a:p>
          <a:p>
            <a:pPr algn="l" marL="342900" indent="-342900">
              <a:lnSpc>
                <a:spcPct val="120000"/>
              </a:lnSpc>
              <a:spcAft>
                <a:spcPts val="800"/>
              </a:spcAft>
              <a:buSzPct val="100000"/>
              <a:buChar char="●"/>
            </a:pPr>
            <a:r>
              <a:rPr lang="en-US" sz="2000" dirty="0">
                <a:solidFill>
                  <a:srgbClr val="242424"/>
                </a:solidFill>
                <a:latin typeface="Red Hat Text" pitchFamily="34" charset="0"/>
                <a:ea typeface="Red Hat Text" pitchFamily="34" charset="-122"/>
                <a:cs typeface="Red Hat Text" pitchFamily="34" charset="-120"/>
              </a:rPr>
              <a:t>OpenShift: SCCs, Routes and the console (Helm 101 is the prerequisite)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201 · RECAP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Helm 101 recap</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Chart and release</a:t>
            </a:r>
            <a:r>
              <a:rPr lang="en-US" sz="2000" dirty="0">
                <a:solidFill>
                  <a:srgbClr val="242424"/>
                </a:solidFill>
                <a:latin typeface="Red Hat Text" pitchFamily="34" charset="0"/>
                <a:ea typeface="Red Hat Text" pitchFamily="34" charset="-122"/>
                <a:cs typeface="Red Hat Text" pitchFamily="34" charset="-120"/>
              </a:rPr>
              <a:t> — a chart is the package, a release is one install of it, stored as a Secret in the release namespace.</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Values</a:t>
            </a:r>
            <a:r>
              <a:rPr lang="en-US" sz="2000" dirty="0">
                <a:solidFill>
                  <a:srgbClr val="242424"/>
                </a:solidFill>
                <a:latin typeface="Red Hat Text" pitchFamily="34" charset="0"/>
                <a:ea typeface="Red Hat Text" pitchFamily="34" charset="-122"/>
                <a:cs typeface="Red Hat Text" pitchFamily="34" charset="-120"/>
              </a:rPr>
              <a:t> — chart defaults, then </a:t>
            </a:r>
            <a:r>
              <a:rPr lang="en-US" sz="1900" dirty="0">
                <a:solidFill>
                  <a:srgbClr val="151515"/>
                </a:solidFill>
                <a:latin typeface="Red Hat Mono" pitchFamily="34" charset="0"/>
                <a:ea typeface="Red Hat Mono" pitchFamily="34" charset="-122"/>
                <a:cs typeface="Red Hat Mono" pitchFamily="34" charset="-120"/>
              </a:rPr>
              <a:t>-f</a:t>
            </a:r>
            <a:r>
              <a:rPr lang="en-US" sz="2000" dirty="0">
                <a:solidFill>
                  <a:srgbClr val="242424"/>
                </a:solidFill>
                <a:latin typeface="Red Hat Text" pitchFamily="34" charset="0"/>
                <a:ea typeface="Red Hat Text" pitchFamily="34" charset="-122"/>
                <a:cs typeface="Red Hat Text" pitchFamily="34" charset="-120"/>
              </a:rPr>
              <a:t> files in order, then </a:t>
            </a:r>
            <a:r>
              <a:rPr lang="en-US" sz="1900" dirty="0">
                <a:solidFill>
                  <a:srgbClr val="151515"/>
                </a:solidFill>
                <a:latin typeface="Red Hat Mono" pitchFamily="34" charset="0"/>
                <a:ea typeface="Red Hat Mono" pitchFamily="34" charset="-122"/>
                <a:cs typeface="Red Hat Mono" pitchFamily="34" charset="-120"/>
              </a:rPr>
              <a:t>--set</a:t>
            </a:r>
            <a:r>
              <a:rPr lang="en-US" sz="2000" dirty="0">
                <a:solidFill>
                  <a:srgbClr val="242424"/>
                </a:solidFill>
                <a:latin typeface="Red Hat Text" pitchFamily="34" charset="0"/>
                <a:ea typeface="Red Hat Text" pitchFamily="34" charset="-122"/>
                <a:cs typeface="Red Hat Text" pitchFamily="34" charset="-120"/>
              </a:rPr>
              <a:t>, </a:t>
            </a:r>
            <a:r>
              <a:rPr lang="en-US" sz="1900" dirty="0">
                <a:solidFill>
                  <a:srgbClr val="151515"/>
                </a:solidFill>
                <a:latin typeface="Red Hat Mono" pitchFamily="34" charset="0"/>
                <a:ea typeface="Red Hat Mono" pitchFamily="34" charset="-122"/>
                <a:cs typeface="Red Hat Mono" pitchFamily="34" charset="-120"/>
              </a:rPr>
              <a:t>--set-json</a:t>
            </a:r>
            <a:r>
              <a:rPr lang="en-US" sz="2000" dirty="0">
                <a:solidFill>
                  <a:srgbClr val="242424"/>
                </a:solidFill>
                <a:latin typeface="Red Hat Text" pitchFamily="34" charset="0"/>
                <a:ea typeface="Red Hat Text" pitchFamily="34" charset="-122"/>
                <a:cs typeface="Red Hat Text" pitchFamily="34" charset="-120"/>
              </a:rPr>
              <a:t> and </a:t>
            </a:r>
            <a:r>
              <a:rPr lang="en-US" sz="1900" dirty="0">
                <a:solidFill>
                  <a:srgbClr val="151515"/>
                </a:solidFill>
                <a:latin typeface="Red Hat Mono" pitchFamily="34" charset="0"/>
                <a:ea typeface="Red Hat Mono" pitchFamily="34" charset="-122"/>
                <a:cs typeface="Red Hat Mono" pitchFamily="34" charset="-120"/>
              </a:rPr>
              <a:t>--set-file</a:t>
            </a:r>
            <a:r>
              <a:rPr lang="en-US" sz="2000" dirty="0">
                <a:solidFill>
                  <a:srgbClr val="242424"/>
                </a:solidFill>
                <a:latin typeface="Red Hat Text" pitchFamily="34" charset="0"/>
                <a:ea typeface="Red Hat Text" pitchFamily="34" charset="-122"/>
                <a:cs typeface="Red Hat Text" pitchFamily="34" charset="-120"/>
              </a:rPr>
              <a:t>; a values.schema.json rejects bad input before rendering.</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Templates</a:t>
            </a:r>
            <a:r>
              <a:rPr lang="en-US" sz="2000" dirty="0">
                <a:solidFill>
                  <a:srgbClr val="242424"/>
                </a:solidFill>
                <a:latin typeface="Red Hat Text" pitchFamily="34" charset="0"/>
                <a:ea typeface="Red Hat Text" pitchFamily="34" charset="-122"/>
                <a:cs typeface="Red Hat Text" pitchFamily="34" charset="-120"/>
              </a:rPr>
              <a:t> — Go templates plus Sprig; named templates in _helpers.tpl; include over template when the result is piped.</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Safe releases</a:t>
            </a:r>
            <a:r>
              <a:rPr lang="en-US" sz="2000" dirty="0">
                <a:solidFill>
                  <a:srgbClr val="242424"/>
                </a:solidFill>
                <a:latin typeface="Red Hat Text" pitchFamily="34" charset="0"/>
                <a:ea typeface="Red Hat Text" pitchFamily="34" charset="-122"/>
                <a:cs typeface="Red Hat Text" pitchFamily="34" charset="-120"/>
              </a:rPr>
              <a:t> — </a:t>
            </a:r>
            <a:r>
              <a:rPr lang="en-US" sz="1900" dirty="0">
                <a:solidFill>
                  <a:srgbClr val="151515"/>
                </a:solidFill>
                <a:latin typeface="Red Hat Mono" pitchFamily="34" charset="0"/>
                <a:ea typeface="Red Hat Mono" pitchFamily="34" charset="-122"/>
                <a:cs typeface="Red Hat Mono" pitchFamily="34" charset="-120"/>
              </a:rPr>
              <a:t>--wait</a:t>
            </a:r>
            <a:r>
              <a:rPr lang="en-US" sz="2000" dirty="0">
                <a:solidFill>
                  <a:srgbClr val="242424"/>
                </a:solidFill>
                <a:latin typeface="Red Hat Text" pitchFamily="34" charset="0"/>
                <a:ea typeface="Red Hat Text" pitchFamily="34" charset="-122"/>
                <a:cs typeface="Red Hat Text" pitchFamily="34" charset="-120"/>
              </a:rPr>
              <a:t> with the kstatus watcher, </a:t>
            </a:r>
            <a:r>
              <a:rPr lang="en-US" sz="1900" dirty="0">
                <a:solidFill>
                  <a:srgbClr val="151515"/>
                </a:solidFill>
                <a:latin typeface="Red Hat Mono" pitchFamily="34" charset="0"/>
                <a:ea typeface="Red Hat Mono" pitchFamily="34" charset="-122"/>
                <a:cs typeface="Red Hat Mono" pitchFamily="34" charset="-120"/>
              </a:rPr>
              <a:t>--rollback-on-failure</a:t>
            </a:r>
            <a:r>
              <a:rPr lang="en-US" sz="2000" dirty="0">
                <a:solidFill>
                  <a:srgbClr val="242424"/>
                </a:solidFill>
                <a:latin typeface="Red Hat Text" pitchFamily="34" charset="0"/>
                <a:ea typeface="Red Hat Text" pitchFamily="34" charset="-122"/>
                <a:cs typeface="Red Hat Text" pitchFamily="34" charset="-120"/>
              </a:rPr>
              <a:t>, server-side apply by default for new releases.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Testing and Debugging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Find chart faults before they reach a cluster.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 · 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debug ladder</a:t>
            </a:r>
            <a:endParaRPr lang="en-US" sz="3000" dirty="0"/>
          </a:p>
        </p:txBody>
      </p:sp>
      <p:pic>
        <p:nvPicPr>
          <p:cNvPr id="6" name="Image 1" descr="./png/h201-debug-ladder.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seven checks, four without a cluster, three that need an API server.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 · DEBUGGING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Diff and server dry-run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helm 4.3</a:t>
            </a:r>
            <a:endParaRPr lang="en-US" sz="1100" dirty="0"/>
          </a:p>
        </p:txBody>
      </p:sp>
      <p:sp>
        <p:nvSpPr>
          <p:cNvPr id="7" name="Shape 4"/>
          <p:cNvSpPr/>
          <p:nvPr/>
        </p:nvSpPr>
        <p:spPr>
          <a:xfrm>
            <a:off x="566928" y="1417320"/>
            <a:ext cx="11055096" cy="3403854"/>
          </a:xfrm>
          <a:prstGeom prst="rect">
            <a:avLst/>
          </a:prstGeom>
          <a:solidFill>
            <a:srgbClr val="151515"/>
          </a:solidFill>
          <a:ln w="12700">
            <a:solidFill>
              <a:srgbClr val="151515"/>
            </a:solidFill>
            <a:prstDash val="solid"/>
          </a:ln>
        </p:spPr>
      </p:sp>
      <p:sp>
        <p:nvSpPr>
          <p:cNvPr id="8" name="Text 5"/>
          <p:cNvSpPr/>
          <p:nvPr/>
        </p:nvSpPr>
        <p:spPr>
          <a:xfrm>
            <a:off x="749808" y="1508760"/>
            <a:ext cx="10689336" cy="3220974"/>
          </a:xfrm>
          <a:prstGeom prst="rect">
            <a:avLst/>
          </a:prstGeom>
          <a:noFill/>
          <a:ln/>
        </p:spPr>
        <p:txBody>
          <a:bodyPr wrap="square" rtlCol="0" anchor="t"/>
          <a:lstStyle/>
          <a:p>
            <a:pPr algn="l" indent="0" marL="0">
              <a:lnSpc>
                <a:spcPct val="110000"/>
              </a:lnSpc>
              <a:buNone/>
            </a:pPr>
            <a:r>
              <a:rPr lang="en-US" sz="1800" dirty="0">
                <a:solidFill>
                  <a:srgbClr val="8FB98F"/>
                </a:solidFill>
                <a:latin typeface="Red Hat Mono" pitchFamily="34" charset="0"/>
                <a:ea typeface="Red Hat Mono" pitchFamily="34" charset="-122"/>
                <a:cs typeface="Red Hat Mono" pitchFamily="34" charset="-120"/>
              </a:rPr>
              <a:t># Rung 4: compare two chart directories locally (helm-diff plugin)
</a:t>
            </a:r>
            <a:r>
              <a:rPr lang="en-US" sz="1800" dirty="0">
                <a:solidFill>
                  <a:srgbClr val="E6E6E6"/>
                </a:solidFill>
                <a:latin typeface="Red Hat Mono" pitchFamily="34" charset="0"/>
                <a:ea typeface="Red Hat Mono" pitchFamily="34" charset="-122"/>
                <a:cs typeface="Red Hat Mono" pitchFamily="34" charset="-120"/>
              </a:rPr>
              <a:t>[host]$ helm diff local charts/shipping-service /tmp/changed
</a:t>
            </a:r>
            <a:r>
              <a:rPr lang="en-US" sz="1800" dirty="0">
                <a:solidFill>
                  <a:srgbClr val="8FB98F"/>
                </a:solidFill>
                <a:latin typeface="Red Hat Mono" pitchFamily="34" charset="0"/>
                <a:ea typeface="Red Hat Mono" pitchFamily="34" charset="-122"/>
                <a:cs typeface="Red Hat Mono" pitchFamily="34" charset="-120"/>
              </a:rPr>
              <a:t># Rung 5: resolve kinds and run lookup against the API server
</a:t>
            </a:r>
            <a:r>
              <a:rPr lang="en-US" sz="1800" dirty="0">
                <a:solidFill>
                  <a:srgbClr val="E6E6E6"/>
                </a:solidFill>
                <a:latin typeface="Red Hat Mono" pitchFamily="34" charset="0"/>
                <a:ea typeface="Red Hat Mono" pitchFamily="34" charset="-122"/>
                <a:cs typeface="Red Hat Mono" pitchFamily="34" charset="-120"/>
              </a:rPr>
              <a:t>[host]$ helm upgrade shipping charts/shipping-service -n hfd-13 \
</a:t>
            </a:r>
            <a:r>
              <a:rPr lang="en-US" sz="1800" dirty="0">
                <a:solidFill>
                  <a:srgbClr val="E6E6E6"/>
                </a:solidFill>
                <a:latin typeface="Red Hat Mono" pitchFamily="34" charset="0"/>
                <a:ea typeface="Red Hat Mono" pitchFamily="34" charset="-122"/>
                <a:cs typeface="Red Hat Mono" pitchFamily="34" charset="-120"/>
              </a:rPr>
              <a:t>          --dry-run=server
</a:t>
            </a:r>
            <a:r>
              <a:rPr lang="en-US" sz="1800" dirty="0">
                <a:solidFill>
                  <a:srgbClr val="8FB98F"/>
                </a:solidFill>
                <a:latin typeface="Red Hat Mono" pitchFamily="34" charset="0"/>
                <a:ea typeface="Red Hat Mono" pitchFamily="34" charset="-122"/>
                <a:cs typeface="Red Hat Mono" pitchFamily="34" charset="-120"/>
              </a:rPr>
              <a:t># Rung 6: what an upgrade would change in the live release
</a:t>
            </a:r>
            <a:r>
              <a:rPr lang="en-US" sz="1800" dirty="0">
                <a:solidFill>
                  <a:srgbClr val="E6E6E6"/>
                </a:solidFill>
                <a:latin typeface="Red Hat Mono" pitchFamily="34" charset="0"/>
                <a:ea typeface="Red Hat Mono" pitchFamily="34" charset="-122"/>
                <a:cs typeface="Red Hat Mono" pitchFamily="34" charset="-120"/>
              </a:rPr>
              <a:t>[host]$ helm diff upgrade shipping charts/shipping-service -n hfd-13 \
</a:t>
            </a:r>
            <a:r>
              <a:rPr lang="en-US" sz="1800" dirty="0">
                <a:solidFill>
                  <a:srgbClr val="E6E6E6"/>
                </a:solidFill>
                <a:latin typeface="Red Hat Mono" pitchFamily="34" charset="0"/>
                <a:ea typeface="Red Hat Mono" pitchFamily="34" charset="-122"/>
                <a:cs typeface="Red Hat Mono" pitchFamily="34" charset="-120"/>
              </a:rPr>
              <a:t>          --set replicaCount=2
</a:t>
            </a:r>
            <a:r>
              <a:rPr lang="en-US" sz="1800" dirty="0">
                <a:solidFill>
                  <a:srgbClr val="8FB98F"/>
                </a:solidFill>
                <a:latin typeface="Red Hat Mono" pitchFamily="34" charset="0"/>
                <a:ea typeface="Red Hat Mono" pitchFamily="34" charset="-122"/>
                <a:cs typeface="Red Hat Mono" pitchFamily="34" charset="-120"/>
              </a:rPr>
              <a:t># Rung 7: the stored manifest, fed back to the schema check
</a:t>
            </a:r>
            <a:r>
              <a:rPr lang="en-US" sz="1800" dirty="0">
                <a:solidFill>
                  <a:srgbClr val="E6E6E6"/>
                </a:solidFill>
                <a:latin typeface="Red Hat Mono" pitchFamily="34" charset="0"/>
                <a:ea typeface="Red Hat Mono" pitchFamily="34" charset="-122"/>
                <a:cs typeface="Red Hat Mono" pitchFamily="34" charset="-120"/>
              </a:rPr>
              <a:t>[host]$ helm get manifest shipping -n hfd-13 | kubeconform -strict -summary
</a:t>
            </a:r>
            <a:endParaRPr lang="en-US" sz="1800" dirty="0"/>
          </a:p>
        </p:txBody>
      </p:sp>
      <p:sp>
        <p:nvSpPr>
          <p:cNvPr id="9" name="Text 6"/>
          <p:cNvSpPr/>
          <p:nvPr/>
        </p:nvSpPr>
        <p:spPr>
          <a:xfrm>
            <a:off x="566928" y="4912614"/>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From examples/13-debugging. </a:t>
            </a:r>
            <a:r>
              <a:rPr lang="en-US" sz="1200" i="1" dirty="0">
                <a:solidFill>
                  <a:srgbClr val="151515"/>
                </a:solidFill>
                <a:latin typeface="Red Hat Mono" pitchFamily="34" charset="0"/>
                <a:ea typeface="Red Hat Mono" pitchFamily="34" charset="-122"/>
                <a:cs typeface="Red Hat Mono" pitchFamily="34" charset="-120"/>
              </a:rPr>
              <a:t>--dry-run=server</a:t>
            </a:r>
            <a:r>
              <a:rPr lang="en-US" sz="1300" i="1" dirty="0">
                <a:solidFill>
                  <a:srgbClr val="5A5A5A"/>
                </a:solidFill>
                <a:latin typeface="Red Hat Text" pitchFamily="34" charset="0"/>
                <a:ea typeface="Red Hat Text" pitchFamily="34" charset="-122"/>
                <a:cs typeface="Red Hat Text" pitchFamily="34" charset="-120"/>
              </a:rPr>
              <a:t> resolves kinds and runs lookup; it does not schema-validate fields on 4.3.0.</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 · 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Chart test pyramid</a:t>
            </a:r>
            <a:endParaRPr lang="en-US" sz="3000" dirty="0"/>
          </a:p>
        </p:txBody>
      </p:sp>
      <p:pic>
        <p:nvPicPr>
          <p:cNvPr id="6" name="Image 1" descr="./png/h201-test-pyramid.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pure rendering tests at the base, cluster tests at the top.</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 · DEBUGGING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900" b="1" dirty="0">
                <a:solidFill>
                  <a:srgbClr val="151515"/>
                </a:solidFill>
                <a:latin typeface="Red Hat Mono" pitchFamily="34" charset="0"/>
                <a:ea typeface="Red Hat Mono" pitchFamily="34" charset="-122"/>
                <a:cs typeface="Red Hat Mono" pitchFamily="34" charset="-120"/>
              </a:rPr>
              <a:t>helm-unittest</a:t>
            </a:r>
            <a:r>
              <a:rPr lang="en-US" sz="3000" b="1" dirty="0">
                <a:solidFill>
                  <a:srgbClr val="151515"/>
                </a:solidFill>
                <a:latin typeface="Red Hat Display" pitchFamily="34" charset="0"/>
                <a:ea typeface="Red Hat Display" pitchFamily="34" charset="-122"/>
                <a:cs typeface="Red Hat Display" pitchFamily="34" charset="-120"/>
              </a:rPr>
              <a:t> suites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tests/</a:t>
            </a:r>
            <a:endParaRPr lang="en-US" sz="1100" dirty="0"/>
          </a:p>
        </p:txBody>
      </p:sp>
      <p:sp>
        <p:nvSpPr>
          <p:cNvPr id="7" name="Shape 4"/>
          <p:cNvSpPr/>
          <p:nvPr/>
        </p:nvSpPr>
        <p:spPr>
          <a:xfrm>
            <a:off x="566928" y="1417320"/>
            <a:ext cx="11055096" cy="44348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4251960"/>
          </a:xfrm>
          <a:prstGeom prst="rect">
            <a:avLst/>
          </a:prstGeom>
          <a:noFill/>
          <a:ln/>
        </p:spPr>
        <p:txBody>
          <a:bodyPr wrap="square" rtlCol="0" anchor="t"/>
          <a:lstStyle/>
          <a:p>
            <a:pPr algn="l" indent="0" marL="0">
              <a:lnSpc>
                <a:spcPct val="110000"/>
              </a:lnSpc>
              <a:buNone/>
            </a:pPr>
            <a:r>
              <a:rPr lang="en-US" sz="1700" dirty="0">
                <a:solidFill>
                  <a:srgbClr val="E6E6E6"/>
                </a:solidFill>
                <a:latin typeface="Red Hat Mono" pitchFamily="34" charset="0"/>
                <a:ea typeface="Red Hat Mono" pitchFamily="34" charset="-122"/>
                <a:cs typeface="Red Hat Mono" pitchFamily="34" charset="-120"/>
              </a:rPr>
              <a:t>suite: shipping-service deployment
</a:t>
            </a:r>
            <a:r>
              <a:rPr lang="en-US" sz="1700" dirty="0">
                <a:solidFill>
                  <a:srgbClr val="E6E6E6"/>
                </a:solidFill>
                <a:latin typeface="Red Hat Mono" pitchFamily="34" charset="0"/>
                <a:ea typeface="Red Hat Mono" pitchFamily="34" charset="-122"/>
                <a:cs typeface="Red Hat Mono" pitchFamily="34" charset="-120"/>
              </a:rPr>
              <a:t>templates:
</a:t>
            </a:r>
            <a:r>
              <a:rPr lang="en-US" sz="1700" dirty="0">
                <a:solidFill>
                  <a:srgbClr val="E6E6E6"/>
                </a:solidFill>
                <a:latin typeface="Red Hat Mono" pitchFamily="34" charset="0"/>
                <a:ea typeface="Red Hat Mono" pitchFamily="34" charset="-122"/>
                <a:cs typeface="Red Hat Mono" pitchFamily="34" charset="-120"/>
              </a:rPr>
              <a:t>  - templates/deployment.yaml
</a:t>
            </a:r>
            <a:r>
              <a:rPr lang="en-US" sz="1700" dirty="0">
                <a:solidFill>
                  <a:srgbClr val="E6E6E6"/>
                </a:solidFill>
                <a:latin typeface="Red Hat Mono" pitchFamily="34" charset="0"/>
                <a:ea typeface="Red Hat Mono" pitchFamily="34" charset="-122"/>
                <a:cs typeface="Red Hat Mono" pitchFamily="34" charset="-120"/>
              </a:rPr>
              <a:t>tests:
</a:t>
            </a:r>
            <a:r>
              <a:rPr lang="en-US" sz="1700" dirty="0">
                <a:solidFill>
                  <a:srgbClr val="E6E6E6"/>
                </a:solidFill>
                <a:latin typeface="Red Hat Mono" pitchFamily="34" charset="0"/>
                <a:ea typeface="Red Hat Mono" pitchFamily="34" charset="-122"/>
                <a:cs typeface="Red Hat Mono" pitchFamily="34" charset="-120"/>
              </a:rPr>
              <a:t>  - it: renders a Deployment with the default image tag from appVersion
</a:t>
            </a:r>
            <a:r>
              <a:rPr lang="en-US" sz="1700" dirty="0">
                <a:solidFill>
                  <a:srgbClr val="E6E6E6"/>
                </a:solidFill>
                <a:latin typeface="Red Hat Mono" pitchFamily="34" charset="0"/>
                <a:ea typeface="Red Hat Mono" pitchFamily="34" charset="-122"/>
                <a:cs typeface="Red Hat Mono" pitchFamily="34" charset="-120"/>
              </a:rPr>
              <a:t>    asserts:
</a:t>
            </a:r>
            <a:r>
              <a:rPr lang="en-US" sz="1700" dirty="0">
                <a:solidFill>
                  <a:srgbClr val="E6E6E6"/>
                </a:solidFill>
                <a:latin typeface="Red Hat Mono" pitchFamily="34" charset="0"/>
                <a:ea typeface="Red Hat Mono" pitchFamily="34" charset="-122"/>
                <a:cs typeface="Red Hat Mono" pitchFamily="34" charset="-120"/>
              </a:rPr>
              <a:t>      - equal:
</a:t>
            </a:r>
            <a:r>
              <a:rPr lang="en-US" sz="1700" dirty="0">
                <a:solidFill>
                  <a:srgbClr val="E6E6E6"/>
                </a:solidFill>
                <a:latin typeface="Red Hat Mono" pitchFamily="34" charset="0"/>
                <a:ea typeface="Red Hat Mono" pitchFamily="34" charset="-122"/>
                <a:cs typeface="Red Hat Mono" pitchFamily="34" charset="-120"/>
              </a:rPr>
              <a:t>          path: spec.template.spec.containers[0].image
</a:t>
            </a:r>
            <a:r>
              <a:rPr lang="en-US" sz="1700" dirty="0">
                <a:solidFill>
                  <a:srgbClr val="E6E6E6"/>
                </a:solidFill>
                <a:latin typeface="Red Hat Mono" pitchFamily="34" charset="0"/>
                <a:ea typeface="Red Hat Mono" pitchFamily="34" charset="-122"/>
                <a:cs typeface="Red Hat Mono" pitchFamily="34" charset="-120"/>
              </a:rPr>
              <a:t>          value: shipping-service:0.1.0
</a:t>
            </a:r>
            <a:r>
              <a:rPr lang="en-US" sz="1700" dirty="0">
                <a:solidFill>
                  <a:srgbClr val="E6E6E6"/>
                </a:solidFill>
                <a:latin typeface="Red Hat Mono" pitchFamily="34" charset="0"/>
                <a:ea typeface="Red Hat Mono" pitchFamily="34" charset="-122"/>
                <a:cs typeface="Red Hat Mono" pitchFamily="34" charset="-120"/>
              </a:rPr>
              <a:t>  - it: fails when kafka is enabled without a bootstrap address
</a:t>
            </a:r>
            <a:r>
              <a:rPr lang="en-US" sz="1700" dirty="0">
                <a:solidFill>
                  <a:srgbClr val="E6E6E6"/>
                </a:solidFill>
                <a:latin typeface="Red Hat Mono" pitchFamily="34" charset="0"/>
                <a:ea typeface="Red Hat Mono" pitchFamily="34" charset="-122"/>
                <a:cs typeface="Red Hat Mono" pitchFamily="34" charset="-120"/>
              </a:rPr>
              <a:t>    set:
</a:t>
            </a:r>
            <a:r>
              <a:rPr lang="en-US" sz="1700" dirty="0">
                <a:solidFill>
                  <a:srgbClr val="E6E6E6"/>
                </a:solidFill>
                <a:latin typeface="Red Hat Mono" pitchFamily="34" charset="0"/>
                <a:ea typeface="Red Hat Mono" pitchFamily="34" charset="-122"/>
                <a:cs typeface="Red Hat Mono" pitchFamily="34" charset="-120"/>
              </a:rPr>
              <a:t>      kafka.enabled: true
</a:t>
            </a:r>
            <a:r>
              <a:rPr lang="en-US" sz="1700" dirty="0">
                <a:solidFill>
                  <a:srgbClr val="E6E6E6"/>
                </a:solidFill>
                <a:latin typeface="Red Hat Mono" pitchFamily="34" charset="0"/>
                <a:ea typeface="Red Hat Mono" pitchFamily="34" charset="-122"/>
                <a:cs typeface="Red Hat Mono" pitchFamily="34" charset="-120"/>
              </a:rPr>
              <a:t>    asserts:
</a:t>
            </a:r>
            <a:r>
              <a:rPr lang="en-US" sz="1700" dirty="0">
                <a:solidFill>
                  <a:srgbClr val="E6E6E6"/>
                </a:solidFill>
                <a:latin typeface="Red Hat Mono" pitchFamily="34" charset="0"/>
                <a:ea typeface="Red Hat Mono" pitchFamily="34" charset="-122"/>
                <a:cs typeface="Red Hat Mono" pitchFamily="34" charset="-120"/>
              </a:rPr>
              <a:t>      - failedTemplate:
</a:t>
            </a:r>
            <a:r>
              <a:rPr lang="en-US" sz="1700" dirty="0">
                <a:solidFill>
                  <a:srgbClr val="E6E6E6"/>
                </a:solidFill>
                <a:latin typeface="Red Hat Mono" pitchFamily="34" charset="0"/>
                <a:ea typeface="Red Hat Mono" pitchFamily="34" charset="-122"/>
                <a:cs typeface="Red Hat Mono" pitchFamily="34" charset="-120"/>
              </a:rPr>
              <a:t>          errorPattern: kafka.bootstrap is required
</a:t>
            </a:r>
            <a:endParaRPr lang="en-US" sz="17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helm unittest charts/shipping-service; helm unittest </a:t>
            </a:r>
            <a:r>
              <a:rPr lang="en-US" sz="1200" i="1" dirty="0">
                <a:solidFill>
                  <a:srgbClr val="151515"/>
                </a:solidFill>
                <a:latin typeface="Red Hat Mono" pitchFamily="34" charset="0"/>
                <a:ea typeface="Red Hat Mono" pitchFamily="34" charset="-122"/>
                <a:cs typeface="Red Hat Mono" pitchFamily="34" charset="-120"/>
              </a:rPr>
              <a:t>-u</a:t>
            </a:r>
            <a:r>
              <a:rPr lang="en-US" sz="1300" i="1" dirty="0">
                <a:solidFill>
                  <a:srgbClr val="5A5A5A"/>
                </a:solidFill>
                <a:latin typeface="Red Hat Text" pitchFamily="34" charset="0"/>
                <a:ea typeface="Red Hat Text" pitchFamily="34" charset="-122"/>
                <a:cs typeface="Red Hat Text" pitchFamily="34" charset="-120"/>
              </a:rPr>
              <a:t> refreshes snapshot files.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 · 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2900" b="1" dirty="0">
                <a:solidFill>
                  <a:srgbClr val="151515"/>
                </a:solidFill>
                <a:latin typeface="Red Hat Mono" pitchFamily="34" charset="0"/>
                <a:ea typeface="Red Hat Mono" pitchFamily="34" charset="-122"/>
                <a:cs typeface="Red Hat Mono" pitchFamily="34" charset="-120"/>
              </a:rPr>
              <a:t>chart-testing</a:t>
            </a:r>
            <a:r>
              <a:rPr lang="en-US" sz="3000" b="1" dirty="0">
                <a:solidFill>
                  <a:srgbClr val="151515"/>
                </a:solidFill>
                <a:latin typeface="Red Hat Display" pitchFamily="34" charset="0"/>
                <a:ea typeface="Red Hat Display" pitchFamily="34" charset="-122"/>
                <a:cs typeface="Red Hat Display" pitchFamily="34" charset="-120"/>
              </a:rPr>
              <a:t> and kubeconform</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651760"/>
                <a:gridCol w="2194560"/>
                <a:gridCol w="6208776"/>
              </a:tblGrid>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ct lint</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Chart metadata</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Chart.yaml schema, yamllint, and helm lint for every ci/*</a:t>
                      </a:r>
                      <a:endParaRPr lang="en-US" sz="1500" dirty="0">
                        <a:latin typeface="Red Hat Text" charset="0"/>
                        <a:ea typeface="Red Hat Text" charset="0"/>
                        <a:cs typeface="Red Hat Text" charset="0"/>
                      </a:endParaRPr>
                    </a:p>
                    <a:p>
                      <a:pPr algn="l" indent="0" marL="0">
                        <a:buNone/>
                      </a:pPr>
                      <a:r>
                        <a:rPr lang="en-US" sz="1400" dirty="0">
                          <a:solidFill>
                            <a:srgbClr val="151515"/>
                          </a:solidFill>
                          <a:latin typeface="Red Hat Mono" pitchFamily="34" charset="0"/>
                          <a:ea typeface="Red Hat Mono" pitchFamily="34" charset="-122"/>
                          <a:cs typeface="Red Hat Mono" pitchFamily="34" charset="-120"/>
                        </a:rPr>
                        <a:t>-values.yaml</a:t>
                      </a:r>
                      <a:r>
                        <a:rPr lang="en-US" sz="1500" dirty="0">
                          <a:solidFill>
                            <a:srgbClr val="242424"/>
                          </a:solidFill>
                          <a:latin typeface="Red Hat Text" pitchFamily="34" charset="0"/>
                          <a:ea typeface="Red Hat Text" pitchFamily="34" charset="-122"/>
                          <a:cs typeface="Red Hat Text" pitchFamily="34" charset="-120"/>
                        </a:rPr>
                        <a:t>.</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ct install</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Cluster test</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Installs into a generated namespace, runs helm test, cleans up.</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ct.yaml</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Configuration</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chart-dirs, schema and lint config, version-increment check on or off.</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ci/*-values.yaml</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Scenarios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One values file per configuration worth testing; ct runs each.</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kubeconform</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Schema check</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Validates rendered YAML against Kubernetes and CRD schemas, offline.</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TESTING · DEBUGGING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Chart CI pipeline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ci</a:t>
            </a:r>
            <a:endParaRPr lang="en-US" sz="1100" dirty="0"/>
          </a:p>
        </p:txBody>
      </p:sp>
      <p:sp>
        <p:nvSpPr>
          <p:cNvPr id="7" name="Shape 4"/>
          <p:cNvSpPr/>
          <p:nvPr/>
        </p:nvSpPr>
        <p:spPr>
          <a:xfrm>
            <a:off x="566928" y="1417320"/>
            <a:ext cx="11055096" cy="44348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4251960"/>
          </a:xfrm>
          <a:prstGeom prst="rect">
            <a:avLst/>
          </a:prstGeom>
          <a:noFill/>
          <a:ln/>
        </p:spPr>
        <p:txBody>
          <a:bodyPr wrap="square" rtlCol="0" anchor="t"/>
          <a:lstStyle/>
          <a:p>
            <a:pPr algn="l" indent="0" marL="0">
              <a:lnSpc>
                <a:spcPct val="110000"/>
              </a:lnSpc>
              <a:buNone/>
            </a:pPr>
            <a:r>
              <a:rPr lang="en-US" sz="1800" dirty="0">
                <a:solidFill>
                  <a:srgbClr val="8FB98F"/>
                </a:solidFill>
                <a:latin typeface="Red Hat Mono" pitchFamily="34" charset="0"/>
                <a:ea typeface="Red Hat Mono" pitchFamily="34" charset="-122"/>
                <a:cs typeface="Red Hat Mono" pitchFamily="34" charset="-120"/>
              </a:rPr>
              <a:t># Stage 1: static checks, no cluster, every push
</a:t>
            </a:r>
            <a:r>
              <a:rPr lang="en-US" sz="1800" dirty="0">
                <a:solidFill>
                  <a:srgbClr val="E6E6E6"/>
                </a:solidFill>
                <a:latin typeface="Red Hat Mono" pitchFamily="34" charset="0"/>
                <a:ea typeface="Red Hat Mono" pitchFamily="34" charset="-122"/>
                <a:cs typeface="Red Hat Mono" pitchFamily="34" charset="-120"/>
              </a:rPr>
              <a:t>[host]$ helm lint --strict charts/shipping-service
</a:t>
            </a:r>
            <a:r>
              <a:rPr lang="en-US" sz="1800" dirty="0">
                <a:solidFill>
                  <a:srgbClr val="E6E6E6"/>
                </a:solidFill>
                <a:latin typeface="Red Hat Mono" pitchFamily="34" charset="0"/>
                <a:ea typeface="Red Hat Mono" pitchFamily="34" charset="-122"/>
                <a:cs typeface="Red Hat Mono" pitchFamily="34" charset="-120"/>
              </a:rPr>
              <a:t>[host]$ helm unittest charts/shipping-service
</a:t>
            </a:r>
            <a:r>
              <a:rPr lang="en-US" sz="1800" dirty="0">
                <a:solidFill>
                  <a:srgbClr val="E6E6E6"/>
                </a:solidFill>
                <a:latin typeface="Red Hat Mono" pitchFamily="34" charset="0"/>
                <a:ea typeface="Red Hat Mono" pitchFamily="34" charset="-122"/>
                <a:cs typeface="Red Hat Mono" pitchFamily="34" charset="-120"/>
              </a:rPr>
              <a:t>[host]$ helm template shipping charts/shipping-service \
</a:t>
            </a:r>
            <a:r>
              <a:rPr lang="en-US" sz="1800" dirty="0">
                <a:solidFill>
                  <a:srgbClr val="E6E6E6"/>
                </a:solidFill>
                <a:latin typeface="Red Hat Mono" pitchFamily="34" charset="0"/>
                <a:ea typeface="Red Hat Mono" pitchFamily="34" charset="-122"/>
                <a:cs typeface="Red Hat Mono" pitchFamily="34" charset="-120"/>
              </a:rPr>
              <a:t>          -f charts/shipping-service/ci/ci-values.yaml \
</a:t>
            </a:r>
            <a:r>
              <a:rPr lang="en-US" sz="1800" dirty="0">
                <a:solidFill>
                  <a:srgbClr val="E6E6E6"/>
                </a:solidFill>
                <a:latin typeface="Red Hat Mono" pitchFamily="34" charset="0"/>
                <a:ea typeface="Red Hat Mono" pitchFamily="34" charset="-122"/>
                <a:cs typeface="Red Hat Mono" pitchFamily="34" charset="-120"/>
              </a:rPr>
              <a:t>          | kubeconform -strict -summary
</a:t>
            </a:r>
            <a:r>
              <a:rPr lang="en-US" sz="1800" dirty="0">
                <a:solidFill>
                  <a:srgbClr val="E6E6E6"/>
                </a:solidFill>
                <a:latin typeface="Red Hat Mono" pitchFamily="34" charset="0"/>
                <a:ea typeface="Red Hat Mono" pitchFamily="34" charset="-122"/>
                <a:cs typeface="Red Hat Mono" pitchFamily="34" charset="-120"/>
              </a:rPr>
              <a:t>[host]$ ct lint --config ct.yaml --all
</a:t>
            </a:r>
            <a:r>
              <a:rPr lang="en-US" sz="1800" dirty="0">
                <a:solidFill>
                  <a:srgbClr val="8FB98F"/>
                </a:solidFill>
                <a:latin typeface="Red Hat Mono" pitchFamily="34" charset="0"/>
                <a:ea typeface="Red Hat Mono" pitchFamily="34" charset="-122"/>
                <a:cs typeface="Red Hat Mono" pitchFamily="34" charset="-120"/>
              </a:rPr>
              <a:t># Stage 2: install test on a throwaway cluster
</a:t>
            </a:r>
            <a:r>
              <a:rPr lang="en-US" sz="1800" dirty="0">
                <a:solidFill>
                  <a:srgbClr val="E6E6E6"/>
                </a:solidFill>
                <a:latin typeface="Red Hat Mono" pitchFamily="34" charset="0"/>
                <a:ea typeface="Red Hat Mono" pitchFamily="34" charset="-122"/>
                <a:cs typeface="Red Hat Mono" pitchFamily="34" charset="-120"/>
              </a:rPr>
              <a:t>[host]$ ct install --charts charts/shipping-service \
</a:t>
            </a:r>
            <a:r>
              <a:rPr lang="en-US" sz="1800" dirty="0">
                <a:solidFill>
                  <a:srgbClr val="E6E6E6"/>
                </a:solidFill>
                <a:latin typeface="Red Hat Mono" pitchFamily="34" charset="0"/>
                <a:ea typeface="Red Hat Mono" pitchFamily="34" charset="-122"/>
                <a:cs typeface="Red Hat Mono" pitchFamily="34" charset="-120"/>
              </a:rPr>
              <a:t>          --helm-extra-args '--timeout 3m'
</a:t>
            </a:r>
            <a:r>
              <a:rPr lang="en-US" sz="1800" dirty="0">
                <a:solidFill>
                  <a:srgbClr val="8FB98F"/>
                </a:solidFill>
                <a:latin typeface="Red Hat Mono" pitchFamily="34" charset="0"/>
                <a:ea typeface="Red Hat Mono" pitchFamily="34" charset="-122"/>
                <a:cs typeface="Red Hat Mono" pitchFamily="34" charset="-120"/>
              </a:rPr>
              <a:t># Stage 3: publish on a version tag
</a:t>
            </a:r>
            <a:r>
              <a:rPr lang="en-US" sz="1800" dirty="0">
                <a:solidFill>
                  <a:srgbClr val="E6E6E6"/>
                </a:solidFill>
                <a:latin typeface="Red Hat Mono" pitchFamily="34" charset="0"/>
                <a:ea typeface="Red Hat Mono" pitchFamily="34" charset="-122"/>
                <a:cs typeface="Red Hat Mono" pitchFamily="34" charset="-120"/>
              </a:rPr>
              <a:t>[host]$ helm package charts/shipping-service --dependency-update -d dist
</a:t>
            </a:r>
            <a:r>
              <a:rPr lang="en-US" sz="1800" dirty="0">
                <a:solidFill>
                  <a:srgbClr val="E6E6E6"/>
                </a:solidFill>
                <a:latin typeface="Red Hat Mono" pitchFamily="34" charset="0"/>
                <a:ea typeface="Red Hat Mono" pitchFamily="34" charset="-122"/>
                <a:cs typeface="Red Hat Mono" pitchFamily="34" charset="-120"/>
              </a:rPr>
              <a:t>[host]$ helm push dist/shipping-service-1.0.0.tgz \
</a:t>
            </a:r>
            <a:r>
              <a:rPr lang="en-US" sz="1800" dirty="0">
                <a:solidFill>
                  <a:srgbClr val="E6E6E6"/>
                </a:solidFill>
                <a:latin typeface="Red Hat Mono" pitchFamily="34" charset="0"/>
                <a:ea typeface="Red Hat Mono" pitchFamily="34" charset="-122"/>
                <a:cs typeface="Red Hat Mono" pitchFamily="34" charset="-120"/>
              </a:rPr>
              <a:t>          oci://registry.example.com/charts
</a:t>
            </a:r>
            <a:endParaRPr lang="en-US" sz="18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from examples/14-</a:t>
            </a:r>
            <a:r>
              <a:rPr lang="en-US" sz="1200" i="1" dirty="0">
                <a:solidFill>
                  <a:srgbClr val="151515"/>
                </a:solidFill>
                <a:latin typeface="Red Hat Mono" pitchFamily="34" charset="0"/>
                <a:ea typeface="Red Hat Mono" pitchFamily="34" charset="-122"/>
                <a:cs typeface="Red Hat Mono" pitchFamily="34" charset="-120"/>
              </a:rPr>
              <a:t>chart-testing</a:t>
            </a:r>
            <a:r>
              <a:rPr lang="en-US" sz="1300" i="1" dirty="0">
                <a:solidFill>
                  <a:srgbClr val="5A5A5A"/>
                </a:solidFill>
                <a:latin typeface="Red Hat Text" pitchFamily="34" charset="0"/>
                <a:ea typeface="Red Hat Text" pitchFamily="34" charset="-122"/>
                <a:cs typeface="Red Hat Text" pitchFamily="34" charset="-120"/>
              </a:rPr>
              <a:t>. Three stages: static checks on every push, an install test, and publication on a tag.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Multi-Service Applications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Compose charts into a platform and share what they have in common.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Kafka via Strimzi</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shipping-kafka</a:t>
            </a:r>
            <a:endParaRPr lang="en-US" sz="1100" dirty="0"/>
          </a:p>
        </p:txBody>
      </p:sp>
      <p:sp>
        <p:nvSpPr>
          <p:cNvPr id="7" name="Shape 4"/>
          <p:cNvSpPr/>
          <p:nvPr/>
        </p:nvSpPr>
        <p:spPr>
          <a:xfrm>
            <a:off x="566928" y="1417320"/>
            <a:ext cx="11055096" cy="4301566"/>
          </a:xfrm>
          <a:prstGeom prst="rect">
            <a:avLst/>
          </a:prstGeom>
          <a:solidFill>
            <a:srgbClr val="151515"/>
          </a:solidFill>
          <a:ln w="12700">
            <a:solidFill>
              <a:srgbClr val="151515"/>
            </a:solidFill>
            <a:prstDash val="solid"/>
          </a:ln>
        </p:spPr>
      </p:sp>
      <p:sp>
        <p:nvSpPr>
          <p:cNvPr id="8" name="Text 5"/>
          <p:cNvSpPr/>
          <p:nvPr/>
        </p:nvSpPr>
        <p:spPr>
          <a:xfrm>
            <a:off x="749808" y="1508760"/>
            <a:ext cx="10689336" cy="4118686"/>
          </a:xfrm>
          <a:prstGeom prst="rect">
            <a:avLst/>
          </a:prstGeom>
          <a:noFill/>
          <a:ln/>
        </p:spPr>
        <p:txBody>
          <a:bodyPr wrap="square" rtlCol="0" anchor="t"/>
          <a:lstStyle/>
          <a:p>
            <a:pPr algn="l" indent="0" marL="0">
              <a:lnSpc>
                <a:spcPct val="110000"/>
              </a:lnSpc>
              <a:buNone/>
            </a:pPr>
            <a:r>
              <a:rPr lang="en-US" sz="1950" dirty="0">
                <a:solidFill>
                  <a:srgbClr val="8FB98F"/>
                </a:solidFill>
                <a:latin typeface="Red Hat Mono" pitchFamily="34" charset="0"/>
                <a:ea typeface="Red Hat Mono" pitchFamily="34" charset="-122"/>
                <a:cs typeface="Red Hat Mono" pitchFamily="34" charset="-120"/>
              </a:rPr>
              <a:t># charts/shipping-kafka: the chart declares the Kafka custom resource
</a:t>
            </a:r>
            <a:r>
              <a:rPr lang="en-US" sz="1950" dirty="0">
                <a:solidFill>
                  <a:srgbClr val="E6E6E6"/>
                </a:solidFill>
                <a:latin typeface="Red Hat Mono" pitchFamily="34" charset="0"/>
                <a:ea typeface="Red Hat Mono" pitchFamily="34" charset="-122"/>
                <a:cs typeface="Red Hat Mono" pitchFamily="34" charset="-120"/>
              </a:rPr>
              <a:t>spec:
</a:t>
            </a:r>
            <a:r>
              <a:rPr lang="en-US" sz="1950" dirty="0">
                <a:solidFill>
                  <a:srgbClr val="E6E6E6"/>
                </a:solidFill>
                <a:latin typeface="Red Hat Mono" pitchFamily="34" charset="0"/>
                <a:ea typeface="Red Hat Mono" pitchFamily="34" charset="-122"/>
                <a:cs typeface="Red Hat Mono" pitchFamily="34" charset="-120"/>
              </a:rPr>
              <a:t>  kafka:
</a:t>
            </a:r>
            <a:r>
              <a:rPr lang="en-US" sz="1950" dirty="0">
                <a:solidFill>
                  <a:srgbClr val="E6E6E6"/>
                </a:solidFill>
                <a:latin typeface="Red Hat Mono" pitchFamily="34" charset="0"/>
                <a:ea typeface="Red Hat Mono" pitchFamily="34" charset="-122"/>
                <a:cs typeface="Red Hat Mono" pitchFamily="34" charset="-120"/>
              </a:rPr>
              <a:t>    listeners:
</a:t>
            </a:r>
            <a:r>
              <a:rPr lang="en-US" sz="1950" dirty="0">
                <a:solidFill>
                  <a:srgbClr val="E6E6E6"/>
                </a:solidFill>
                <a:latin typeface="Red Hat Mono" pitchFamily="34" charset="0"/>
                <a:ea typeface="Red Hat Mono" pitchFamily="34" charset="-122"/>
                <a:cs typeface="Red Hat Mono" pitchFamily="34" charset="-120"/>
              </a:rPr>
              <a:t>      - name: plain
</a:t>
            </a:r>
            <a:r>
              <a:rPr lang="en-US" sz="1950" dirty="0">
                <a:solidFill>
                  <a:srgbClr val="E6E6E6"/>
                </a:solidFill>
                <a:latin typeface="Red Hat Mono" pitchFamily="34" charset="0"/>
                <a:ea typeface="Red Hat Mono" pitchFamily="34" charset="-122"/>
                <a:cs typeface="Red Hat Mono" pitchFamily="34" charset="-120"/>
              </a:rPr>
              <a:t>        port: 9092
</a:t>
            </a:r>
            <a:r>
              <a:rPr lang="en-US" sz="1950" dirty="0">
                <a:solidFill>
                  <a:srgbClr val="E6E6E6"/>
                </a:solidFill>
                <a:latin typeface="Red Hat Mono" pitchFamily="34" charset="0"/>
                <a:ea typeface="Red Hat Mono" pitchFamily="34" charset="-122"/>
                <a:cs typeface="Red Hat Mono" pitchFamily="34" charset="-120"/>
              </a:rPr>
              <a:t>        type: internal
</a:t>
            </a:r>
            <a:r>
              <a:rPr lang="en-US" sz="1950" dirty="0">
                <a:solidFill>
                  <a:srgbClr val="E6E6E6"/>
                </a:solidFill>
                <a:latin typeface="Red Hat Mono" pitchFamily="34" charset="0"/>
                <a:ea typeface="Red Hat Mono" pitchFamily="34" charset="-122"/>
                <a:cs typeface="Red Hat Mono" pitchFamily="34" charset="-120"/>
              </a:rPr>
              <a:t>        tls: false
</a:t>
            </a:r>
            <a:r>
              <a:rPr lang="en-US" sz="1950" dirty="0">
                <a:solidFill>
                  <a:srgbClr val="8FB98F"/>
                </a:solidFill>
                <a:latin typeface="Red Hat Mono" pitchFamily="34" charset="0"/>
                <a:ea typeface="Red Hat Mono" pitchFamily="34" charset="-122"/>
                <a:cs typeface="Red Hat Mono" pitchFamily="34" charset="-120"/>
              </a:rPr>
              <a:t># values.yaml: the contract other charts import
</a:t>
            </a:r>
            <a:r>
              <a:rPr lang="en-US" sz="1950" dirty="0">
                <a:solidFill>
                  <a:srgbClr val="E6E6E6"/>
                </a:solidFill>
                <a:latin typeface="Red Hat Mono" pitchFamily="34" charset="0"/>
                <a:ea typeface="Red Hat Mono" pitchFamily="34" charset="-122"/>
                <a:cs typeface="Red Hat Mono" pitchFamily="34" charset="-120"/>
              </a:rPr>
              <a:t>exports:
</a:t>
            </a:r>
            <a:r>
              <a:rPr lang="en-US" sz="1950" dirty="0">
                <a:solidFill>
                  <a:srgbClr val="E6E6E6"/>
                </a:solidFill>
                <a:latin typeface="Red Hat Mono" pitchFamily="34" charset="0"/>
                <a:ea typeface="Red Hat Mono" pitchFamily="34" charset="-122"/>
                <a:cs typeface="Red Hat Mono" pitchFamily="34" charset="-120"/>
              </a:rPr>
              <a:t>  kafka:
</a:t>
            </a:r>
            <a:r>
              <a:rPr lang="en-US" sz="1950" dirty="0">
                <a:solidFill>
                  <a:srgbClr val="E6E6E6"/>
                </a:solidFill>
                <a:latin typeface="Red Hat Mono" pitchFamily="34" charset="0"/>
                <a:ea typeface="Red Hat Mono" pitchFamily="34" charset="-122"/>
                <a:cs typeface="Red Hat Mono" pitchFamily="34" charset="-120"/>
              </a:rPr>
              <a:t>    bootstrap: shipping-kafka-kafka-bootstrap:9092
</a:t>
            </a:r>
            <a:endParaRPr lang="en-US" sz="1950" dirty="0"/>
          </a:p>
        </p:txBody>
      </p:sp>
      <p:sp>
        <p:nvSpPr>
          <p:cNvPr id="9" name="Text 6"/>
          <p:cNvSpPr/>
          <p:nvPr/>
        </p:nvSpPr>
        <p:spPr>
          <a:xfrm>
            <a:off x="566928" y="5810326"/>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operator runs the brokers; the chart owns the declaration and exports the bootstrap address.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Umbrella topology</a:t>
            </a:r>
            <a:endParaRPr lang="en-US" sz="3000" dirty="0"/>
          </a:p>
        </p:txBody>
      </p:sp>
      <p:pic>
        <p:nvPicPr>
          <p:cNvPr id="6" name="Image 1" descr="./png/h201-umbrella.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one umbrella release, four subcharts, two operators outside the release.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Conditions, tags, alias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Chart.yaml</a:t>
            </a:r>
            <a:endParaRPr lang="en-US" sz="1100" dirty="0"/>
          </a:p>
        </p:txBody>
      </p:sp>
      <p:sp>
        <p:nvSpPr>
          <p:cNvPr id="7" name="Shape 4"/>
          <p:cNvSpPr/>
          <p:nvPr/>
        </p:nvSpPr>
        <p:spPr>
          <a:xfrm>
            <a:off x="566928" y="1417320"/>
            <a:ext cx="11055096" cy="44348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4251960"/>
          </a:xfrm>
          <a:prstGeom prst="rect">
            <a:avLst/>
          </a:prstGeom>
          <a:noFill/>
          <a:ln/>
        </p:spPr>
        <p:txBody>
          <a:bodyPr wrap="square" rtlCol="0" anchor="t"/>
          <a:lstStyle/>
          <a:p>
            <a:pPr algn="l" indent="0" marL="0">
              <a:lnSpc>
                <a:spcPct val="110000"/>
              </a:lnSpc>
              <a:buNone/>
            </a:pPr>
            <a:r>
              <a:rPr lang="en-US" sz="1950" dirty="0">
                <a:solidFill>
                  <a:srgbClr val="E6E6E6"/>
                </a:solidFill>
                <a:latin typeface="Red Hat Mono" pitchFamily="34" charset="0"/>
                <a:ea typeface="Red Hat Mono" pitchFamily="34" charset="-122"/>
                <a:cs typeface="Red Hat Mono" pitchFamily="34" charset="-120"/>
              </a:rPr>
              <a:t>dependencies:
</a:t>
            </a:r>
            <a:r>
              <a:rPr lang="en-US" sz="1950" dirty="0">
                <a:solidFill>
                  <a:srgbClr val="E6E6E6"/>
                </a:solidFill>
                <a:latin typeface="Red Hat Mono" pitchFamily="34" charset="0"/>
                <a:ea typeface="Red Hat Mono" pitchFamily="34" charset="-122"/>
                <a:cs typeface="Red Hat Mono" pitchFamily="34" charset="-120"/>
              </a:rPr>
              <a:t>  - name: shipping-service
</a:t>
            </a:r>
            <a:r>
              <a:rPr lang="en-US" sz="1950" dirty="0">
                <a:solidFill>
                  <a:srgbClr val="E6E6E6"/>
                </a:solidFill>
                <a:latin typeface="Red Hat Mono" pitchFamily="34" charset="0"/>
                <a:ea typeface="Red Hat Mono" pitchFamily="34" charset="-122"/>
                <a:cs typeface="Red Hat Mono" pitchFamily="34" charset="-120"/>
              </a:rPr>
              <a:t>    alias: shipping
</a:t>
            </a:r>
            <a:r>
              <a:rPr lang="en-US" sz="1950" dirty="0">
                <a:solidFill>
                  <a:srgbClr val="E6E6E6"/>
                </a:solidFill>
                <a:latin typeface="Red Hat Mono" pitchFamily="34" charset="0"/>
                <a:ea typeface="Red Hat Mono" pitchFamily="34" charset="-122"/>
                <a:cs typeface="Red Hat Mono" pitchFamily="34" charset="-120"/>
              </a:rPr>
              <a:t>    condition: shipping.enabled
</a:t>
            </a:r>
            <a:r>
              <a:rPr lang="en-US" sz="1950" dirty="0">
                <a:solidFill>
                  <a:srgbClr val="E6E6E6"/>
                </a:solidFill>
                <a:latin typeface="Red Hat Mono" pitchFamily="34" charset="0"/>
                <a:ea typeface="Red Hat Mono" pitchFamily="34" charset="-122"/>
                <a:cs typeface="Red Hat Mono" pitchFamily="34" charset="-120"/>
              </a:rPr>
              <a:t>  - name: notification-service
</a:t>
            </a:r>
            <a:r>
              <a:rPr lang="en-US" sz="1950" dirty="0">
                <a:solidFill>
                  <a:srgbClr val="E6E6E6"/>
                </a:solidFill>
                <a:latin typeface="Red Hat Mono" pitchFamily="34" charset="0"/>
                <a:ea typeface="Red Hat Mono" pitchFamily="34" charset="-122"/>
                <a:cs typeface="Red Hat Mono" pitchFamily="34" charset="-120"/>
              </a:rPr>
              <a:t>    alias: notification
</a:t>
            </a:r>
            <a:r>
              <a:rPr lang="en-US" sz="1950" dirty="0">
                <a:solidFill>
                  <a:srgbClr val="E6E6E6"/>
                </a:solidFill>
                <a:latin typeface="Red Hat Mono" pitchFamily="34" charset="0"/>
                <a:ea typeface="Red Hat Mono" pitchFamily="34" charset="-122"/>
                <a:cs typeface="Red Hat Mono" pitchFamily="34" charset="-120"/>
              </a:rPr>
              <a:t>    tags: [messaging]
</a:t>
            </a:r>
            <a:r>
              <a:rPr lang="en-US" sz="1950" dirty="0">
                <a:solidFill>
                  <a:srgbClr val="E6E6E6"/>
                </a:solidFill>
                <a:latin typeface="Red Hat Mono" pitchFamily="34" charset="0"/>
                <a:ea typeface="Red Hat Mono" pitchFamily="34" charset="-122"/>
                <a:cs typeface="Red Hat Mono" pitchFamily="34" charset="-120"/>
              </a:rPr>
              <a:t>  - name: shipping-postgres
</a:t>
            </a:r>
            <a:r>
              <a:rPr lang="en-US" sz="1950" dirty="0">
                <a:solidFill>
                  <a:srgbClr val="E6E6E6"/>
                </a:solidFill>
                <a:latin typeface="Red Hat Mono" pitchFamily="34" charset="0"/>
                <a:ea typeface="Red Hat Mono" pitchFamily="34" charset="-122"/>
                <a:cs typeface="Red Hat Mono" pitchFamily="34" charset="-120"/>
              </a:rPr>
              <a:t>    alias: db
</a:t>
            </a:r>
            <a:r>
              <a:rPr lang="en-US" sz="1950" dirty="0">
                <a:solidFill>
                  <a:srgbClr val="E6E6E6"/>
                </a:solidFill>
                <a:latin typeface="Red Hat Mono" pitchFamily="34" charset="0"/>
                <a:ea typeface="Red Hat Mono" pitchFamily="34" charset="-122"/>
                <a:cs typeface="Red Hat Mono" pitchFamily="34" charset="-120"/>
              </a:rPr>
              <a:t>    condition: db.enabled
</a:t>
            </a:r>
            <a:r>
              <a:rPr lang="en-US" sz="1950" dirty="0">
                <a:solidFill>
                  <a:srgbClr val="E6E6E6"/>
                </a:solidFill>
                <a:latin typeface="Red Hat Mono" pitchFamily="34" charset="0"/>
                <a:ea typeface="Red Hat Mono" pitchFamily="34" charset="-122"/>
                <a:cs typeface="Red Hat Mono" pitchFamily="34" charset="-120"/>
              </a:rPr>
              <a:t>  - name: shipping-kafka
</a:t>
            </a:r>
            <a:r>
              <a:rPr lang="en-US" sz="1950" dirty="0">
                <a:solidFill>
                  <a:srgbClr val="E6E6E6"/>
                </a:solidFill>
                <a:latin typeface="Red Hat Mono" pitchFamily="34" charset="0"/>
                <a:ea typeface="Red Hat Mono" pitchFamily="34" charset="-122"/>
                <a:cs typeface="Red Hat Mono" pitchFamily="34" charset="-120"/>
              </a:rPr>
              <a:t>    alias: kafka
</a:t>
            </a:r>
            <a:r>
              <a:rPr lang="en-US" sz="1950" dirty="0">
                <a:solidFill>
                  <a:srgbClr val="E6E6E6"/>
                </a:solidFill>
                <a:latin typeface="Red Hat Mono" pitchFamily="34" charset="0"/>
                <a:ea typeface="Red Hat Mono" pitchFamily="34" charset="-122"/>
                <a:cs typeface="Red Hat Mono" pitchFamily="34" charset="-120"/>
              </a:rPr>
              <a:t>    tags: [messaging]
</a:t>
            </a:r>
            <a:endParaRPr lang="en-US" sz="195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condition switches one subchart; a tag switches a group; alias renames it in values and in rendered names.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Globals and import-values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global</a:t>
            </a:r>
            <a:r>
              <a:rPr lang="en-US" sz="2000" dirty="0">
                <a:solidFill>
                  <a:srgbClr val="242424"/>
                </a:solidFill>
                <a:latin typeface="Red Hat Text" pitchFamily="34" charset="0"/>
                <a:ea typeface="Red Hat Text" pitchFamily="34" charset="-122"/>
                <a:cs typeface="Red Hat Text" pitchFamily="34" charset="-120"/>
              </a:rPr>
              <a:t> — one values subtree every subchart can read: environment, otlpEndpoint, imageRegistry.</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import-values</a:t>
            </a:r>
            <a:r>
              <a:rPr lang="en-US" sz="2000" dirty="0">
                <a:solidFill>
                  <a:srgbClr val="242424"/>
                </a:solidFill>
                <a:latin typeface="Red Hat Text" pitchFamily="34" charset="0"/>
                <a:ea typeface="Red Hat Text" pitchFamily="34" charset="-122"/>
                <a:cs typeface="Red Hat Text" pitchFamily="34" charset="-120"/>
              </a:rPr>
              <a:t> — copies a subchart's exports into the parent or a sibling's values at render time.</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Static exports</a:t>
            </a:r>
            <a:r>
              <a:rPr lang="en-US" sz="2000" dirty="0">
                <a:solidFill>
                  <a:srgbClr val="242424"/>
                </a:solidFill>
                <a:latin typeface="Red Hat Text" pitchFamily="34" charset="0"/>
                <a:ea typeface="Red Hat Text" pitchFamily="34" charset="-122"/>
                <a:cs typeface="Red Hat Text" pitchFamily="34" charset="-120"/>
              </a:rPr>
              <a:t> — an exports block is a constant, so it must match the Cluster name and Kafka clusterName it describes.</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Override trap</a:t>
            </a:r>
            <a:r>
              <a:rPr lang="en-US" sz="2000" dirty="0">
                <a:solidFill>
                  <a:srgbClr val="242424"/>
                </a:solidFill>
                <a:latin typeface="Red Hat Text" pitchFamily="34" charset="0"/>
                <a:ea typeface="Red Hat Text" pitchFamily="34" charset="-122"/>
                <a:cs typeface="Red Hat Text" pitchFamily="34" charset="-120"/>
              </a:rPr>
              <a:t> — a key the subchart defaults in its own values.yaml cannot be overridden by an import; leave it unset.</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CRDs and operators</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651760"/>
                <a:gridCol w="2377440"/>
                <a:gridCol w="6025896"/>
              </a:tblGrid>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crds/ directory</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Chart-owned CRDs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Applied on first install, skipped on upgrade, never deleted. Inspect with helm show crds.</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templates/</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CRD as a template</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Upgraded with the release; uninstall deletes the CRD and every custom resource.</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Operator chart</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Operator-owned CRDs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The operator installs its CRDs; the application chart ships only custom resources.</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fail guard</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Readable failure</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Template stops with a clear message when the required API is not served.</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Capabilities guards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template</a:t>
            </a:r>
            <a:endParaRPr lang="en-US" sz="1100" dirty="0"/>
          </a:p>
        </p:txBody>
      </p:sp>
      <p:sp>
        <p:nvSpPr>
          <p:cNvPr id="7" name="Shape 4"/>
          <p:cNvSpPr/>
          <p:nvPr/>
        </p:nvSpPr>
        <p:spPr>
          <a:xfrm>
            <a:off x="566928" y="1417320"/>
            <a:ext cx="11055096" cy="44348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4251960"/>
          </a:xfrm>
          <a:prstGeom prst="rect">
            <a:avLst/>
          </a:prstGeom>
          <a:noFill/>
          <a:ln/>
        </p:spPr>
        <p:txBody>
          <a:bodyPr wrap="square" rtlCol="0" anchor="t"/>
          <a:lstStyle/>
          <a:p>
            <a:pPr algn="l" indent="0" marL="0">
              <a:lnSpc>
                <a:spcPct val="110000"/>
              </a:lnSpc>
              <a:buNone/>
            </a:pPr>
            <a:r>
              <a:rPr lang="en-US" sz="1700" dirty="0">
                <a:solidFill>
                  <a:srgbClr val="E6E6E6"/>
                </a:solidFill>
                <a:latin typeface="Red Hat Mono" pitchFamily="34" charset="0"/>
                <a:ea typeface="Red Hat Mono" pitchFamily="34" charset="-122"/>
                <a:cs typeface="Red Hat Mono" pitchFamily="34" charset="-120"/>
              </a:rPr>
              <a:t>{{- if and .Values.requireOperator
</a:t>
            </a:r>
            <a:r>
              <a:rPr lang="en-US" sz="1700" dirty="0">
                <a:solidFill>
                  <a:srgbClr val="E6E6E6"/>
                </a:solidFill>
                <a:latin typeface="Red Hat Mono" pitchFamily="34" charset="0"/>
                <a:ea typeface="Red Hat Mono" pitchFamily="34" charset="-122"/>
                <a:cs typeface="Red Hat Mono" pitchFamily="34" charset="-120"/>
              </a:rPr>
              <a:t>      (not (.Capabilities.APIVersions.Has "postgresql.cnpg.io/v1")) }}
</a:t>
            </a:r>
            <a:r>
              <a:rPr lang="en-US" sz="1700" dirty="0">
                <a:solidFill>
                  <a:srgbClr val="E6E6E6"/>
                </a:solidFill>
                <a:latin typeface="Red Hat Mono" pitchFamily="34" charset="0"/>
                <a:ea typeface="Red Hat Mono" pitchFamily="34" charset="-122"/>
                <a:cs typeface="Red Hat Mono" pitchFamily="34" charset="-120"/>
              </a:rPr>
              <a:t>{{- fail "shipping-postgres needs the CloudNativePG operator: ..." }}
</a:t>
            </a:r>
            <a:r>
              <a:rPr lang="en-US" sz="1700" dirty="0">
                <a:solidFill>
                  <a:srgbClr val="E6E6E6"/>
                </a:solidFill>
                <a:latin typeface="Red Hat Mono" pitchFamily="34" charset="0"/>
                <a:ea typeface="Red Hat Mono" pitchFamily="34" charset="-122"/>
                <a:cs typeface="Red Hat Mono" pitchFamily="34" charset="-120"/>
              </a:rPr>
              <a:t>{{- end }}
</a:t>
            </a:r>
            <a:r>
              <a:rPr lang="en-US" sz="1700" dirty="0">
                <a:solidFill>
                  <a:srgbClr val="E6E6E6"/>
                </a:solidFill>
                <a:latin typeface="Red Hat Mono" pitchFamily="34" charset="0"/>
                <a:ea typeface="Red Hat Mono" pitchFamily="34" charset="-122"/>
                <a:cs typeface="Red Hat Mono" pitchFamily="34" charset="-120"/>
              </a:rPr>
              <a:t>
</a:t>
            </a:r>
            <a:r>
              <a:rPr lang="en-US" sz="1700" dirty="0">
                <a:solidFill>
                  <a:srgbClr val="8FB98F"/>
                </a:solidFill>
                <a:latin typeface="Red Hat Mono" pitchFamily="34" charset="0"/>
                <a:ea typeface="Red Hat Mono" pitchFamily="34" charset="-122"/>
                <a:cs typeface="Red Hat Mono" pitchFamily="34" charset="-120"/>
              </a:rPr>
              <a:t># templates/route.yaml renders only where the API exists
</a:t>
            </a:r>
            <a:r>
              <a:rPr lang="en-US" sz="1700" dirty="0">
                <a:solidFill>
                  <a:srgbClr val="E6E6E6"/>
                </a:solidFill>
                <a:latin typeface="Red Hat Mono" pitchFamily="34" charset="0"/>
                <a:ea typeface="Red Hat Mono" pitchFamily="34" charset="-122"/>
                <a:cs typeface="Red Hat Mono" pitchFamily="34" charset="-120"/>
              </a:rPr>
              <a:t>{{- if and .Values.route.enabled
</a:t>
            </a:r>
            <a:r>
              <a:rPr lang="en-US" sz="1700" dirty="0">
                <a:solidFill>
                  <a:srgbClr val="E6E6E6"/>
                </a:solidFill>
                <a:latin typeface="Red Hat Mono" pitchFamily="34" charset="0"/>
                <a:ea typeface="Red Hat Mono" pitchFamily="34" charset="-122"/>
                <a:cs typeface="Red Hat Mono" pitchFamily="34" charset="-120"/>
              </a:rPr>
              <a:t>      (.Capabilities.APIVersions.Has "route.openshift.io/v1") }}
</a:t>
            </a:r>
            <a:r>
              <a:rPr lang="en-US" sz="1700" dirty="0">
                <a:solidFill>
                  <a:srgbClr val="E6E6E6"/>
                </a:solidFill>
                <a:latin typeface="Red Hat Mono" pitchFamily="34" charset="0"/>
                <a:ea typeface="Red Hat Mono" pitchFamily="34" charset="-122"/>
                <a:cs typeface="Red Hat Mono" pitchFamily="34" charset="-120"/>
              </a:rPr>
              <a:t>...
</a:t>
            </a:r>
            <a:r>
              <a:rPr lang="en-US" sz="1700" dirty="0">
                <a:solidFill>
                  <a:srgbClr val="E6E6E6"/>
                </a:solidFill>
                <a:latin typeface="Red Hat Mono" pitchFamily="34" charset="0"/>
                <a:ea typeface="Red Hat Mono" pitchFamily="34" charset="-122"/>
                <a:cs typeface="Red Hat Mono" pitchFamily="34" charset="-120"/>
              </a:rPr>
              <a:t>{{- end }}
</a:t>
            </a:r>
            <a:r>
              <a:rPr lang="en-US" sz="1700" dirty="0">
                <a:solidFill>
                  <a:srgbClr val="E6E6E6"/>
                </a:solidFill>
                <a:latin typeface="Red Hat Mono" pitchFamily="34" charset="0"/>
                <a:ea typeface="Red Hat Mono" pitchFamily="34" charset="-122"/>
                <a:cs typeface="Red Hat Mono" pitchFamily="34" charset="-120"/>
              </a:rPr>
              <a:t>
</a:t>
            </a:r>
            <a:r>
              <a:rPr lang="en-US" sz="1700" dirty="0">
                <a:solidFill>
                  <a:srgbClr val="8FB98F"/>
                </a:solidFill>
                <a:latin typeface="Red Hat Mono" pitchFamily="34" charset="0"/>
                <a:ea typeface="Red Hat Mono" pitchFamily="34" charset="-122"/>
                <a:cs typeface="Red Hat Mono" pitchFamily="34" charset="-120"/>
              </a:rPr>
              <a:t># Offline there is no cluster to ask: supply the API yourself
</a:t>
            </a:r>
            <a:r>
              <a:rPr lang="en-US" sz="1700" dirty="0">
                <a:solidFill>
                  <a:srgbClr val="E6E6E6"/>
                </a:solidFill>
                <a:latin typeface="Red Hat Mono" pitchFamily="34" charset="0"/>
                <a:ea typeface="Red Hat Mono" pitchFamily="34" charset="-122"/>
                <a:cs typeface="Red Hat Mono" pitchFamily="34" charset="-120"/>
              </a:rPr>
              <a:t>[host]$ helm template platform charts/shipping-platform -n hfd-ocp \
</a:t>
            </a:r>
            <a:r>
              <a:rPr lang="en-US" sz="1700" dirty="0">
                <a:solidFill>
                  <a:srgbClr val="E6E6E6"/>
                </a:solidFill>
                <a:latin typeface="Red Hat Mono" pitchFamily="34" charset="0"/>
                <a:ea typeface="Red Hat Mono" pitchFamily="34" charset="-122"/>
                <a:cs typeface="Red Hat Mono" pitchFamily="34" charset="-120"/>
              </a:rPr>
              <a:t>          --api-versions route.openshift.io/v1
</a:t>
            </a:r>
            <a:r>
              <a:rPr lang="en-US" sz="1700" dirty="0">
                <a:solidFill>
                  <a:srgbClr val="E6E6E6"/>
                </a:solidFill>
                <a:latin typeface="Red Hat Mono" pitchFamily="34" charset="0"/>
                <a:ea typeface="Red Hat Mono" pitchFamily="34" charset="-122"/>
                <a:cs typeface="Red Hat Mono" pitchFamily="34" charset="-120"/>
              </a:rPr>
              <a:t>[host]$ helm template platform charts/shipping-platform -n hfd-ocp
</a:t>
            </a:r>
            <a:endParaRPr lang="en-US" sz="17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Has asks the cluster at install time; helm template needs </a:t>
            </a:r>
            <a:r>
              <a:rPr lang="en-US" sz="1200" i="1" dirty="0">
                <a:solidFill>
                  <a:srgbClr val="151515"/>
                </a:solidFill>
                <a:latin typeface="Red Hat Mono" pitchFamily="34" charset="0"/>
                <a:ea typeface="Red Hat Mono" pitchFamily="34" charset="-122"/>
                <a:cs typeface="Red Hat Mono" pitchFamily="34" charset="-120"/>
              </a:rPr>
              <a:t>--api-versions</a:t>
            </a:r>
            <a:r>
              <a:rPr lang="en-US" sz="1300" i="1" dirty="0">
                <a:solidFill>
                  <a:srgbClr val="5A5A5A"/>
                </a:solidFill>
                <a:latin typeface="Red Hat Text" pitchFamily="34" charset="0"/>
                <a:ea typeface="Red Hat Text" pitchFamily="34" charset="-122"/>
                <a:cs typeface="Red Hat Text" pitchFamily="34" charset="-120"/>
              </a:rPr>
              <a:t> (examples/27-openshift-crc).</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Library charts</a:t>
            </a:r>
            <a:endParaRPr lang="en-US" sz="3000" dirty="0"/>
          </a:p>
        </p:txBody>
      </p:sp>
      <p:pic>
        <p:nvPicPr>
          <p:cNvPr id="6" name="Image 1" descr="./png/h201-library-charts.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two service charts include templates from pc-lib; rendered output stays identical.</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MULTI-SERVICE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Starters and golden paths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helm create</a:t>
            </a:r>
            <a:endParaRPr lang="en-US" sz="1100" dirty="0"/>
          </a:p>
        </p:txBody>
      </p:sp>
      <p:sp>
        <p:nvSpPr>
          <p:cNvPr id="7" name="Shape 4"/>
          <p:cNvSpPr/>
          <p:nvPr/>
        </p:nvSpPr>
        <p:spPr>
          <a:xfrm>
            <a:off x="566928" y="1417320"/>
            <a:ext cx="11055096" cy="37363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3553460"/>
          </a:xfrm>
          <a:prstGeom prst="rect">
            <a:avLst/>
          </a:prstGeom>
          <a:noFill/>
          <a:ln/>
        </p:spPr>
        <p:txBody>
          <a:bodyPr wrap="square" rtlCol="0" anchor="t"/>
          <a:lstStyle/>
          <a:p>
            <a:pPr algn="l" indent="0" marL="0">
              <a:lnSpc>
                <a:spcPct val="110000"/>
              </a:lnSpc>
              <a:buNone/>
            </a:pPr>
            <a:r>
              <a:rPr lang="en-US" sz="2000" dirty="0">
                <a:solidFill>
                  <a:srgbClr val="8FB98F"/>
                </a:solidFill>
                <a:latin typeface="Red Hat Mono" pitchFamily="34" charset="0"/>
                <a:ea typeface="Red Hat Mono" pitchFamily="34" charset="-122"/>
                <a:cs typeface="Red Hat Mono" pitchFamily="34" charset="-120"/>
              </a:rPr>
              <a:t># A starter is a chart directory; &lt;CHARTNAME&gt; becomes the new name
</a:t>
            </a:r>
            <a:r>
              <a:rPr lang="en-US" sz="2000" dirty="0">
                <a:solidFill>
                  <a:srgbClr val="E6E6E6"/>
                </a:solidFill>
                <a:latin typeface="Red Hat Mono" pitchFamily="34" charset="0"/>
                <a:ea typeface="Red Hat Mono" pitchFamily="34" charset="-122"/>
                <a:cs typeface="Red Hat Mono" pitchFamily="34" charset="-120"/>
              </a:rPr>
              <a:t>[host]$ helm create --starter pc-fastapi charts/inventory-service
</a:t>
            </a:r>
            <a:r>
              <a:rPr lang="en-US" sz="2000" dirty="0">
                <a:solidFill>
                  <a:srgbClr val="E6E6E6"/>
                </a:solidFill>
                <a:latin typeface="Red Hat Mono" pitchFamily="34" charset="0"/>
                <a:ea typeface="Red Hat Mono" pitchFamily="34" charset="-122"/>
                <a:cs typeface="Red Hat Mono" pitchFamily="34" charset="-120"/>
              </a:rPr>
              <a:t>[host]$ helm dependency build charts/inventory-service
</a:t>
            </a:r>
            <a:r>
              <a:rPr lang="en-US" sz="2000" dirty="0">
                <a:solidFill>
                  <a:srgbClr val="E6E6E6"/>
                </a:solidFill>
                <a:latin typeface="Red Hat Mono" pitchFamily="34" charset="0"/>
                <a:ea typeface="Red Hat Mono" pitchFamily="34" charset="-122"/>
                <a:cs typeface="Red Hat Mono" pitchFamily="34" charset="-120"/>
              </a:rPr>
              <a:t>[host]$ helm lint --strict charts/inventory-service
</a:t>
            </a:r>
            <a:r>
              <a:rPr lang="en-US" sz="2000" dirty="0">
                <a:solidFill>
                  <a:srgbClr val="E6E6E6"/>
                </a:solidFill>
                <a:latin typeface="Red Hat Mono" pitchFamily="34" charset="0"/>
                <a:ea typeface="Red Hat Mono" pitchFamily="34" charset="-122"/>
                <a:cs typeface="Red Hat Mono" pitchFamily="34" charset="-120"/>
              </a:rPr>
              <a:t>[host]$ helm template inventory charts/inventory-service \
</a:t>
            </a:r>
            <a:r>
              <a:rPr lang="en-US" sz="2000" dirty="0">
                <a:solidFill>
                  <a:srgbClr val="E6E6E6"/>
                </a:solidFill>
                <a:latin typeface="Red Hat Mono" pitchFamily="34" charset="0"/>
                <a:ea typeface="Red Hat Mono" pitchFamily="34" charset="-122"/>
                <a:cs typeface="Red Hat Mono" pitchFamily="34" charset="-120"/>
              </a:rPr>
              <a:t>          | kubeconform -strict -summary
</a:t>
            </a:r>
            <a:r>
              <a:rPr lang="en-US" sz="2000" dirty="0">
                <a:solidFill>
                  <a:srgbClr val="E6E6E6"/>
                </a:solidFill>
                <a:latin typeface="Red Hat Mono" pitchFamily="34" charset="0"/>
                <a:ea typeface="Red Hat Mono" pitchFamily="34" charset="-122"/>
                <a:cs typeface="Red Hat Mono" pitchFamily="34" charset="-120"/>
              </a:rPr>
              <a:t>[host]$ helm upgrade --install inventory charts/inventory-service \
</a:t>
            </a:r>
            <a:r>
              <a:rPr lang="en-US" sz="2000" dirty="0">
                <a:solidFill>
                  <a:srgbClr val="E6E6E6"/>
                </a:solidFill>
                <a:latin typeface="Red Hat Mono" pitchFamily="34" charset="0"/>
                <a:ea typeface="Red Hat Mono" pitchFamily="34" charset="-122"/>
                <a:cs typeface="Red Hat Mono" pitchFamily="34" charset="-120"/>
              </a:rPr>
              <a:t>          -n hfd-18 --create-namespace
</a:t>
            </a:r>
            <a:r>
              <a:rPr lang="en-US" sz="2000" dirty="0">
                <a:solidFill>
                  <a:srgbClr val="E6E6E6"/>
                </a:solidFill>
                <a:latin typeface="Red Hat Mono" pitchFamily="34" charset="0"/>
                <a:ea typeface="Red Hat Mono" pitchFamily="34" charset="-122"/>
                <a:cs typeface="Red Hat Mono" pitchFamily="34" charset="-120"/>
              </a:rPr>
              <a:t>[host]$ helm test inventory -n hfd-18
</a:t>
            </a:r>
            <a:r>
              <a:rPr lang="en-US" sz="2000" dirty="0">
                <a:solidFill>
                  <a:srgbClr val="8FB98F"/>
                </a:solidFill>
                <a:latin typeface="Red Hat Mono" pitchFamily="34" charset="0"/>
                <a:ea typeface="Red Hat Mono" pitchFamily="34" charset="-122"/>
                <a:cs typeface="Red Hat Mono" pitchFamily="34" charset="-120"/>
              </a:rPr>
              <a:t># Starters live in HELM_DATA_HOME/starters or at an absolute path
</a:t>
            </a:r>
            <a:endParaRPr lang="en-US" sz="2000" dirty="0"/>
          </a:p>
        </p:txBody>
      </p:sp>
      <p:sp>
        <p:nvSpPr>
          <p:cNvPr id="9" name="Text 6"/>
          <p:cNvSpPr/>
          <p:nvPr/>
        </p:nvSpPr>
        <p:spPr>
          <a:xfrm>
            <a:off x="566928" y="52451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 from examples/18-starters. The starter is the first commit; the library, schema and ci/ values carry the guardrails.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Distribution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Version, publish, verify and sign charts.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DISTRIBUTION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SemVer versus appVersion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Chart.yaml</a:t>
            </a:r>
            <a:endParaRPr lang="en-US" sz="1100" dirty="0"/>
          </a:p>
        </p:txBody>
      </p:sp>
      <p:sp>
        <p:nvSpPr>
          <p:cNvPr id="7" name="Shape 4"/>
          <p:cNvSpPr/>
          <p:nvPr/>
        </p:nvSpPr>
        <p:spPr>
          <a:xfrm>
            <a:off x="566928" y="1417320"/>
            <a:ext cx="11055096" cy="2954998"/>
          </a:xfrm>
          <a:prstGeom prst="rect">
            <a:avLst/>
          </a:prstGeom>
          <a:solidFill>
            <a:srgbClr val="151515"/>
          </a:solidFill>
          <a:ln w="12700">
            <a:solidFill>
              <a:srgbClr val="151515"/>
            </a:solidFill>
            <a:prstDash val="solid"/>
          </a:ln>
        </p:spPr>
      </p:sp>
      <p:sp>
        <p:nvSpPr>
          <p:cNvPr id="8" name="Text 5"/>
          <p:cNvSpPr/>
          <p:nvPr/>
        </p:nvSpPr>
        <p:spPr>
          <a:xfrm>
            <a:off x="749808" y="1508760"/>
            <a:ext cx="10689336" cy="2772118"/>
          </a:xfrm>
          <a:prstGeom prst="rect">
            <a:avLst/>
          </a:prstGeom>
          <a:noFill/>
          <a:ln/>
        </p:spPr>
        <p:txBody>
          <a:bodyPr wrap="square" rtlCol="0" anchor="t"/>
          <a:lstStyle/>
          <a:p>
            <a:pPr algn="l" indent="0" marL="0">
              <a:lnSpc>
                <a:spcPct val="110000"/>
              </a:lnSpc>
              <a:buNone/>
            </a:pPr>
            <a:r>
              <a:rPr lang="en-US" sz="1700" dirty="0">
                <a:solidFill>
                  <a:srgbClr val="E6E6E6"/>
                </a:solidFill>
                <a:latin typeface="Red Hat Mono" pitchFamily="34" charset="0"/>
                <a:ea typeface="Red Hat Mono" pitchFamily="34" charset="-122"/>
                <a:cs typeface="Red Hat Mono" pitchFamily="34" charset="-120"/>
              </a:rPr>
              <a:t>version: 1.0.0        # the chart: templates, values keys, dependencies
</a:t>
            </a:r>
            <a:r>
              <a:rPr lang="en-US" sz="1700" dirty="0">
                <a:solidFill>
                  <a:srgbClr val="E6E6E6"/>
                </a:solidFill>
                <a:latin typeface="Red Hat Mono" pitchFamily="34" charset="0"/>
                <a:ea typeface="Red Hat Mono" pitchFamily="34" charset="-122"/>
                <a:cs typeface="Red Hat Mono" pitchFamily="34" charset="-120"/>
              </a:rPr>
              <a:t>appVersion: "0.1.0"   # the application the chart deploys; default image tag
</a:t>
            </a:r>
            <a:r>
              <a:rPr lang="en-US" sz="1700" dirty="0">
                <a:solidFill>
                  <a:srgbClr val="E6E6E6"/>
                </a:solidFill>
                <a:latin typeface="Red Hat Mono" pitchFamily="34" charset="0"/>
                <a:ea typeface="Red Hat Mono" pitchFamily="34" charset="-122"/>
                <a:cs typeface="Red Hat Mono" pitchFamily="34" charset="-120"/>
              </a:rPr>
              <a:t>
</a:t>
            </a:r>
            <a:r>
              <a:rPr lang="en-US" sz="1700" dirty="0">
                <a:solidFill>
                  <a:srgbClr val="8FB98F"/>
                </a:solidFill>
                <a:latin typeface="Red Hat Mono" pitchFamily="34" charset="0"/>
                <a:ea typeface="Red Hat Mono" pitchFamily="34" charset="-122"/>
                <a:cs typeface="Red Hat Mono" pitchFamily="34" charset="-120"/>
              </a:rPr>
              <a:t># CI stamps both without editing the file
</a:t>
            </a:r>
            <a:r>
              <a:rPr lang="en-US" sz="1700" dirty="0">
                <a:solidFill>
                  <a:srgbClr val="E6E6E6"/>
                </a:solidFill>
                <a:latin typeface="Red Hat Mono" pitchFamily="34" charset="0"/>
                <a:ea typeface="Red Hat Mono" pitchFamily="34" charset="-122"/>
                <a:cs typeface="Red Hat Mono" pitchFamily="34" charset="-120"/>
              </a:rPr>
              <a:t>[host]$ helm package charts/shipping-service \
</a:t>
            </a:r>
            <a:r>
              <a:rPr lang="en-US" sz="1700" dirty="0">
                <a:solidFill>
                  <a:srgbClr val="E6E6E6"/>
                </a:solidFill>
                <a:latin typeface="Red Hat Mono" pitchFamily="34" charset="0"/>
                <a:ea typeface="Red Hat Mono" pitchFamily="34" charset="-122"/>
                <a:cs typeface="Red Hat Mono" pitchFamily="34" charset="-120"/>
              </a:rPr>
              <a:t>          --version 1.0.1 --app-version 0.1.1 -d .work/repo
</a:t>
            </a:r>
            <a:r>
              <a:rPr lang="en-US" sz="1700" dirty="0">
                <a:solidFill>
                  <a:srgbClr val="8FB98F"/>
                </a:solidFill>
                <a:latin typeface="Red Hat Mono" pitchFamily="34" charset="0"/>
                <a:ea typeface="Red Hat Mono" pitchFamily="34" charset="-122"/>
                <a:cs typeface="Red Hat Mono" pitchFamily="34" charset="-120"/>
              </a:rPr>
              <a:t># Pre-releases are valid SemVer and hidden from search until --devel
</a:t>
            </a:r>
            <a:r>
              <a:rPr lang="en-US" sz="1700" dirty="0">
                <a:solidFill>
                  <a:srgbClr val="E6E6E6"/>
                </a:solidFill>
                <a:latin typeface="Red Hat Mono" pitchFamily="34" charset="0"/>
                <a:ea typeface="Red Hat Mono" pitchFamily="34" charset="-122"/>
                <a:cs typeface="Red Hat Mono" pitchFamily="34" charset="-120"/>
              </a:rPr>
              <a:t>[host]$ helm package charts/shipping-service --version 1.1.0-rc.1 -d .work/repo
</a:t>
            </a:r>
            <a:r>
              <a:rPr lang="en-US" sz="1700" dirty="0">
                <a:solidFill>
                  <a:srgbClr val="E6E6E6"/>
                </a:solidFill>
                <a:latin typeface="Red Hat Mono" pitchFamily="34" charset="0"/>
                <a:ea typeface="Red Hat Mono" pitchFamily="34" charset="-122"/>
                <a:cs typeface="Red Hat Mono" pitchFamily="34" charset="-120"/>
              </a:rPr>
              <a:t>[host]$ helm search repo hfd-local --devel
</a:t>
            </a:r>
            <a:endParaRPr lang="en-US" sz="1700" dirty="0"/>
          </a:p>
        </p:txBody>
      </p:sp>
      <p:sp>
        <p:nvSpPr>
          <p:cNvPr id="9" name="Text 6"/>
          <p:cNvSpPr/>
          <p:nvPr/>
        </p:nvSpPr>
        <p:spPr>
          <a:xfrm>
            <a:off x="566928" y="4463758"/>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Bump major for a removed or changed values key, minor for additions, patch for fixes.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DISTRIBUTION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Repos versus OCI</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194560"/>
                <a:gridCol w="2651760"/>
                <a:gridCol w="6208776"/>
              </a:tblGrid>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Classic repo</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index.yaml over HTTP</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 repo add, update, search repo; helm repo index builds the index; any static host works.</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OCI registry</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Charts as artifacts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 push and pull oci://; no helm repo add and no index.yaml; tags carry the version.</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Search</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Discovery</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 search repo works on classic repos only; registries are browsed with their own tooling.</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Digests</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Immutability</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OCI installs accept @sha256:&lt;digest&gt;; a tag can move, a digest cannot.</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Auth</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Credentials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 registry login for OCI; repo credentials flags for classic repos.</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DISTRIBUTION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Push and pull with OCI</a:t>
            </a:r>
            <a:endParaRPr lang="en-US" sz="3000" dirty="0"/>
          </a:p>
        </p:txBody>
      </p:sp>
      <p:pic>
        <p:nvPicPr>
          <p:cNvPr id="6" name="Image 1" descr="./png/h201-oci-flow.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package, push, optionally sign, then pull or install by tag or digest.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DISTRIBUTION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Provenance files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helm package --sign</a:t>
            </a:r>
            <a:endParaRPr lang="en-US" sz="1100" dirty="0"/>
          </a:p>
        </p:txBody>
      </p:sp>
      <p:sp>
        <p:nvSpPr>
          <p:cNvPr id="7" name="Shape 4"/>
          <p:cNvSpPr/>
          <p:nvPr/>
        </p:nvSpPr>
        <p:spPr>
          <a:xfrm>
            <a:off x="566928" y="1417320"/>
            <a:ext cx="11055096" cy="3179426"/>
          </a:xfrm>
          <a:prstGeom prst="rect">
            <a:avLst/>
          </a:prstGeom>
          <a:solidFill>
            <a:srgbClr val="151515"/>
          </a:solidFill>
          <a:ln w="12700">
            <a:solidFill>
              <a:srgbClr val="151515"/>
            </a:solidFill>
            <a:prstDash val="solid"/>
          </a:ln>
        </p:spPr>
      </p:sp>
      <p:sp>
        <p:nvSpPr>
          <p:cNvPr id="8" name="Text 5"/>
          <p:cNvSpPr/>
          <p:nvPr/>
        </p:nvSpPr>
        <p:spPr>
          <a:xfrm>
            <a:off x="749808" y="1508760"/>
            <a:ext cx="10689336" cy="2996546"/>
          </a:xfrm>
          <a:prstGeom prst="rect">
            <a:avLst/>
          </a:prstGeom>
          <a:noFill/>
          <a:ln/>
        </p:spPr>
        <p:txBody>
          <a:bodyPr wrap="square" rtlCol="0" anchor="t"/>
          <a:lstStyle/>
          <a:p>
            <a:pPr algn="l" indent="0" marL="0">
              <a:lnSpc>
                <a:spcPct val="110000"/>
              </a:lnSpc>
              <a:buNone/>
            </a:pPr>
            <a:r>
              <a:rPr lang="en-US" sz="1850" dirty="0">
                <a:solidFill>
                  <a:srgbClr val="8FB98F"/>
                </a:solidFill>
                <a:latin typeface="Red Hat Mono" pitchFamily="34" charset="0"/>
                <a:ea typeface="Red Hat Mono" pitchFamily="34" charset="-122"/>
                <a:cs typeface="Red Hat Mono" pitchFamily="34" charset="-120"/>
              </a:rPr>
              <a:t># Sign at package time; the key must come from a secret keyring file
</a:t>
            </a:r>
            <a:r>
              <a:rPr lang="en-US" sz="1850" dirty="0">
                <a:solidFill>
                  <a:srgbClr val="E6E6E6"/>
                </a:solidFill>
                <a:latin typeface="Red Hat Mono" pitchFamily="34" charset="0"/>
                <a:ea typeface="Red Hat Mono" pitchFamily="34" charset="-122"/>
                <a:cs typeface="Red Hat Mono" pitchFamily="34" charset="-120"/>
              </a:rPr>
              <a:t>[host]$ helm package charts/shipping-service --dependency-update --sign \
</a:t>
            </a:r>
            <a:r>
              <a:rPr lang="en-US" sz="1850" dirty="0">
                <a:solidFill>
                  <a:srgbClr val="E6E6E6"/>
                </a:solidFill>
                <a:latin typeface="Red Hat Mono" pitchFamily="34" charset="0"/>
                <a:ea typeface="Red Hat Mono" pitchFamily="34" charset="-122"/>
                <a:cs typeface="Red Hat Mono" pitchFamily="34" charset="-120"/>
              </a:rPr>
              <a:t>          --key "HFD Throwaway Signer" --keyring .work/keys/secring.gpg \
</a:t>
            </a:r>
            <a:r>
              <a:rPr lang="en-US" sz="1850" dirty="0">
                <a:solidFill>
                  <a:srgbClr val="E6E6E6"/>
                </a:solidFill>
                <a:latin typeface="Red Hat Mono" pitchFamily="34" charset="0"/>
                <a:ea typeface="Red Hat Mono" pitchFamily="34" charset="-122"/>
                <a:cs typeface="Red Hat Mono" pitchFamily="34" charset="-120"/>
              </a:rPr>
              <a:t>          -d .work/signed
</a:t>
            </a:r>
            <a:r>
              <a:rPr lang="en-US" sz="1850" dirty="0">
                <a:solidFill>
                  <a:srgbClr val="8FB98F"/>
                </a:solidFill>
                <a:latin typeface="Red Hat Mono" pitchFamily="34" charset="0"/>
                <a:ea typeface="Red Hat Mono" pitchFamily="34" charset="-122"/>
                <a:cs typeface="Red Hat Mono" pitchFamily="34" charset="-120"/>
              </a:rPr>
              <a:t># Verify the tarball against its .prov file
</a:t>
            </a:r>
            <a:r>
              <a:rPr lang="en-US" sz="1850" dirty="0">
                <a:solidFill>
                  <a:srgbClr val="E6E6E6"/>
                </a:solidFill>
                <a:latin typeface="Red Hat Mono" pitchFamily="34" charset="0"/>
                <a:ea typeface="Red Hat Mono" pitchFamily="34" charset="-122"/>
                <a:cs typeface="Red Hat Mono" pitchFamily="34" charset="-120"/>
              </a:rPr>
              <a:t>[host]$ helm verify .work/signed/shipping-service-1.0.0.tgz
</a:t>
            </a:r>
            <a:r>
              <a:rPr lang="en-US" sz="1850" dirty="0">
                <a:solidFill>
                  <a:srgbClr val="8FB98F"/>
                </a:solidFill>
                <a:latin typeface="Red Hat Mono" pitchFamily="34" charset="0"/>
                <a:ea typeface="Red Hat Mono" pitchFamily="34" charset="-122"/>
                <a:cs typeface="Red Hat Mono" pitchFamily="34" charset="-120"/>
              </a:rPr>
              <a:t># Verify while pulling from an OCI registry
</a:t>
            </a:r>
            <a:r>
              <a:rPr lang="en-US" sz="1850" dirty="0">
                <a:solidFill>
                  <a:srgbClr val="E6E6E6"/>
                </a:solidFill>
                <a:latin typeface="Red Hat Mono" pitchFamily="34" charset="0"/>
                <a:ea typeface="Red Hat Mono" pitchFamily="34" charset="-122"/>
                <a:cs typeface="Red Hat Mono" pitchFamily="34" charset="-120"/>
              </a:rPr>
              <a:t>[host]$ helm pull oci://127.0.0.1:5001/signed/shipping-service \
</a:t>
            </a:r>
            <a:r>
              <a:rPr lang="en-US" sz="1850" dirty="0">
                <a:solidFill>
                  <a:srgbClr val="E6E6E6"/>
                </a:solidFill>
                <a:latin typeface="Red Hat Mono" pitchFamily="34" charset="0"/>
                <a:ea typeface="Red Hat Mono" pitchFamily="34" charset="-122"/>
                <a:cs typeface="Red Hat Mono" pitchFamily="34" charset="-120"/>
              </a:rPr>
              <a:t>          --version 1.0.0 --plain-http --verify -d .work/pull
</a:t>
            </a:r>
            <a:endParaRPr lang="en-US" sz="1850" dirty="0"/>
          </a:p>
        </p:txBody>
      </p:sp>
      <p:sp>
        <p:nvSpPr>
          <p:cNvPr id="9" name="Text 6"/>
          <p:cNvSpPr/>
          <p:nvPr/>
        </p:nvSpPr>
        <p:spPr>
          <a:xfrm>
            <a:off x="566928" y="4688186"/>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From examples/21-signing. A .prov file holds a PGP signature over the chart's hash; tampering fails verification.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DISTRIBUTION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Cosign for OCI charts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cosign</a:t>
            </a:r>
            <a:endParaRPr lang="en-US" sz="1100" dirty="0"/>
          </a:p>
        </p:txBody>
      </p:sp>
      <p:sp>
        <p:nvSpPr>
          <p:cNvPr id="7" name="Shape 4"/>
          <p:cNvSpPr/>
          <p:nvPr/>
        </p:nvSpPr>
        <p:spPr>
          <a:xfrm>
            <a:off x="566928" y="1417320"/>
            <a:ext cx="11055096" cy="2954998"/>
          </a:xfrm>
          <a:prstGeom prst="rect">
            <a:avLst/>
          </a:prstGeom>
          <a:solidFill>
            <a:srgbClr val="151515"/>
          </a:solidFill>
          <a:ln w="12700">
            <a:solidFill>
              <a:srgbClr val="151515"/>
            </a:solidFill>
            <a:prstDash val="solid"/>
          </a:ln>
        </p:spPr>
      </p:sp>
      <p:sp>
        <p:nvSpPr>
          <p:cNvPr id="8" name="Text 5"/>
          <p:cNvSpPr/>
          <p:nvPr/>
        </p:nvSpPr>
        <p:spPr>
          <a:xfrm>
            <a:off x="749808" y="1508760"/>
            <a:ext cx="10689336" cy="2772118"/>
          </a:xfrm>
          <a:prstGeom prst="rect">
            <a:avLst/>
          </a:prstGeom>
          <a:noFill/>
          <a:ln/>
        </p:spPr>
        <p:txBody>
          <a:bodyPr wrap="square" rtlCol="0" anchor="t"/>
          <a:lstStyle/>
          <a:p>
            <a:pPr algn="l" indent="0" marL="0">
              <a:lnSpc>
                <a:spcPct val="110000"/>
              </a:lnSpc>
              <a:buNone/>
            </a:pPr>
            <a:r>
              <a:rPr lang="en-US" sz="1700" dirty="0">
                <a:solidFill>
                  <a:srgbClr val="8FB98F"/>
                </a:solidFill>
                <a:latin typeface="Red Hat Mono" pitchFamily="34" charset="0"/>
                <a:ea typeface="Red Hat Mono" pitchFamily="34" charset="-122"/>
                <a:cs typeface="Red Hat Mono" pitchFamily="34" charset="-120"/>
              </a:rPr>
              <a:t># A second mechanism: sign the OCI manifest digest, not the tarball
</a:t>
            </a:r>
            <a:r>
              <a:rPr lang="en-US" sz="1700" dirty="0">
                <a:solidFill>
                  <a:srgbClr val="E6E6E6"/>
                </a:solidFill>
                <a:latin typeface="Red Hat Mono" pitchFamily="34" charset="0"/>
                <a:ea typeface="Red Hat Mono" pitchFamily="34" charset="-122"/>
                <a:cs typeface="Red Hat Mono" pitchFamily="34" charset="-120"/>
              </a:rPr>
              <a:t>[host]$ cosign sign --key .work/cosign/cosign.key --yes --allow-http-registry \
</a:t>
            </a:r>
            <a:r>
              <a:rPr lang="en-US" sz="1700" dirty="0">
                <a:solidFill>
                  <a:srgbClr val="E6E6E6"/>
                </a:solidFill>
                <a:latin typeface="Red Hat Mono" pitchFamily="34" charset="0"/>
                <a:ea typeface="Red Hat Mono" pitchFamily="34" charset="-122"/>
                <a:cs typeface="Red Hat Mono" pitchFamily="34" charset="-120"/>
              </a:rPr>
              <a:t>          --use-signing-config=false --tlog-upload=false \
</a:t>
            </a:r>
            <a:r>
              <a:rPr lang="en-US" sz="1700" dirty="0">
                <a:solidFill>
                  <a:srgbClr val="E6E6E6"/>
                </a:solidFill>
                <a:latin typeface="Red Hat Mono" pitchFamily="34" charset="0"/>
                <a:ea typeface="Red Hat Mono" pitchFamily="34" charset="-122"/>
                <a:cs typeface="Red Hat Mono" pitchFamily="34" charset="-120"/>
              </a:rPr>
              <a:t>          127.0.0.1:5001/signed/shipping-service@sha256:&lt;digest&gt;
</a:t>
            </a:r>
            <a:r>
              <a:rPr lang="en-US" sz="1700" dirty="0">
                <a:solidFill>
                  <a:srgbClr val="E6E6E6"/>
                </a:solidFill>
                <a:latin typeface="Red Hat Mono" pitchFamily="34" charset="0"/>
                <a:ea typeface="Red Hat Mono" pitchFamily="34" charset="-122"/>
                <a:cs typeface="Red Hat Mono" pitchFamily="34" charset="-120"/>
              </a:rPr>
              <a:t>[host]$ cosign verify --key .work/cosign/cosign.pub --allow-http-registry \
</a:t>
            </a:r>
            <a:r>
              <a:rPr lang="en-US" sz="1700" dirty="0">
                <a:solidFill>
                  <a:srgbClr val="E6E6E6"/>
                </a:solidFill>
                <a:latin typeface="Red Hat Mono" pitchFamily="34" charset="0"/>
                <a:ea typeface="Red Hat Mono" pitchFamily="34" charset="-122"/>
                <a:cs typeface="Red Hat Mono" pitchFamily="34" charset="-120"/>
              </a:rPr>
              <a:t>          --insecure-ignore-tlog \
</a:t>
            </a:r>
            <a:r>
              <a:rPr lang="en-US" sz="1700" dirty="0">
                <a:solidFill>
                  <a:srgbClr val="E6E6E6"/>
                </a:solidFill>
                <a:latin typeface="Red Hat Mono" pitchFamily="34" charset="0"/>
                <a:ea typeface="Red Hat Mono" pitchFamily="34" charset="-122"/>
                <a:cs typeface="Red Hat Mono" pitchFamily="34" charset="-120"/>
              </a:rPr>
              <a:t>          127.0.0.1:5001/signed/shipping-service@sha256:&lt;digest&gt;
</a:t>
            </a:r>
            <a:r>
              <a:rPr lang="en-US" sz="1700" dirty="0">
                <a:solidFill>
                  <a:srgbClr val="8FB98F"/>
                </a:solidFill>
                <a:latin typeface="Red Hat Mono" pitchFamily="34" charset="0"/>
                <a:ea typeface="Red Hat Mono" pitchFamily="34" charset="-122"/>
                <a:cs typeface="Red Hat Mono" pitchFamily="34" charset="-120"/>
              </a:rPr>
              <a:t># Keyless signing and the transparency log are the default in production:
</a:t>
            </a:r>
            <a:r>
              <a:rPr lang="en-US" sz="1700" dirty="0">
                <a:solidFill>
                  <a:srgbClr val="8FB98F"/>
                </a:solidFill>
                <a:latin typeface="Red Hat Mono" pitchFamily="34" charset="0"/>
                <a:ea typeface="Red Hat Mono" pitchFamily="34" charset="-122"/>
                <a:cs typeface="Red Hat Mono" pitchFamily="34" charset="-120"/>
              </a:rPr>
              <a:t># omit --key, --use-signing-config=false and --tlog-upload=false
</a:t>
            </a:r>
            <a:endParaRPr lang="en-US" sz="1700" dirty="0"/>
          </a:p>
        </p:txBody>
      </p:sp>
      <p:sp>
        <p:nvSpPr>
          <p:cNvPr id="9" name="Text 6"/>
          <p:cNvSpPr/>
          <p:nvPr/>
        </p:nvSpPr>
        <p:spPr>
          <a:xfrm>
            <a:off x="566928" y="4463758"/>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flags that disable the transparency log exist for a local HTTP registry only.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Extending Helm</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Plugins in Helm 4: types, runtimes and post-renderers.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EXTENDING HELM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Helm 4 plugin types</a:t>
            </a:r>
            <a:endParaRPr lang="en-US" sz="3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651760"/>
                <a:gridCol w="2194560"/>
                <a:gridCol w="6208776"/>
              </a:tblGrid>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cli/v1</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Command plugin</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Adds a subcommand: helm shipping-env, helm wasm-hello.</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getter/v1</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Download plugin</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Fetches charts from a new kind of location.</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postrenderer/v1</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Post-renderer</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Rewrites rendered manifests; selected with </a:t>
                      </a:r>
                      <a:endParaRPr lang="en-US" sz="1500" dirty="0">
                        <a:latin typeface="Red Hat Text" charset="0"/>
                        <a:ea typeface="Red Hat Text" charset="0"/>
                        <a:cs typeface="Red Hat Text" charset="0"/>
                      </a:endParaRPr>
                    </a:p>
                    <a:p>
                      <a:pPr algn="l" indent="0" marL="0">
                        <a:buNone/>
                      </a:pPr>
                      <a:r>
                        <a:rPr lang="en-US" sz="1400" dirty="0">
                          <a:solidFill>
                            <a:srgbClr val="151515"/>
                          </a:solidFill>
                          <a:latin typeface="Red Hat Mono" pitchFamily="34" charset="0"/>
                          <a:ea typeface="Red Hat Mono" pitchFamily="34" charset="-122"/>
                          <a:cs typeface="Red Hat Mono" pitchFamily="34" charset="-120"/>
                        </a:rPr>
                        <a:t>--post-renderer</a:t>
                      </a:r>
                      <a:r>
                        <a:rPr lang="en-US" sz="1500" dirty="0">
                          <a:solidFill>
                            <a:srgbClr val="242424"/>
                          </a:solidFill>
                          <a:latin typeface="Red Hat Text" pitchFamily="34" charset="0"/>
                          <a:ea typeface="Red Hat Text" pitchFamily="34" charset="-122"/>
                          <a:cs typeface="Red Hat Text" pitchFamily="34" charset="-120"/>
                        </a:rPr>
                        <a:t> NAME.</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subprocess</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Runtime</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 runs runtimeConfig.platformCommand with the user's permissions.</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extism/v1</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Runtime</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 runs plugin.wasm in a sandbox with memory and time limits.</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EXTENDING HELM</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Wasm plugin manifest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plugin.yaml</a:t>
            </a:r>
            <a:endParaRPr lang="en-US" sz="1100" dirty="0"/>
          </a:p>
        </p:txBody>
      </p:sp>
      <p:sp>
        <p:nvSpPr>
          <p:cNvPr id="7" name="Shape 4"/>
          <p:cNvSpPr/>
          <p:nvPr/>
        </p:nvSpPr>
        <p:spPr>
          <a:xfrm>
            <a:off x="566928" y="1417320"/>
            <a:ext cx="11055096" cy="3403854"/>
          </a:xfrm>
          <a:prstGeom prst="rect">
            <a:avLst/>
          </a:prstGeom>
          <a:solidFill>
            <a:srgbClr val="151515"/>
          </a:solidFill>
          <a:ln w="12700">
            <a:solidFill>
              <a:srgbClr val="151515"/>
            </a:solidFill>
            <a:prstDash val="solid"/>
          </a:ln>
        </p:spPr>
      </p:sp>
      <p:sp>
        <p:nvSpPr>
          <p:cNvPr id="8" name="Text 5"/>
          <p:cNvSpPr/>
          <p:nvPr/>
        </p:nvSpPr>
        <p:spPr>
          <a:xfrm>
            <a:off x="749808" y="1508760"/>
            <a:ext cx="10689336" cy="3220974"/>
          </a:xfrm>
          <a:prstGeom prst="rect">
            <a:avLst/>
          </a:prstGeom>
          <a:noFill/>
          <a:ln/>
        </p:spPr>
        <p:txBody>
          <a:bodyPr wrap="square" rtlCol="0" anchor="t"/>
          <a:lstStyle/>
          <a:p>
            <a:pPr algn="l" indent="0" marL="0">
              <a:lnSpc>
                <a:spcPct val="110000"/>
              </a:lnSpc>
              <a:buNone/>
            </a:pPr>
            <a:r>
              <a:rPr lang="en-US" sz="2000" dirty="0">
                <a:solidFill>
                  <a:srgbClr val="E6E6E6"/>
                </a:solidFill>
                <a:latin typeface="Red Hat Mono" pitchFamily="34" charset="0"/>
                <a:ea typeface="Red Hat Mono" pitchFamily="34" charset="-122"/>
                <a:cs typeface="Red Hat Mono" pitchFamily="34" charset="-120"/>
              </a:rPr>
              <a:t>apiVersion: v1
</a:t>
            </a:r>
            <a:r>
              <a:rPr lang="en-US" sz="2000" dirty="0">
                <a:solidFill>
                  <a:srgbClr val="E6E6E6"/>
                </a:solidFill>
                <a:latin typeface="Red Hat Mono" pitchFamily="34" charset="0"/>
                <a:ea typeface="Red Hat Mono" pitchFamily="34" charset="-122"/>
                <a:cs typeface="Red Hat Mono" pitchFamily="34" charset="-120"/>
              </a:rPr>
              <a:t>type: cli/v1
</a:t>
            </a:r>
            <a:r>
              <a:rPr lang="en-US" sz="2000" dirty="0">
                <a:solidFill>
                  <a:srgbClr val="E6E6E6"/>
                </a:solidFill>
                <a:latin typeface="Red Hat Mono" pitchFamily="34" charset="0"/>
                <a:ea typeface="Red Hat Mono" pitchFamily="34" charset="-122"/>
                <a:cs typeface="Red Hat Mono" pitchFamily="34" charset="-120"/>
              </a:rPr>
              <a:t>name: wasm-hello
</a:t>
            </a:r>
            <a:r>
              <a:rPr lang="en-US" sz="2000" dirty="0">
                <a:solidFill>
                  <a:srgbClr val="E6E6E6"/>
                </a:solidFill>
                <a:latin typeface="Red Hat Mono" pitchFamily="34" charset="0"/>
                <a:ea typeface="Red Hat Mono" pitchFamily="34" charset="-122"/>
                <a:cs typeface="Red Hat Mono" pitchFamily="34" charset="-120"/>
              </a:rPr>
              <a:t>version: 0.1.0
</a:t>
            </a:r>
            <a:r>
              <a:rPr lang="en-US" sz="2000" dirty="0">
                <a:solidFill>
                  <a:srgbClr val="E6E6E6"/>
                </a:solidFill>
                <a:latin typeface="Red Hat Mono" pitchFamily="34" charset="0"/>
                <a:ea typeface="Red Hat Mono" pitchFamily="34" charset="-122"/>
                <a:cs typeface="Red Hat Mono" pitchFamily="34" charset="-120"/>
              </a:rPr>
              <a:t>runtime: extism/v1
</a:t>
            </a:r>
            <a:r>
              <a:rPr lang="en-US" sz="2000" dirty="0">
                <a:solidFill>
                  <a:srgbClr val="E6E6E6"/>
                </a:solidFill>
                <a:latin typeface="Red Hat Mono" pitchFamily="34" charset="0"/>
                <a:ea typeface="Red Hat Mono" pitchFamily="34" charset="-122"/>
                <a:cs typeface="Red Hat Mono" pitchFamily="34" charset="-120"/>
              </a:rPr>
              <a:t>runtimeConfig:
</a:t>
            </a:r>
            <a:r>
              <a:rPr lang="en-US" sz="2000" dirty="0">
                <a:solidFill>
                  <a:srgbClr val="E6E6E6"/>
                </a:solidFill>
                <a:latin typeface="Red Hat Mono" pitchFamily="34" charset="0"/>
                <a:ea typeface="Red Hat Mono" pitchFamily="34" charset="-122"/>
                <a:cs typeface="Red Hat Mono" pitchFamily="34" charset="-120"/>
              </a:rPr>
              <a:t>  memory:
</a:t>
            </a:r>
            <a:r>
              <a:rPr lang="en-US" sz="2000" dirty="0">
                <a:solidFill>
                  <a:srgbClr val="E6E6E6"/>
                </a:solidFill>
                <a:latin typeface="Red Hat Mono" pitchFamily="34" charset="0"/>
                <a:ea typeface="Red Hat Mono" pitchFamily="34" charset="-122"/>
                <a:cs typeface="Red Hat Mono" pitchFamily="34" charset="-120"/>
              </a:rPr>
              <a:t>    maxPages: 256
</a:t>
            </a:r>
            <a:r>
              <a:rPr lang="en-US" sz="2000" dirty="0">
                <a:solidFill>
                  <a:srgbClr val="E6E6E6"/>
                </a:solidFill>
                <a:latin typeface="Red Hat Mono" pitchFamily="34" charset="0"/>
                <a:ea typeface="Red Hat Mono" pitchFamily="34" charset="-122"/>
                <a:cs typeface="Red Hat Mono" pitchFamily="34" charset="-120"/>
              </a:rPr>
              <a:t>  timeout: 5000
</a:t>
            </a:r>
            <a:endParaRPr lang="en-US" sz="2000" dirty="0"/>
          </a:p>
        </p:txBody>
      </p:sp>
      <p:sp>
        <p:nvSpPr>
          <p:cNvPr id="9" name="Text 6"/>
          <p:cNvSpPr/>
          <p:nvPr/>
        </p:nvSpPr>
        <p:spPr>
          <a:xfrm>
            <a:off x="566928" y="4912614"/>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runtime field selects the sandbox; memory and time limits live in the plugin's own configuration.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EXTENDING HELM</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Wasm plugin entry point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and bash</a:t>
            </a:r>
            <a:endParaRPr lang="en-US" sz="1100" dirty="0"/>
          </a:p>
        </p:txBody>
      </p:sp>
      <p:sp>
        <p:nvSpPr>
          <p:cNvPr id="7" name="Shape 4"/>
          <p:cNvSpPr/>
          <p:nvPr/>
        </p:nvSpPr>
        <p:spPr>
          <a:xfrm>
            <a:off x="566928" y="1417320"/>
            <a:ext cx="11055096" cy="3403854"/>
          </a:xfrm>
          <a:prstGeom prst="rect">
            <a:avLst/>
          </a:prstGeom>
          <a:solidFill>
            <a:srgbClr val="151515"/>
          </a:solidFill>
          <a:ln w="12700">
            <a:solidFill>
              <a:srgbClr val="151515"/>
            </a:solidFill>
            <a:prstDash val="solid"/>
          </a:ln>
        </p:spPr>
      </p:sp>
      <p:sp>
        <p:nvSpPr>
          <p:cNvPr id="8" name="Text 5"/>
          <p:cNvSpPr/>
          <p:nvPr/>
        </p:nvSpPr>
        <p:spPr>
          <a:xfrm>
            <a:off x="749808" y="1508760"/>
            <a:ext cx="10689336" cy="3220974"/>
          </a:xfrm>
          <a:prstGeom prst="rect">
            <a:avLst/>
          </a:prstGeom>
          <a:noFill/>
          <a:ln/>
        </p:spPr>
        <p:txBody>
          <a:bodyPr wrap="square" rtlCol="0" anchor="t"/>
          <a:lstStyle/>
          <a:p>
            <a:pPr algn="l" indent="0" marL="0">
              <a:lnSpc>
                <a:spcPct val="110000"/>
              </a:lnSpc>
              <a:buNone/>
            </a:pPr>
            <a:r>
              <a:rPr lang="en-US" sz="2000" dirty="0">
                <a:solidFill>
                  <a:srgbClr val="8FB98F"/>
                </a:solidFill>
                <a:latin typeface="Red Hat Mono" pitchFamily="34" charset="0"/>
                <a:ea typeface="Red Hat Mono" pitchFamily="34" charset="-122"/>
                <a:cs typeface="Red Hat Mono" pitchFamily="34" charset="-120"/>
              </a:rPr>
              <a:t>// main.go: the exported entry point
</a:t>
            </a:r>
            <a:r>
              <a:rPr lang="en-US" sz="2000" dirty="0">
                <a:solidFill>
                  <a:srgbClr val="8FB98F"/>
                </a:solidFill>
                <a:latin typeface="Red Hat Mono" pitchFamily="34" charset="0"/>
                <a:ea typeface="Red Hat Mono" pitchFamily="34" charset="-122"/>
                <a:cs typeface="Red Hat Mono" pitchFamily="34" charset="-120"/>
              </a:rPr>
              <a:t>//go:wasmexport helm_plugin_main
</a:t>
            </a:r>
            <a:r>
              <a:rPr lang="en-US" sz="2000" dirty="0">
                <a:solidFill>
                  <a:srgbClr val="E6E6E6"/>
                </a:solidFill>
                <a:latin typeface="Red Hat Mono" pitchFamily="34" charset="0"/>
                <a:ea typeface="Red Hat Mono" pitchFamily="34" charset="-122"/>
                <a:cs typeface="Red Hat Mono" pitchFamily="34" charset="-120"/>
              </a:rPr>
              <a:t>func helmPluginMain() uint32 { ...; return 0 }
</a:t>
            </a:r>
            <a:r>
              <a:rPr lang="en-US" sz="2000" dirty="0">
                <a:solidFill>
                  <a:srgbClr val="E6E6E6"/>
                </a:solidFill>
                <a:latin typeface="Red Hat Mono" pitchFamily="34" charset="0"/>
                <a:ea typeface="Red Hat Mono" pitchFamily="34" charset="-122"/>
                <a:cs typeface="Red Hat Mono" pitchFamily="34" charset="-120"/>
              </a:rPr>
              <a:t>
</a:t>
            </a:r>
            <a:r>
              <a:rPr lang="en-US" sz="2000" dirty="0">
                <a:solidFill>
                  <a:srgbClr val="8FB98F"/>
                </a:solidFill>
                <a:latin typeface="Red Hat Mono" pitchFamily="34" charset="0"/>
                <a:ea typeface="Red Hat Mono" pitchFamily="34" charset="-122"/>
                <a:cs typeface="Red Hat Mono" pitchFamily="34" charset="-120"/>
              </a:rPr>
              <a:t># build the module Helm loads as plugin.wasm
</a:t>
            </a:r>
            <a:r>
              <a:rPr lang="en-US" sz="2000" dirty="0">
                <a:solidFill>
                  <a:srgbClr val="E6E6E6"/>
                </a:solidFill>
                <a:latin typeface="Red Hat Mono" pitchFamily="34" charset="0"/>
                <a:ea typeface="Red Hat Mono" pitchFamily="34" charset="-122"/>
                <a:cs typeface="Red Hat Mono" pitchFamily="34" charset="-120"/>
              </a:rPr>
              <a:t>[host]$ GOOS=wasip1 GOARCH=wasm go build \
</a:t>
            </a:r>
            <a:r>
              <a:rPr lang="en-US" sz="2000" dirty="0">
                <a:solidFill>
                  <a:srgbClr val="E6E6E6"/>
                </a:solidFill>
                <a:latin typeface="Red Hat Mono" pitchFamily="34" charset="0"/>
                <a:ea typeface="Red Hat Mono" pitchFamily="34" charset="-122"/>
                <a:cs typeface="Red Hat Mono" pitchFamily="34" charset="-120"/>
              </a:rPr>
              <a:t>          -buildmode=c-shared -o plugin.wasm .
</a:t>
            </a:r>
            <a:r>
              <a:rPr lang="en-US" sz="2000" dirty="0">
                <a:solidFill>
                  <a:srgbClr val="E6E6E6"/>
                </a:solidFill>
                <a:latin typeface="Red Hat Mono" pitchFamily="34" charset="0"/>
                <a:ea typeface="Red Hat Mono" pitchFamily="34" charset="-122"/>
                <a:cs typeface="Red Hat Mono" pitchFamily="34" charset="-120"/>
              </a:rPr>
              <a:t>
</a:t>
            </a:r>
            <a:r>
              <a:rPr lang="en-US" sz="2000" dirty="0">
                <a:solidFill>
                  <a:srgbClr val="8FB98F"/>
                </a:solidFill>
                <a:latin typeface="Red Hat Mono" pitchFamily="34" charset="0"/>
                <a:ea typeface="Red Hat Mono" pitchFamily="34" charset="-122"/>
                <a:cs typeface="Red Hat Mono" pitchFamily="34" charset="-120"/>
              </a:rPr>
              <a:t># run it: helm wasm-hello Helm4
</a:t>
            </a:r>
            <a:endParaRPr lang="en-US" sz="2000" dirty="0"/>
          </a:p>
        </p:txBody>
      </p:sp>
      <p:sp>
        <p:nvSpPr>
          <p:cNvPr id="9" name="Text 6"/>
          <p:cNvSpPr/>
          <p:nvPr/>
        </p:nvSpPr>
        <p:spPr>
          <a:xfrm>
            <a:off x="566928" y="4912614"/>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Output: Hello, Helm4! (from a Wasm Helm plugin). The module runs inside Helm's Extism runtime.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EXTENDING HELM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Post-renderer plugins</a:t>
            </a:r>
            <a:endParaRPr lang="en-US" sz="3000" dirty="0"/>
          </a:p>
        </p:txBody>
      </p:sp>
      <p:pic>
        <p:nvPicPr>
          <p:cNvPr id="6" name="Image 1" descr="./png/h201-post-renderer.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rendered YAML goes to a plugin on stdin and comes back modified on stdout.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Delivery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Promote across environments, drive releases from Git, and observe them.</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Environment promotion</a:t>
            </a:r>
            <a:endParaRPr lang="en-US" sz="3000" dirty="0"/>
          </a:p>
        </p:txBody>
      </p:sp>
      <p:pic>
        <p:nvPicPr>
          <p:cNvPr id="6" name="Image 1" descr="./png/h201-env-promotion.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one chart build, three environments, each a values layer plus a pins file.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Helmfile, optional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helmfile.yaml</a:t>
            </a:r>
            <a:endParaRPr lang="en-US" sz="1100" dirty="0"/>
          </a:p>
        </p:txBody>
      </p:sp>
      <p:sp>
        <p:nvSpPr>
          <p:cNvPr id="7" name="Shape 4"/>
          <p:cNvSpPr/>
          <p:nvPr/>
        </p:nvSpPr>
        <p:spPr>
          <a:xfrm>
            <a:off x="566928" y="1417320"/>
            <a:ext cx="11055096" cy="4434840"/>
          </a:xfrm>
          <a:prstGeom prst="rect">
            <a:avLst/>
          </a:prstGeom>
          <a:solidFill>
            <a:srgbClr val="151515"/>
          </a:solidFill>
          <a:ln w="12700">
            <a:solidFill>
              <a:srgbClr val="151515"/>
            </a:solidFill>
            <a:prstDash val="solid"/>
          </a:ln>
        </p:spPr>
      </p:sp>
      <p:sp>
        <p:nvSpPr>
          <p:cNvPr id="8" name="Text 5"/>
          <p:cNvSpPr/>
          <p:nvPr/>
        </p:nvSpPr>
        <p:spPr>
          <a:xfrm>
            <a:off x="749808" y="1508760"/>
            <a:ext cx="10689336" cy="4251960"/>
          </a:xfrm>
          <a:prstGeom prst="rect">
            <a:avLst/>
          </a:prstGeom>
          <a:noFill/>
          <a:ln/>
        </p:spPr>
        <p:txBody>
          <a:bodyPr wrap="square" rtlCol="0" anchor="t"/>
          <a:lstStyle/>
          <a:p>
            <a:pPr algn="l" indent="0" marL="0">
              <a:lnSpc>
                <a:spcPct val="110000"/>
              </a:lnSpc>
              <a:buNone/>
            </a:pPr>
            <a:r>
              <a:rPr lang="en-US" sz="1650" dirty="0">
                <a:solidFill>
                  <a:srgbClr val="E6E6E6"/>
                </a:solidFill>
                <a:latin typeface="Red Hat Mono" pitchFamily="34" charset="0"/>
                <a:ea typeface="Red Hat Mono" pitchFamily="34" charset="-122"/>
                <a:cs typeface="Red Hat Mono" pitchFamily="34" charset="-120"/>
              </a:rPr>
              <a:t>helmDefaults:
</a:t>
            </a:r>
            <a:r>
              <a:rPr lang="en-US" sz="1650" dirty="0">
                <a:solidFill>
                  <a:srgbClr val="E6E6E6"/>
                </a:solidFill>
                <a:latin typeface="Red Hat Mono" pitchFamily="34" charset="0"/>
                <a:ea typeface="Red Hat Mono" pitchFamily="34" charset="-122"/>
                <a:cs typeface="Red Hat Mono" pitchFamily="34" charset="-120"/>
              </a:rPr>
              <a:t>  wait: true
</a:t>
            </a:r>
            <a:r>
              <a:rPr lang="en-US" sz="1650" dirty="0">
                <a:solidFill>
                  <a:srgbClr val="E6E6E6"/>
                </a:solidFill>
                <a:latin typeface="Red Hat Mono" pitchFamily="34" charset="0"/>
                <a:ea typeface="Red Hat Mono" pitchFamily="34" charset="-122"/>
                <a:cs typeface="Red Hat Mono" pitchFamily="34" charset="-120"/>
              </a:rPr>
              <a:t>  timeout: 600
</a:t>
            </a:r>
            <a:r>
              <a:rPr lang="en-US" sz="1650" dirty="0">
                <a:solidFill>
                  <a:srgbClr val="E6E6E6"/>
                </a:solidFill>
                <a:latin typeface="Red Hat Mono" pitchFamily="34" charset="0"/>
                <a:ea typeface="Red Hat Mono" pitchFamily="34" charset="-122"/>
                <a:cs typeface="Red Hat Mono" pitchFamily="34" charset="-120"/>
              </a:rPr>
              <a:t>  createNamespace: true
</a:t>
            </a:r>
            <a:r>
              <a:rPr lang="en-US" sz="1650" dirty="0">
                <a:solidFill>
                  <a:srgbClr val="E6E6E6"/>
                </a:solidFill>
                <a:latin typeface="Red Hat Mono" pitchFamily="34" charset="0"/>
                <a:ea typeface="Red Hat Mono" pitchFamily="34" charset="-122"/>
                <a:cs typeface="Red Hat Mono" pitchFamily="34" charset="-120"/>
              </a:rPr>
              <a:t>  rollbackOnFailure: true      # Helm 4 flag
</a:t>
            </a:r>
            <a:r>
              <a:rPr lang="en-US" sz="1650" dirty="0">
                <a:solidFill>
                  <a:srgbClr val="E6E6E6"/>
                </a:solidFill>
                <a:latin typeface="Red Hat Mono" pitchFamily="34" charset="0"/>
                <a:ea typeface="Red Hat Mono" pitchFamily="34" charset="-122"/>
                <a:cs typeface="Red Hat Mono" pitchFamily="34" charset="-120"/>
              </a:rPr>
              <a:t>releases:
</a:t>
            </a:r>
            <a:r>
              <a:rPr lang="en-US" sz="1650" dirty="0">
                <a:solidFill>
                  <a:srgbClr val="E6E6E6"/>
                </a:solidFill>
                <a:latin typeface="Red Hat Mono" pitchFamily="34" charset="0"/>
                <a:ea typeface="Red Hat Mono" pitchFamily="34" charset="-122"/>
                <a:cs typeface="Red Hat Mono" pitchFamily="34" charset="-120"/>
              </a:rPr>
              <a:t>  - name: platform
</a:t>
            </a:r>
            <a:r>
              <a:rPr lang="en-US" sz="1650" dirty="0">
                <a:solidFill>
                  <a:srgbClr val="E6E6E6"/>
                </a:solidFill>
                <a:latin typeface="Red Hat Mono" pitchFamily="34" charset="0"/>
                <a:ea typeface="Red Hat Mono" pitchFamily="34" charset="-122"/>
                <a:cs typeface="Red Hat Mono" pitchFamily="34" charset="-120"/>
              </a:rPr>
              <a:t>    namespace: hfd-24-prod
</a:t>
            </a:r>
            <a:r>
              <a:rPr lang="en-US" sz="1650" dirty="0">
                <a:solidFill>
                  <a:srgbClr val="E6E6E6"/>
                </a:solidFill>
                <a:latin typeface="Red Hat Mono" pitchFamily="34" charset="0"/>
                <a:ea typeface="Red Hat Mono" pitchFamily="34" charset="-122"/>
                <a:cs typeface="Red Hat Mono" pitchFamily="34" charset="-120"/>
              </a:rPr>
              <a:t>    chart: ./charts/shipping-platform
</a:t>
            </a:r>
            <a:r>
              <a:rPr lang="en-US" sz="1650" dirty="0">
                <a:solidFill>
                  <a:srgbClr val="E6E6E6"/>
                </a:solidFill>
                <a:latin typeface="Red Hat Mono" pitchFamily="34" charset="0"/>
                <a:ea typeface="Red Hat Mono" pitchFamily="34" charset="-122"/>
                <a:cs typeface="Red Hat Mono" pitchFamily="34" charset="-120"/>
              </a:rPr>
              <a:t>    version: 1.0.0             # the chart pin: one reviewed line per environment
</a:t>
            </a:r>
            <a:r>
              <a:rPr lang="en-US" sz="1650" dirty="0">
                <a:solidFill>
                  <a:srgbClr val="E6E6E6"/>
                </a:solidFill>
                <a:latin typeface="Red Hat Mono" pitchFamily="34" charset="0"/>
                <a:ea typeface="Red Hat Mono" pitchFamily="34" charset="-122"/>
                <a:cs typeface="Red Hat Mono" pitchFamily="34" charset="-120"/>
              </a:rPr>
              <a:t>    labels:
</a:t>
            </a:r>
            <a:r>
              <a:rPr lang="en-US" sz="1650" dirty="0">
                <a:solidFill>
                  <a:srgbClr val="E6E6E6"/>
                </a:solidFill>
                <a:latin typeface="Red Hat Mono" pitchFamily="34" charset="0"/>
                <a:ea typeface="Red Hat Mono" pitchFamily="34" charset="-122"/>
                <a:cs typeface="Red Hat Mono" pitchFamily="34" charset="-120"/>
              </a:rPr>
              <a:t>      env: prod
</a:t>
            </a:r>
            <a:r>
              <a:rPr lang="en-US" sz="1650" dirty="0">
                <a:solidFill>
                  <a:srgbClr val="E6E6E6"/>
                </a:solidFill>
                <a:latin typeface="Red Hat Mono" pitchFamily="34" charset="0"/>
                <a:ea typeface="Red Hat Mono" pitchFamily="34" charset="-122"/>
                <a:cs typeface="Red Hat Mono" pitchFamily="34" charset="-120"/>
              </a:rPr>
              <a:t>    values:
</a:t>
            </a:r>
            <a:r>
              <a:rPr lang="en-US" sz="1650" dirty="0">
                <a:solidFill>
                  <a:srgbClr val="E6E6E6"/>
                </a:solidFill>
                <a:latin typeface="Red Hat Mono" pitchFamily="34" charset="0"/>
                <a:ea typeface="Red Hat Mono" pitchFamily="34" charset="-122"/>
                <a:cs typeface="Red Hat Mono" pitchFamily="34" charset="-120"/>
              </a:rPr>
              <a:t>      - charts/shipping-platform/values-prod.yaml
</a:t>
            </a:r>
            <a:r>
              <a:rPr lang="en-US" sz="1650" dirty="0">
                <a:solidFill>
                  <a:srgbClr val="E6E6E6"/>
                </a:solidFill>
                <a:latin typeface="Red Hat Mono" pitchFamily="34" charset="0"/>
                <a:ea typeface="Red Hat Mono" pitchFamily="34" charset="-122"/>
                <a:cs typeface="Red Hat Mono" pitchFamily="34" charset="-120"/>
              </a:rPr>
              <a:t>      - pins/prod.yaml
</a:t>
            </a:r>
            <a:endParaRPr lang="en-US" sz="165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helmfile </a:t>
            </a:r>
            <a:r>
              <a:rPr lang="en-US" sz="1200" i="1" dirty="0">
                <a:solidFill>
                  <a:srgbClr val="151515"/>
                </a:solidFill>
                <a:latin typeface="Red Hat Mono" pitchFamily="34" charset="0"/>
                <a:ea typeface="Red Hat Mono" pitchFamily="34" charset="-122"/>
                <a:cs typeface="Red Hat Mono" pitchFamily="34" charset="-120"/>
              </a:rPr>
              <a:t>-l</a:t>
            </a:r>
            <a:r>
              <a:rPr lang="en-US" sz="1300" i="1" dirty="0">
                <a:solidFill>
                  <a:srgbClr val="5A5A5A"/>
                </a:solidFill>
                <a:latin typeface="Red Hat Text" pitchFamily="34" charset="0"/>
                <a:ea typeface="Red Hat Text" pitchFamily="34" charset="-122"/>
                <a:cs typeface="Red Hat Text" pitchFamily="34" charset="-120"/>
              </a:rPr>
              <a:t> env=prod template </a:t>
            </a:r>
            <a:r>
              <a:rPr lang="en-US" sz="1200" i="1" dirty="0">
                <a:solidFill>
                  <a:srgbClr val="151515"/>
                </a:solidFill>
                <a:latin typeface="Red Hat Mono" pitchFamily="34" charset="0"/>
                <a:ea typeface="Red Hat Mono" pitchFamily="34" charset="-122"/>
                <a:cs typeface="Red Hat Mono" pitchFamily="34" charset="-120"/>
              </a:rPr>
              <a:t>--skip-deps</a:t>
            </a:r>
            <a:r>
              <a:rPr lang="en-US" sz="1300" i="1" dirty="0">
                <a:solidFill>
                  <a:srgbClr val="5A5A5A"/>
                </a:solidFill>
                <a:latin typeface="Red Hat Text" pitchFamily="34" charset="0"/>
                <a:ea typeface="Red Hat Text" pitchFamily="34" charset="-122"/>
                <a:cs typeface="Red Hat Text" pitchFamily="34" charset="-120"/>
              </a:rPr>
              <a:t> renders one environment; Helmfile adds no new Helm flags.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GitOps with Argo CD</a:t>
            </a:r>
            <a:endParaRPr lang="en-US" sz="3000" dirty="0"/>
          </a:p>
        </p:txBody>
      </p:sp>
      <p:pic>
        <p:nvPicPr>
          <p:cNvPr id="6" name="Image 1" descr="./png/h201-gitops.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Argo CD renders the chart with helm template and applies the result itself.</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Hooks versus sync waves</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468880"/>
                <a:gridCol w="2377440"/>
                <a:gridCol w="6208776"/>
              </a:tblGrid>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post-install hook</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PostSync phase</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The migration Job runs after every non-hook resource is Healthy.</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hook-weight</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sync-wave on hooks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helm.sh/hook-weight becomes argocd.argoproj.io/sync-wave; lower runs first.</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no weight</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Wave 0 default</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Regular resources carry wave 0; annotate them to order them.</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Scope</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Weights versus waves</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Hook weights order hooks within one phase; waves order everything across the sync.</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86384">
                <a:tc>
                  <a:txBody>
                    <a:bodyPr/>
                    <a:lstStyle/>
                    <a:p>
                      <a:pPr algn="l" indent="0" marL="0">
                        <a:buNone/>
                      </a:pPr>
                      <a:r>
                        <a:rPr lang="en-US" sz="1700" b="1" dirty="0">
                          <a:solidFill>
                            <a:srgbClr val="EE0000"/>
                          </a:solidFill>
                          <a:latin typeface="Red Hat Mono" pitchFamily="34" charset="0"/>
                          <a:ea typeface="Red Hat Mono" pitchFamily="34" charset="-122"/>
                          <a:cs typeface="Red Hat Mono" pitchFamily="34" charset="-120"/>
                        </a:rPr>
                        <a:t>--wait</a:t>
                      </a:r>
                      <a:endParaRPr lang="en-US" sz="17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600" b="1" dirty="0">
                          <a:solidFill>
                            <a:srgbClr val="151515"/>
                          </a:solidFill>
                          <a:latin typeface="Red Hat Text" pitchFamily="34" charset="0"/>
                          <a:ea typeface="Red Hat Text" pitchFamily="34" charset="-122"/>
                          <a:cs typeface="Red Hat Text" pitchFamily="34" charset="-120"/>
                        </a:rPr>
                        <a:t>No equivalent</a:t>
                      </a:r>
                      <a:endParaRPr lang="en-US" sz="16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500" dirty="0">
                          <a:solidFill>
                            <a:srgbClr val="242424"/>
                          </a:solidFill>
                          <a:latin typeface="Red Hat Text" pitchFamily="34" charset="0"/>
                          <a:ea typeface="Red Hat Text" pitchFamily="34" charset="-122"/>
                          <a:cs typeface="Red Hat Text" pitchFamily="34" charset="-120"/>
                        </a:rPr>
                        <a:t>Readiness probes decide Healthy; the PostSync hook waits on them.</a:t>
                      </a:r>
                      <a:endParaRPr lang="en-US" sz="15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Observability via pc-lib</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template · _otel.tpl</a:t>
            </a:r>
            <a:endParaRPr lang="en-US" sz="1100" dirty="0"/>
          </a:p>
        </p:txBody>
      </p:sp>
      <p:sp>
        <p:nvSpPr>
          <p:cNvPr id="7" name="Shape 4"/>
          <p:cNvSpPr/>
          <p:nvPr/>
        </p:nvSpPr>
        <p:spPr>
          <a:xfrm>
            <a:off x="566928" y="1417320"/>
            <a:ext cx="11055096" cy="3603346"/>
          </a:xfrm>
          <a:prstGeom prst="rect">
            <a:avLst/>
          </a:prstGeom>
          <a:solidFill>
            <a:srgbClr val="151515"/>
          </a:solidFill>
          <a:ln w="12700">
            <a:solidFill>
              <a:srgbClr val="151515"/>
            </a:solidFill>
            <a:prstDash val="solid"/>
          </a:ln>
        </p:spPr>
      </p:sp>
      <p:sp>
        <p:nvSpPr>
          <p:cNvPr id="8" name="Text 5"/>
          <p:cNvSpPr/>
          <p:nvPr/>
        </p:nvSpPr>
        <p:spPr>
          <a:xfrm>
            <a:off x="749808" y="1508760"/>
            <a:ext cx="10689336" cy="3420466"/>
          </a:xfrm>
          <a:prstGeom prst="rect">
            <a:avLst/>
          </a:prstGeom>
          <a:noFill/>
          <a:ln/>
        </p:spPr>
        <p:txBody>
          <a:bodyPr wrap="square" rtlCol="0" anchor="t"/>
          <a:lstStyle/>
          <a:p>
            <a:pPr algn="l" indent="0" marL="0">
              <a:lnSpc>
                <a:spcPct val="110000"/>
              </a:lnSpc>
              <a:buNone/>
            </a:pPr>
            <a:r>
              <a:rPr lang="en-US" sz="1600" dirty="0">
                <a:solidFill>
                  <a:srgbClr val="E6E6E6"/>
                </a:solidFill>
                <a:latin typeface="Red Hat Mono" pitchFamily="34" charset="0"/>
                <a:ea typeface="Red Hat Mono" pitchFamily="34" charset="-122"/>
                <a:cs typeface="Red Hat Mono" pitchFamily="34" charset="-120"/>
              </a:rPr>
              <a:t>{{- define "pc-lib.otelEnv" -}}
</a:t>
            </a:r>
            <a:r>
              <a:rPr lang="en-US" sz="1600" dirty="0">
                <a:solidFill>
                  <a:srgbClr val="E6E6E6"/>
                </a:solidFill>
                <a:latin typeface="Red Hat Mono" pitchFamily="34" charset="0"/>
                <a:ea typeface="Red Hat Mono" pitchFamily="34" charset="-122"/>
                <a:cs typeface="Red Hat Mono" pitchFamily="34" charset="-120"/>
              </a:rPr>
              <a:t>{{- $global := default (dict) .Values.global -}}
</a:t>
            </a:r>
            <a:r>
              <a:rPr lang="en-US" sz="1600" dirty="0">
                <a:solidFill>
                  <a:srgbClr val="E6E6E6"/>
                </a:solidFill>
                <a:latin typeface="Red Hat Mono" pitchFamily="34" charset="0"/>
                <a:ea typeface="Red Hat Mono" pitchFamily="34" charset="-122"/>
                <a:cs typeface="Red Hat Mono" pitchFamily="34" charset="-120"/>
              </a:rPr>
              <a:t>{{- $endpoint := default (default "" $global.otlpEndpoint) .Values.otel.endpoint -}}
</a:t>
            </a:r>
            <a:r>
              <a:rPr lang="en-US" sz="1600" dirty="0">
                <a:solidFill>
                  <a:srgbClr val="E6E6E6"/>
                </a:solidFill>
                <a:latin typeface="Red Hat Mono" pitchFamily="34" charset="0"/>
                <a:ea typeface="Red Hat Mono" pitchFamily="34" charset="-122"/>
                <a:cs typeface="Red Hat Mono" pitchFamily="34" charset="-120"/>
              </a:rPr>
              <a:t>- name: OTEL_SDK_DISABLED
</a:t>
            </a:r>
            <a:r>
              <a:rPr lang="en-US" sz="1600" dirty="0">
                <a:solidFill>
                  <a:srgbClr val="E6E6E6"/>
                </a:solidFill>
                <a:latin typeface="Red Hat Mono" pitchFamily="34" charset="0"/>
                <a:ea typeface="Red Hat Mono" pitchFamily="34" charset="-122"/>
                <a:cs typeface="Red Hat Mono" pitchFamily="34" charset="-120"/>
              </a:rPr>
              <a:t>  value: {{ if $endpoint }}"false"{{ else }}"true"{{ end }}
</a:t>
            </a:r>
            <a:r>
              <a:rPr lang="en-US" sz="1600" dirty="0">
                <a:solidFill>
                  <a:srgbClr val="E6E6E6"/>
                </a:solidFill>
                <a:latin typeface="Red Hat Mono" pitchFamily="34" charset="0"/>
                <a:ea typeface="Red Hat Mono" pitchFamily="34" charset="-122"/>
                <a:cs typeface="Red Hat Mono" pitchFamily="34" charset="-120"/>
              </a:rPr>
              <a:t>{{- if $endpoint }}
</a:t>
            </a:r>
            <a:r>
              <a:rPr lang="en-US" sz="1600" dirty="0">
                <a:solidFill>
                  <a:srgbClr val="E6E6E6"/>
                </a:solidFill>
                <a:latin typeface="Red Hat Mono" pitchFamily="34" charset="0"/>
                <a:ea typeface="Red Hat Mono" pitchFamily="34" charset="-122"/>
                <a:cs typeface="Red Hat Mono" pitchFamily="34" charset="-120"/>
              </a:rPr>
              <a:t>- name: OTEL_EXPORTER_OTLP_ENDPOINT
</a:t>
            </a:r>
            <a:r>
              <a:rPr lang="en-US" sz="1600" dirty="0">
                <a:solidFill>
                  <a:srgbClr val="E6E6E6"/>
                </a:solidFill>
                <a:latin typeface="Red Hat Mono" pitchFamily="34" charset="0"/>
                <a:ea typeface="Red Hat Mono" pitchFamily="34" charset="-122"/>
                <a:cs typeface="Red Hat Mono" pitchFamily="34" charset="-120"/>
              </a:rPr>
              <a:t>  value: {{ $endpoint | quote }}
</a:t>
            </a:r>
            <a:r>
              <a:rPr lang="en-US" sz="1600" dirty="0">
                <a:solidFill>
                  <a:srgbClr val="E6E6E6"/>
                </a:solidFill>
                <a:latin typeface="Red Hat Mono" pitchFamily="34" charset="0"/>
                <a:ea typeface="Red Hat Mono" pitchFamily="34" charset="-122"/>
                <a:cs typeface="Red Hat Mono" pitchFamily="34" charset="-120"/>
              </a:rPr>
              <a:t>{{- end }}
</a:t>
            </a:r>
            <a:r>
              <a:rPr lang="en-US" sz="1600" dirty="0">
                <a:solidFill>
                  <a:srgbClr val="8FB98F"/>
                </a:solidFill>
                <a:latin typeface="Red Hat Mono" pitchFamily="34" charset="0"/>
                <a:ea typeface="Red Hat Mono" pitchFamily="34" charset="-122"/>
                <a:cs typeface="Red Hat Mono" pitchFamily="34" charset="-120"/>
              </a:rPr>
              <a:t># umbrella values.yaml
</a:t>
            </a:r>
            <a:r>
              <a:rPr lang="en-US" sz="1600" dirty="0">
                <a:solidFill>
                  <a:srgbClr val="E6E6E6"/>
                </a:solidFill>
                <a:latin typeface="Red Hat Mono" pitchFamily="34" charset="0"/>
                <a:ea typeface="Red Hat Mono" pitchFamily="34" charset="-122"/>
                <a:cs typeface="Red Hat Mono" pitchFamily="34" charset="-120"/>
              </a:rPr>
              <a:t>global:
</a:t>
            </a:r>
            <a:r>
              <a:rPr lang="en-US" sz="1600" dirty="0">
                <a:solidFill>
                  <a:srgbClr val="E6E6E6"/>
                </a:solidFill>
                <a:latin typeface="Red Hat Mono" pitchFamily="34" charset="0"/>
                <a:ea typeface="Red Hat Mono" pitchFamily="34" charset="-122"/>
                <a:cs typeface="Red Hat Mono" pitchFamily="34" charset="-120"/>
              </a:rPr>
              <a:t>  otlpEndpoint: http://otel-collector.observability.svc.cluster.local:4318
</a:t>
            </a:r>
            <a:endParaRPr lang="en-US" sz="1600" dirty="0"/>
          </a:p>
        </p:txBody>
      </p:sp>
      <p:sp>
        <p:nvSpPr>
          <p:cNvPr id="9" name="Text 6"/>
          <p:cNvSpPr/>
          <p:nvPr/>
        </p:nvSpPr>
        <p:spPr>
          <a:xfrm>
            <a:off x="566928" y="5112106"/>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endpoint on the umbrella; an empty endpoint disables the SDK so the chart runs without a collector.</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Telemetry path to LGTM</a:t>
            </a:r>
            <a:endParaRPr lang="en-US" sz="3000" dirty="0"/>
          </a:p>
        </p:txBody>
      </p:sp>
      <p:pic>
        <p:nvPicPr>
          <p:cNvPr id="6" name="Image 1" descr="./png/h201-telemetry-path.png">    </p:cNvPr>
          <p:cNvPicPr>
            <a:picLocks noChangeAspect="1"/>
          </p:cNvPicPr>
          <p:nvPr/>
        </p:nvPicPr>
        <p:blipFill>
          <a:blip r:embed="rId2"/>
          <a:srcRect l="0" r="0" t="0" b="0"/>
          <a:stretch/>
        </p:blipFill>
        <p:spPr>
          <a:xfrm>
            <a:off x="566928" y="1417320"/>
            <a:ext cx="11055096" cy="448056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services export OTLP to the collector; Tempo, Loki and Mimir feed Grafana.</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OpenShift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Run the same umbrella chart on OpenShift Local.</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OPENSHIFT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SCCs and arbitrary UIDs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restricted-v2</a:t>
            </a:r>
            <a:r>
              <a:rPr lang="en-US" sz="2000" dirty="0">
                <a:solidFill>
                  <a:srgbClr val="242424"/>
                </a:solidFill>
                <a:latin typeface="Red Hat Text" pitchFamily="34" charset="0"/>
                <a:ea typeface="Red Hat Text" pitchFamily="34" charset="-122"/>
                <a:cs typeface="Red Hat Text" pitchFamily="34" charset="-120"/>
              </a:rPr>
              <a:t> — the default Security Context Constraint assigns each pod a UID from the project's range and sets the group to 0.</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runAsUser fails</a:t>
            </a:r>
            <a:r>
              <a:rPr lang="en-US" sz="2000" dirty="0">
                <a:solidFill>
                  <a:srgbClr val="242424"/>
                </a:solidFill>
                <a:latin typeface="Red Hat Text" pitchFamily="34" charset="0"/>
                <a:ea typeface="Red Hat Text" pitchFamily="34" charset="-122"/>
                <a:cs typeface="Red Hat Text" pitchFamily="34" charset="-120"/>
              </a:rPr>
              <a:t> — a manifest that asks for a specific UID, such as 1001, is rejected at admission.</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pc-lib avoids it</a:t>
            </a:r>
            <a:r>
              <a:rPr lang="en-US" sz="2000" dirty="0">
                <a:solidFill>
                  <a:srgbClr val="242424"/>
                </a:solidFill>
                <a:latin typeface="Red Hat Text" pitchFamily="34" charset="0"/>
                <a:ea typeface="Red Hat Text" pitchFamily="34" charset="-122"/>
                <a:cs typeface="Red Hat Text" pitchFamily="34" charset="-120"/>
              </a:rPr>
              <a:t> — renders runAsNonRoot, no privilege escalation, dropped capabilities and RuntimeDefault seccomp, and never emits runAsUser or fsGroup.</a:t>
            </a:r>
            <a:endParaRPr lang="en-US" sz="2000" dirty="0"/>
          </a:p>
          <a:p>
            <a:pPr marL="304800" indent="-304800">
              <a:lnSpc>
                <a:spcPct val="112000"/>
              </a:lnSpc>
              <a:spcBef>
                <a:spcPts val="400"/>
              </a:spcBef>
              <a:spcAft>
                <a:spcPts val="1300"/>
              </a:spcAft>
              <a:buSzPct val="100000"/>
              <a:buChar char="●"/>
            </a:pPr>
            <a:r>
              <a:rPr lang="en-US" sz="2000" b="1" dirty="0">
                <a:solidFill>
                  <a:srgbClr val="151515"/>
                </a:solidFill>
                <a:latin typeface="Red Hat Text" pitchFamily="34" charset="0"/>
                <a:ea typeface="Red Hat Text" pitchFamily="34" charset="-122"/>
                <a:cs typeface="Red Hat Text" pitchFamily="34" charset="-120"/>
              </a:rPr>
              <a:t>Group-0 files</a:t>
            </a:r>
            <a:r>
              <a:rPr lang="en-US" sz="2000" dirty="0">
                <a:solidFill>
                  <a:srgbClr val="242424"/>
                </a:solidFill>
                <a:latin typeface="Red Hat Text" pitchFamily="34" charset="0"/>
                <a:ea typeface="Red Hat Text" pitchFamily="34" charset="-122"/>
                <a:cs typeface="Red Hat Text" pitchFamily="34" charset="-120"/>
              </a:rPr>
              <a:t> — the image makes its files group-0 readable, so the assigned UID, near 1000650000, still runs the container.</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OPENSHIFT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OpenShift overrides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and yaml · helm</a:t>
            </a:r>
            <a:endParaRPr lang="en-US" sz="1100" dirty="0"/>
          </a:p>
        </p:txBody>
      </p:sp>
      <p:sp>
        <p:nvSpPr>
          <p:cNvPr id="7" name="Shape 4"/>
          <p:cNvSpPr/>
          <p:nvPr/>
        </p:nvSpPr>
        <p:spPr>
          <a:xfrm>
            <a:off x="566928" y="1417320"/>
            <a:ext cx="11055096" cy="3428790"/>
          </a:xfrm>
          <a:prstGeom prst="rect">
            <a:avLst/>
          </a:prstGeom>
          <a:solidFill>
            <a:srgbClr val="151515"/>
          </a:solidFill>
          <a:ln w="12700">
            <a:solidFill>
              <a:srgbClr val="151515"/>
            </a:solidFill>
            <a:prstDash val="solid"/>
          </a:ln>
        </p:spPr>
      </p:sp>
      <p:sp>
        <p:nvSpPr>
          <p:cNvPr id="8" name="Text 5"/>
          <p:cNvSpPr/>
          <p:nvPr/>
        </p:nvSpPr>
        <p:spPr>
          <a:xfrm>
            <a:off x="749808" y="1508760"/>
            <a:ext cx="10689336" cy="3245910"/>
          </a:xfrm>
          <a:prstGeom prst="rect">
            <a:avLst/>
          </a:prstGeom>
          <a:noFill/>
          <a:ln/>
        </p:spPr>
        <p:txBody>
          <a:bodyPr wrap="square" rtlCol="0" anchor="t"/>
          <a:lstStyle/>
          <a:p>
            <a:pPr algn="l" indent="0" marL="0">
              <a:lnSpc>
                <a:spcPct val="110000"/>
              </a:lnSpc>
              <a:buNone/>
            </a:pPr>
            <a:r>
              <a:rPr lang="en-US" sz="1650" dirty="0">
                <a:solidFill>
                  <a:srgbClr val="8FB98F"/>
                </a:solidFill>
                <a:latin typeface="Red Hat Mono" pitchFamily="34" charset="0"/>
                <a:ea typeface="Red Hat Mono" pitchFamily="34" charset="-122"/>
                <a:cs typeface="Red Hat Mono" pitchFamily="34" charset="-120"/>
              </a:rPr>
              <a:t># Same chart as minikube, with the OpenShift overrides
</a:t>
            </a:r>
            <a:r>
              <a:rPr lang="en-US" sz="1650" dirty="0">
                <a:solidFill>
                  <a:srgbClr val="E6E6E6"/>
                </a:solidFill>
                <a:latin typeface="Red Hat Mono" pitchFamily="34" charset="0"/>
                <a:ea typeface="Red Hat Mono" pitchFamily="34" charset="-122"/>
                <a:cs typeface="Red Hat Mono" pitchFamily="34" charset="-120"/>
              </a:rPr>
              <a:t>[crc-host]$ helm upgrade --install platform charts/shipping-platform -n hfd-ocp \
</a:t>
            </a:r>
            <a:r>
              <a:rPr lang="en-US" sz="1650" dirty="0">
                <a:solidFill>
                  <a:srgbClr val="E6E6E6"/>
                </a:solidFill>
                <a:latin typeface="Red Hat Mono" pitchFamily="34" charset="0"/>
                <a:ea typeface="Red Hat Mono" pitchFamily="34" charset="-122"/>
                <a:cs typeface="Red Hat Mono" pitchFamily="34" charset="-120"/>
              </a:rPr>
              <a:t>          -f values-openshift.yaml -f values-openshift-minimal.yaml \
</a:t>
            </a:r>
            <a:r>
              <a:rPr lang="en-US" sz="1650" dirty="0">
                <a:solidFill>
                  <a:srgbClr val="E6E6E6"/>
                </a:solidFill>
                <a:latin typeface="Red Hat Mono" pitchFamily="34" charset="0"/>
                <a:ea typeface="Red Hat Mono" pitchFamily="34" charset="-122"/>
                <a:cs typeface="Red Hat Mono" pitchFamily="34" charset="-120"/>
              </a:rPr>
              <a:t>          --wait --rollback-on-failure
</a:t>
            </a:r>
            <a:r>
              <a:rPr lang="en-US" sz="1650" dirty="0">
                <a:solidFill>
                  <a:srgbClr val="8FB98F"/>
                </a:solidFill>
                <a:latin typeface="Red Hat Mono" pitchFamily="34" charset="0"/>
                <a:ea typeface="Red Hat Mono" pitchFamily="34" charset="-122"/>
                <a:cs typeface="Red Hat Mono" pitchFamily="34" charset="-120"/>
              </a:rPr>
              <a:t># values-openshift.yaml
</a:t>
            </a:r>
            <a:r>
              <a:rPr lang="en-US" sz="1650" dirty="0">
                <a:solidFill>
                  <a:srgbClr val="E6E6E6"/>
                </a:solidFill>
                <a:latin typeface="Red Hat Mono" pitchFamily="34" charset="0"/>
                <a:ea typeface="Red Hat Mono" pitchFamily="34" charset="-122"/>
                <a:cs typeface="Red Hat Mono" pitchFamily="34" charset="-120"/>
              </a:rPr>
              <a:t>global:
</a:t>
            </a:r>
            <a:r>
              <a:rPr lang="en-US" sz="1650" dirty="0">
                <a:solidFill>
                  <a:srgbClr val="E6E6E6"/>
                </a:solidFill>
                <a:latin typeface="Red Hat Mono" pitchFamily="34" charset="0"/>
                <a:ea typeface="Red Hat Mono" pitchFamily="34" charset="-122"/>
                <a:cs typeface="Red Hat Mono" pitchFamily="34" charset="-120"/>
              </a:rPr>
              <a:t>  environment: openshift
</a:t>
            </a:r>
            <a:r>
              <a:rPr lang="en-US" sz="1650" dirty="0">
                <a:solidFill>
                  <a:srgbClr val="E6E6E6"/>
                </a:solidFill>
                <a:latin typeface="Red Hat Mono" pitchFamily="34" charset="0"/>
                <a:ea typeface="Red Hat Mono" pitchFamily="34" charset="-122"/>
                <a:cs typeface="Red Hat Mono" pitchFamily="34" charset="-120"/>
              </a:rPr>
              <a:t>  imageRegistry: image-registry.openshift-image-registry.svc:5000/hfd-ocp
</a:t>
            </a:r>
            <a:r>
              <a:rPr lang="en-US" sz="1650" dirty="0">
                <a:solidFill>
                  <a:srgbClr val="E6E6E6"/>
                </a:solidFill>
                <a:latin typeface="Red Hat Mono" pitchFamily="34" charset="0"/>
                <a:ea typeface="Red Hat Mono" pitchFamily="34" charset="-122"/>
                <a:cs typeface="Red Hat Mono" pitchFamily="34" charset="-120"/>
              </a:rPr>
              <a:t>shipping:
</a:t>
            </a:r>
            <a:r>
              <a:rPr lang="en-US" sz="1650" dirty="0">
                <a:solidFill>
                  <a:srgbClr val="E6E6E6"/>
                </a:solidFill>
                <a:latin typeface="Red Hat Mono" pitchFamily="34" charset="0"/>
                <a:ea typeface="Red Hat Mono" pitchFamily="34" charset="-122"/>
                <a:cs typeface="Red Hat Mono" pitchFamily="34" charset="-120"/>
              </a:rPr>
              <a:t>  service:
</a:t>
            </a:r>
            <a:r>
              <a:rPr lang="en-US" sz="1650" dirty="0">
                <a:solidFill>
                  <a:srgbClr val="E6E6E6"/>
                </a:solidFill>
                <a:latin typeface="Red Hat Mono" pitchFamily="34" charset="0"/>
                <a:ea typeface="Red Hat Mono" pitchFamily="34" charset="-122"/>
                <a:cs typeface="Red Hat Mono" pitchFamily="34" charset="-120"/>
              </a:rPr>
              <a:t>    type: ClusterIP
</a:t>
            </a:r>
            <a:endParaRPr lang="en-US" sz="1650" dirty="0"/>
          </a:p>
        </p:txBody>
      </p:sp>
      <p:sp>
        <p:nvSpPr>
          <p:cNvPr id="9" name="Text 6"/>
          <p:cNvSpPr/>
          <p:nvPr/>
        </p:nvSpPr>
        <p:spPr>
          <a:xfrm>
            <a:off x="566928" y="493755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From examples/27-openshift-crc. Routes replace NodePorts; images come from the internal registry.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OPENSHIFT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Console chart repository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console</a:t>
            </a:r>
            <a:endParaRPr lang="en-US" sz="1100" dirty="0"/>
          </a:p>
        </p:txBody>
      </p:sp>
      <p:sp>
        <p:nvSpPr>
          <p:cNvPr id="7" name="Shape 4"/>
          <p:cNvSpPr/>
          <p:nvPr/>
        </p:nvSpPr>
        <p:spPr>
          <a:xfrm>
            <a:off x="566928" y="1417320"/>
            <a:ext cx="11055096" cy="3329045"/>
          </a:xfrm>
          <a:prstGeom prst="rect">
            <a:avLst/>
          </a:prstGeom>
          <a:solidFill>
            <a:srgbClr val="151515"/>
          </a:solidFill>
          <a:ln w="12700">
            <a:solidFill>
              <a:srgbClr val="151515"/>
            </a:solidFill>
            <a:prstDash val="solid"/>
          </a:ln>
        </p:spPr>
      </p:sp>
      <p:sp>
        <p:nvSpPr>
          <p:cNvPr id="8" name="Text 5"/>
          <p:cNvSpPr/>
          <p:nvPr/>
        </p:nvSpPr>
        <p:spPr>
          <a:xfrm>
            <a:off x="749808" y="1508760"/>
            <a:ext cx="10689336" cy="3146165"/>
          </a:xfrm>
          <a:prstGeom prst="rect">
            <a:avLst/>
          </a:prstGeom>
          <a:noFill/>
          <a:ln/>
        </p:spPr>
        <p:txBody>
          <a:bodyPr wrap="square" rtlCol="0" anchor="t"/>
          <a:lstStyle/>
          <a:p>
            <a:pPr algn="l" indent="0" marL="0">
              <a:lnSpc>
                <a:spcPct val="110000"/>
              </a:lnSpc>
              <a:buNone/>
            </a:pPr>
            <a:r>
              <a:rPr lang="en-US" sz="1950" dirty="0">
                <a:solidFill>
                  <a:srgbClr val="8FB98F"/>
                </a:solidFill>
                <a:latin typeface="Red Hat Mono" pitchFamily="34" charset="0"/>
                <a:ea typeface="Red Hat Mono" pitchFamily="34" charset="-122"/>
                <a:cs typeface="Red Hat Mono" pitchFamily="34" charset="-120"/>
              </a:rPr>
              <a:t># Developer console: expose a chart repository to one project
</a:t>
            </a:r>
            <a:r>
              <a:rPr lang="en-US" sz="1950" dirty="0">
                <a:solidFill>
                  <a:srgbClr val="E6E6E6"/>
                </a:solidFill>
                <a:latin typeface="Red Hat Mono" pitchFamily="34" charset="0"/>
                <a:ea typeface="Red Hat Mono" pitchFamily="34" charset="-122"/>
                <a:cs typeface="Red Hat Mono" pitchFamily="34" charset="-120"/>
              </a:rPr>
              <a:t>apiVersion: helm.openshift.io/v1beta1
</a:t>
            </a:r>
            <a:r>
              <a:rPr lang="en-US" sz="1950" dirty="0">
                <a:solidFill>
                  <a:srgbClr val="E6E6E6"/>
                </a:solidFill>
                <a:latin typeface="Red Hat Mono" pitchFamily="34" charset="0"/>
                <a:ea typeface="Red Hat Mono" pitchFamily="34" charset="-122"/>
                <a:cs typeface="Red Hat Mono" pitchFamily="34" charset="-120"/>
              </a:rPr>
              <a:t>kind: ProjectHelmChartRepository
</a:t>
            </a:r>
            <a:r>
              <a:rPr lang="en-US" sz="1950" dirty="0">
                <a:solidFill>
                  <a:srgbClr val="E6E6E6"/>
                </a:solidFill>
                <a:latin typeface="Red Hat Mono" pitchFamily="34" charset="0"/>
                <a:ea typeface="Red Hat Mono" pitchFamily="34" charset="-122"/>
                <a:cs typeface="Red Hat Mono" pitchFamily="34" charset="-120"/>
              </a:rPr>
              <a:t>metadata:
</a:t>
            </a:r>
            <a:r>
              <a:rPr lang="en-US" sz="1950" dirty="0">
                <a:solidFill>
                  <a:srgbClr val="E6E6E6"/>
                </a:solidFill>
                <a:latin typeface="Red Hat Mono" pitchFamily="34" charset="0"/>
                <a:ea typeface="Red Hat Mono" pitchFamily="34" charset="-122"/>
                <a:cs typeface="Red Hat Mono" pitchFamily="34" charset="-120"/>
              </a:rPr>
              <a:t>  name: hfd-charts
</a:t>
            </a:r>
            <a:r>
              <a:rPr lang="en-US" sz="1950" dirty="0">
                <a:solidFill>
                  <a:srgbClr val="E6E6E6"/>
                </a:solidFill>
                <a:latin typeface="Red Hat Mono" pitchFamily="34" charset="0"/>
                <a:ea typeface="Red Hat Mono" pitchFamily="34" charset="-122"/>
                <a:cs typeface="Red Hat Mono" pitchFamily="34" charset="-120"/>
              </a:rPr>
              <a:t>  namespace: hfd-ocp
</a:t>
            </a:r>
            <a:r>
              <a:rPr lang="en-US" sz="1950" dirty="0">
                <a:solidFill>
                  <a:srgbClr val="E6E6E6"/>
                </a:solidFill>
                <a:latin typeface="Red Hat Mono" pitchFamily="34" charset="0"/>
                <a:ea typeface="Red Hat Mono" pitchFamily="34" charset="-122"/>
                <a:cs typeface="Red Hat Mono" pitchFamily="34" charset="-120"/>
              </a:rPr>
              <a:t>spec:
</a:t>
            </a:r>
            <a:r>
              <a:rPr lang="en-US" sz="1950" dirty="0">
                <a:solidFill>
                  <a:srgbClr val="E6E6E6"/>
                </a:solidFill>
                <a:latin typeface="Red Hat Mono" pitchFamily="34" charset="0"/>
                <a:ea typeface="Red Hat Mono" pitchFamily="34" charset="-122"/>
                <a:cs typeface="Red Hat Mono" pitchFamily="34" charset="-120"/>
              </a:rPr>
              <a:t>  connectionConfig:
</a:t>
            </a:r>
            <a:r>
              <a:rPr lang="en-US" sz="1950" dirty="0">
                <a:solidFill>
                  <a:srgbClr val="E6E6E6"/>
                </a:solidFill>
                <a:latin typeface="Red Hat Mono" pitchFamily="34" charset="0"/>
                <a:ea typeface="Red Hat Mono" pitchFamily="34" charset="-122"/>
                <a:cs typeface="Red Hat Mono" pitchFamily="34" charset="-120"/>
              </a:rPr>
              <a:t>    url: https://patterncatalyst.github.io/helm-for-developers/charts
</a:t>
            </a:r>
            <a:endParaRPr lang="en-US" sz="1950" dirty="0"/>
          </a:p>
        </p:txBody>
      </p:sp>
      <p:sp>
        <p:nvSpPr>
          <p:cNvPr id="9" name="Text 6"/>
          <p:cNvSpPr/>
          <p:nvPr/>
        </p:nvSpPr>
        <p:spPr>
          <a:xfrm>
            <a:off x="566928" y="4837805"/>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console installs charts from a repository registered per project; the URL is this site's published chart repository, a classic index.yaml plus packaged archives.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201 · SUMMARY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Takeaways</a:t>
            </a:r>
            <a:endParaRPr lang="en-US" sz="3000" dirty="0"/>
          </a:p>
        </p:txBody>
      </p:sp>
      <p:sp>
        <p:nvSpPr>
          <p:cNvPr id="6" name="Text 3"/>
          <p:cNvSpPr/>
          <p:nvPr/>
        </p:nvSpPr>
        <p:spPr>
          <a:xfrm>
            <a:off x="566928" y="1783080"/>
            <a:ext cx="11055096" cy="4297680"/>
          </a:xfrm>
          <a:prstGeom prst="rect">
            <a:avLst/>
          </a:prstGeom>
          <a:noFill/>
          <a:ln/>
        </p:spPr>
        <p:txBody>
          <a:bodyPr wrap="square" lIns="0" tIns="0" rIns="0" bIns="0" rtlCol="0" anchor="t"/>
          <a:lstStyle/>
          <a:p>
            <a:pPr marL="304800" indent="-304800">
              <a:lnSpc>
                <a:spcPct val="112000"/>
              </a:lnSpc>
              <a:spcBef>
                <a:spcPts val="400"/>
              </a:spcBef>
              <a:spcAft>
                <a:spcPts val="1300"/>
              </a:spcAft>
              <a:buSzPct val="100000"/>
              <a:buChar char="●"/>
            </a:pPr>
            <a:r>
              <a:rPr lang="en-US" sz="1800" b="1" dirty="0">
                <a:solidFill>
                  <a:srgbClr val="151515"/>
                </a:solidFill>
                <a:latin typeface="Red Hat Text" pitchFamily="34" charset="0"/>
                <a:ea typeface="Red Hat Text" pitchFamily="34" charset="-122"/>
                <a:cs typeface="Red Hat Text" pitchFamily="34" charset="-120"/>
              </a:rPr>
              <a:t>Test in layers</a:t>
            </a:r>
            <a:r>
              <a:rPr lang="en-US" sz="1800" dirty="0">
                <a:solidFill>
                  <a:srgbClr val="242424"/>
                </a:solidFill>
                <a:latin typeface="Red Hat Text" pitchFamily="34" charset="0"/>
                <a:ea typeface="Red Hat Text" pitchFamily="34" charset="-122"/>
                <a:cs typeface="Red Hat Text" pitchFamily="34" charset="-120"/>
              </a:rPr>
              <a:t> — lint and unit tests on every push, kubeconform and server dry-run next, ct install on a real cluster last.</a:t>
            </a:r>
            <a:endParaRPr lang="en-US" sz="1800" dirty="0"/>
          </a:p>
          <a:p>
            <a:pPr marL="304800" indent="-304800">
              <a:lnSpc>
                <a:spcPct val="112000"/>
              </a:lnSpc>
              <a:spcBef>
                <a:spcPts val="400"/>
              </a:spcBef>
              <a:spcAft>
                <a:spcPts val="1300"/>
              </a:spcAft>
              <a:buSzPct val="100000"/>
              <a:buChar char="●"/>
            </a:pPr>
            <a:r>
              <a:rPr lang="en-US" sz="1800" b="1" dirty="0">
                <a:solidFill>
                  <a:srgbClr val="151515"/>
                </a:solidFill>
                <a:latin typeface="Red Hat Text" pitchFamily="34" charset="0"/>
                <a:ea typeface="Red Hat Text" pitchFamily="34" charset="-122"/>
                <a:cs typeface="Red Hat Text" pitchFamily="34" charset="-120"/>
              </a:rPr>
              <a:t>Compose with intent</a:t>
            </a:r>
            <a:r>
              <a:rPr lang="en-US" sz="1800" dirty="0">
                <a:solidFill>
                  <a:srgbClr val="242424"/>
                </a:solidFill>
                <a:latin typeface="Red Hat Text" pitchFamily="34" charset="0"/>
                <a:ea typeface="Red Hat Text" pitchFamily="34" charset="-122"/>
                <a:cs typeface="Red Hat Text" pitchFamily="34" charset="-120"/>
              </a:rPr>
              <a:t> — an umbrella for the platform, a library chart for shared templates, a starter for the golden path.</a:t>
            </a:r>
            <a:endParaRPr lang="en-US" sz="1800" dirty="0"/>
          </a:p>
          <a:p>
            <a:pPr marL="304800" indent="-304800">
              <a:lnSpc>
                <a:spcPct val="112000"/>
              </a:lnSpc>
              <a:spcBef>
                <a:spcPts val="400"/>
              </a:spcBef>
              <a:spcAft>
                <a:spcPts val="1300"/>
              </a:spcAft>
              <a:buSzPct val="100000"/>
              <a:buChar char="●"/>
            </a:pPr>
            <a:r>
              <a:rPr lang="en-US" sz="1800" b="1" dirty="0">
                <a:solidFill>
                  <a:srgbClr val="151515"/>
                </a:solidFill>
                <a:latin typeface="Red Hat Text" pitchFamily="34" charset="0"/>
                <a:ea typeface="Red Hat Text" pitchFamily="34" charset="-122"/>
                <a:cs typeface="Red Hat Text" pitchFamily="34" charset="-120"/>
              </a:rPr>
              <a:t>Ship by digest</a:t>
            </a:r>
            <a:r>
              <a:rPr lang="en-US" sz="1800" dirty="0">
                <a:solidFill>
                  <a:srgbClr val="242424"/>
                </a:solidFill>
                <a:latin typeface="Red Hat Text" pitchFamily="34" charset="0"/>
                <a:ea typeface="Red Hat Text" pitchFamily="34" charset="-122"/>
                <a:cs typeface="Red Hat Text" pitchFamily="34" charset="-120"/>
              </a:rPr>
              <a:t> — OCI registries, SemVer with appVersion kept separate, .prov or cosign signatures.</a:t>
            </a:r>
            <a:endParaRPr lang="en-US" sz="1800" dirty="0"/>
          </a:p>
          <a:p>
            <a:pPr marL="304800" indent="-304800">
              <a:lnSpc>
                <a:spcPct val="112000"/>
              </a:lnSpc>
              <a:spcBef>
                <a:spcPts val="400"/>
              </a:spcBef>
              <a:spcAft>
                <a:spcPts val="1300"/>
              </a:spcAft>
              <a:buSzPct val="100000"/>
              <a:buChar char="●"/>
            </a:pPr>
            <a:r>
              <a:rPr lang="en-US" sz="1800" b="1" dirty="0">
                <a:solidFill>
                  <a:srgbClr val="151515"/>
                </a:solidFill>
                <a:latin typeface="Red Hat Text" pitchFamily="34" charset="0"/>
                <a:ea typeface="Red Hat Text" pitchFamily="34" charset="-122"/>
                <a:cs typeface="Red Hat Text" pitchFamily="34" charset="-120"/>
              </a:rPr>
              <a:t>Extend through plugins</a:t>
            </a:r>
            <a:r>
              <a:rPr lang="en-US" sz="1800" dirty="0">
                <a:solidFill>
                  <a:srgbClr val="242424"/>
                </a:solidFill>
                <a:latin typeface="Red Hat Text" pitchFamily="34" charset="0"/>
                <a:ea typeface="Red Hat Text" pitchFamily="34" charset="-122"/>
                <a:cs typeface="Red Hat Text" pitchFamily="34" charset="-120"/>
              </a:rPr>
              <a:t> — typed plugins and Wasm in Helm 4; post-renderers are plugins only.</a:t>
            </a:r>
            <a:endParaRPr lang="en-US" sz="1800" dirty="0"/>
          </a:p>
          <a:p>
            <a:pPr marL="304800" indent="-304800">
              <a:lnSpc>
                <a:spcPct val="112000"/>
              </a:lnSpc>
              <a:spcBef>
                <a:spcPts val="400"/>
              </a:spcBef>
              <a:spcAft>
                <a:spcPts val="1300"/>
              </a:spcAft>
              <a:buSzPct val="100000"/>
              <a:buChar char="●"/>
            </a:pPr>
            <a:r>
              <a:rPr lang="en-US" sz="1800" b="1" dirty="0">
                <a:solidFill>
                  <a:srgbClr val="151515"/>
                </a:solidFill>
                <a:latin typeface="Red Hat Text" pitchFamily="34" charset="0"/>
                <a:ea typeface="Red Hat Text" pitchFamily="34" charset="-122"/>
                <a:cs typeface="Red Hat Text" pitchFamily="34" charset="-120"/>
              </a:rPr>
              <a:t>Choose who runs the release</a:t>
            </a:r>
            <a:r>
              <a:rPr lang="en-US" sz="1800" dirty="0">
                <a:solidFill>
                  <a:srgbClr val="242424"/>
                </a:solidFill>
                <a:latin typeface="Red Hat Text" pitchFamily="34" charset="0"/>
                <a:ea typeface="Red Hat Text" pitchFamily="34" charset="-122"/>
                <a:cs typeface="Red Hat Text" pitchFamily="34" charset="-120"/>
              </a:rPr>
              <a:t> — helm directly, Helmfile, or Argo CD, each with different hook and wait semantics.</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Cheat sheet</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3017520"/>
                <a:gridCol w="2103120"/>
                <a:gridCol w="5934456"/>
              </a:tblGrid>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 lint --strict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Static check</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Schema, YAML and deprecated-API failures without a cluster.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 unittest CHART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Unit tests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Render-only tests; </a:t>
                      </a:r>
                      <a:endParaRPr lang="en-US" sz="1400" dirty="0">
                        <a:latin typeface="Red Hat Text" charset="0"/>
                        <a:ea typeface="Red Hat Text" charset="0"/>
                        <a:cs typeface="Red Hat Text" charset="0"/>
                      </a:endParaRPr>
                    </a:p>
                    <a:p>
                      <a:pPr algn="l" indent="0" marL="0">
                        <a:buNone/>
                      </a:pPr>
                      <a:r>
                        <a:rPr lang="en-US" sz="1300" dirty="0">
                          <a:solidFill>
                            <a:srgbClr val="151515"/>
                          </a:solidFill>
                          <a:latin typeface="Red Hat Mono" pitchFamily="34" charset="0"/>
                          <a:ea typeface="Red Hat Mono" pitchFamily="34" charset="-122"/>
                          <a:cs typeface="Red Hat Mono" pitchFamily="34" charset="-120"/>
                        </a:rPr>
                        <a:t>-u</a:t>
                      </a:r>
                      <a:r>
                        <a:rPr lang="en-US" sz="1400" dirty="0">
                          <a:solidFill>
                            <a:srgbClr val="242424"/>
                          </a:solidFill>
                          <a:latin typeface="Red Hat Text" pitchFamily="34" charset="0"/>
                          <a:ea typeface="Red Hat Text" pitchFamily="34" charset="-122"/>
                          <a:cs typeface="Red Hat Text" pitchFamily="34" charset="-120"/>
                        </a:rPr>
                        <a:t> refreshes snapshots.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 diff upgrade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Change preview</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Compare a pending upgrade with the live release.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 package --sign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Package and sign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Writes the .tgz and a .prov file; helm verify checks it.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 push / pull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OCI transport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oci:// references; add </a:t>
                      </a:r>
                      <a:endParaRPr lang="en-US" sz="1400" dirty="0">
                        <a:latin typeface="Red Hat Text" charset="0"/>
                        <a:ea typeface="Red Hat Text" charset="0"/>
                        <a:cs typeface="Red Hat Text" charset="0"/>
                      </a:endParaRPr>
                    </a:p>
                    <a:p>
                      <a:pPr algn="l" indent="0" marL="0">
                        <a:buNone/>
                      </a:pPr>
                      <a:r>
                        <a:rPr lang="en-US" sz="1300" dirty="0">
                          <a:solidFill>
                            <a:srgbClr val="151515"/>
                          </a:solidFill>
                          <a:latin typeface="Red Hat Mono" pitchFamily="34" charset="0"/>
                          <a:ea typeface="Red Hat Mono" pitchFamily="34" charset="-122"/>
                          <a:cs typeface="Red Hat Mono" pitchFamily="34" charset="-120"/>
                        </a:rPr>
                        <a:t>--plain-http</a:t>
                      </a:r>
                      <a:r>
                        <a:rPr lang="en-US" sz="1400" dirty="0">
                          <a:solidFill>
                            <a:srgbClr val="242424"/>
                          </a:solidFill>
                          <a:latin typeface="Red Hat Text" pitchFamily="34" charset="0"/>
                          <a:ea typeface="Red Hat Text" pitchFamily="34" charset="-122"/>
                          <a:cs typeface="Red Hat Text" pitchFamily="34" charset="-120"/>
                        </a:rPr>
                        <a:t> for a local HTTP registry.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helm plugin install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Plugins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Verifies provenance by default; helm plugin list shows TYPE.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--post-renderer NAME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Post-render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Names a postrenderer/v1 plugin; arguments via </a:t>
                      </a:r>
                      <a:endParaRPr lang="en-US" sz="1400" dirty="0">
                        <a:latin typeface="Red Hat Text" charset="0"/>
                        <a:ea typeface="Red Hat Text" charset="0"/>
                        <a:cs typeface="Red Hat Text" charset="0"/>
                      </a:endParaRPr>
                    </a:p>
                    <a:p>
                      <a:pPr algn="l" indent="0" marL="0">
                        <a:buNone/>
                      </a:pPr>
                      <a:r>
                        <a:rPr lang="en-US" sz="1300" dirty="0">
                          <a:solidFill>
                            <a:srgbClr val="151515"/>
                          </a:solidFill>
                          <a:latin typeface="Red Hat Mono" pitchFamily="34" charset="0"/>
                          <a:ea typeface="Red Hat Mono" pitchFamily="34" charset="-122"/>
                          <a:cs typeface="Red Hat Mono" pitchFamily="34" charset="-120"/>
                        </a:rPr>
                        <a:t>--post-renderer-args</a:t>
                      </a:r>
                      <a:r>
                        <a:rPr lang="en-US" sz="1400" dirty="0">
                          <a:solidFill>
                            <a:srgbClr val="242424"/>
                          </a:solidFill>
                          <a:latin typeface="Red Hat Text" pitchFamily="34" charset="0"/>
                          <a:ea typeface="Red Hat Text" pitchFamily="34" charset="-122"/>
                          <a:cs typeface="Red Hat Text" pitchFamily="34" charset="-120"/>
                        </a:rPr>
                        <a: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--api-versions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Offline capabilities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dirty="0">
                          <a:solidFill>
                            <a:srgbClr val="242424"/>
                          </a:solidFill>
                          <a:latin typeface="Red Hat Text" pitchFamily="34" charset="0"/>
                          <a:ea typeface="Red Hat Text" pitchFamily="34" charset="-122"/>
                          <a:cs typeface="Red Hat Text" pitchFamily="34" charset="-120"/>
                        </a:rPr>
                        <a:t>Supplies APIs to helm template, for example route.openshift.io/v1.</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Reading list</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400" b="1" dirty="0">
                <a:solidFill>
                  <a:srgbClr val="242424"/>
                </a:solidFill>
                <a:latin typeface="Red Hat Text" pitchFamily="34" charset="0"/>
                <a:ea typeface="Red Hat Text" pitchFamily="34" charset="-122"/>
                <a:cs typeface="Red Hat Text" pitchFamily="34" charset="-120"/>
              </a:rPr>
              <a:t>Books</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Butcher, Farina, Dolitsky, Learning Helm (O'Reilly, 2021)</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Block, Dewey, Managing Kubernetes Resources Using Helm (Packt, 2022)</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Ibryam, Huss, Kubernetes Patterns (O'Reilly, 2023)</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Burns et al., Kubernetes: Up and Running (O'Reilly, 2022)</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Muschko, Certified Kubernetes Application Developer (CKAD) Study Guide (O'Reilly, 2024)</a:t>
            </a:r>
            <a:endParaRPr lang="en-US" sz="14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Denniss, Kubernetes for Developers (Manning, 2024)</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Yuen et al., GitOps and Kubernetes (Manning, 2021)</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Salatino, Platform Engineering on Kubernetes (Manning, 2024)</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Oliver et al., Effective Platform Engineering (Manning, 2025)</a:t>
            </a:r>
            <a:endParaRPr lang="en-US" sz="1400" dirty="0"/>
          </a:p>
          <a:p>
            <a:pPr algn="l" indent="0" marL="0">
              <a:lnSpc>
                <a:spcPct val="120000"/>
              </a:lnSpc>
              <a:spcAft>
                <a:spcPts val="800"/>
              </a:spcAft>
              <a:buNone/>
            </a:pPr>
            <a:r>
              <a:rPr lang="en-US" sz="1400" b="1" dirty="0">
                <a:solidFill>
                  <a:srgbClr val="242424"/>
                </a:solidFill>
                <a:latin typeface="Red Hat Text" pitchFamily="34" charset="0"/>
                <a:ea typeface="Red Hat Text" pitchFamily="34" charset="-122"/>
                <a:cs typeface="Red Hat Text" pitchFamily="34" charset="-120"/>
              </a:rPr>
              <a:t>Official sources</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helm.sh/docs, Helm 4 overview, changelog and release notes</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Helm Improvement Proposals, including HIP-0026 for plugins</a:t>
            </a:r>
            <a:endParaRPr lang="en-US" sz="1400" dirty="0"/>
          </a:p>
          <a:p>
            <a:pPr algn="l" marL="342900" indent="-342900">
              <a:lnSpc>
                <a:spcPct val="120000"/>
              </a:lnSpc>
              <a:spcAft>
                <a:spcPts val="800"/>
              </a:spcAft>
              <a:buSzPct val="100000"/>
              <a:buChar char="●"/>
            </a:pPr>
            <a:r>
              <a:rPr lang="en-US" sz="1400" dirty="0">
                <a:solidFill>
                  <a:srgbClr val="242424"/>
                </a:solidFill>
                <a:latin typeface="Red Hat Text" pitchFamily="34" charset="0"/>
                <a:ea typeface="Red Hat Text" pitchFamily="34" charset="-122"/>
                <a:cs typeface="Red Hat Text" pitchFamily="34" charset="-120"/>
              </a:rPr>
              <a:t>OpenShift Local and OpenShift documentation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Helm for Developers 201</dc:title>
  <dc:subject>PptxGenJS Presentation</dc:subject>
  <dc:creator>Robert Sedor</dc:creator>
  <cp:lastModifiedBy>Robert Sedor</cp:lastModifiedBy>
  <cp:revision>1</cp:revision>
  <dcterms:created xsi:type="dcterms:W3CDTF">2026-10-08T20:49:55Z</dcterms:created>
  <dcterms:modified xsi:type="dcterms:W3CDTF">2026-10-08T20:49:55Z</dcterms:modified>
</cp:coreProperties>
</file>