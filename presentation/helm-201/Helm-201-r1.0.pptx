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Strimzi from OperatorHub, and the minimal profile, both passing verify-crc.sh. The Developer console Helm view and Streams for Apache Kafka were not run.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and listed by `oc get`. The console view was not opened, and the URL tried returned 404 because no index was published there, so the listing could not populate. The URL on the slide is a placeholder for your own repository.
What to show: `oc get projecthelmchartrepository -n hfd-ocp` on a CRC host; the console view needs a published index.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r>
              <a:rPr lang="en-US" sz="20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 chart defaults, then </a:t>
            </a:r>
            <a:r>
              <a:rPr lang="en-US" sz="1900" dirty="0">
                <a:solidFill>
                  <a:srgbClr val="151515"/>
                </a:solidFill>
                <a:latin typeface="Red Hat Mono" pitchFamily="34" charset="0"/>
                <a:ea typeface="Red Hat Mono" pitchFamily="34" charset="-122"/>
                <a:cs typeface="Red Hat Mono" pitchFamily="34" charset="-120"/>
              </a:rPr>
              <a:t>-f</a:t>
            </a:r>
            <a:r>
              <a:rPr lang="en-US" sz="2000" dirty="0">
                <a:solidFill>
                  <a:srgbClr val="242424"/>
                </a:solidFill>
                <a:latin typeface="Red Hat Text" pitchFamily="34" charset="0"/>
                <a:ea typeface="Red Hat Text" pitchFamily="34" charset="-122"/>
                <a:cs typeface="Red Hat Text" pitchFamily="34" charset="-120"/>
              </a:rPr>
              <a:t> files in order, then </a:t>
            </a:r>
            <a:r>
              <a:rPr lang="en-US" sz="1900" dirty="0">
                <a:solidFill>
                  <a:srgbClr val="151515"/>
                </a:solidFill>
                <a:latin typeface="Red Hat Mono" pitchFamily="34" charset="0"/>
                <a:ea typeface="Red Hat Mono" pitchFamily="34" charset="-122"/>
                <a:cs typeface="Red Hat Mono" pitchFamily="34" charset="-120"/>
              </a:rPr>
              <a:t>--set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--set-json</a:t>
            </a:r>
            <a:r>
              <a:rPr lang="en-US" sz="2000" dirty="0">
                <a:solidFill>
                  <a:srgbClr val="242424"/>
                </a:solidFill>
                <a:latin typeface="Red Hat Text" pitchFamily="34" charset="0"/>
                <a:ea typeface="Red Hat Text" pitchFamily="34" charset="-122"/>
                <a:cs typeface="Red Hat Text" pitchFamily="34" charset="-120"/>
              </a:rPr>
              <a:t> and </a:t>
            </a:r>
            <a:r>
              <a:rPr lang="en-US" sz="1900" dirty="0">
                <a:solidFill>
                  <a:srgbClr val="151515"/>
                </a:solidFill>
                <a:latin typeface="Red Hat Mono" pitchFamily="34" charset="0"/>
                <a:ea typeface="Red Hat Mono" pitchFamily="34" charset="-122"/>
                <a:cs typeface="Red Hat Mono" pitchFamily="34" charset="-120"/>
              </a:rPr>
              <a:t>--set-file</a:t>
            </a:r>
            <a:r>
              <a:rPr lang="en-US" sz="2000" dirty="0">
                <a:solidFill>
                  <a:srgbClr val="242424"/>
                </a:solidFill>
                <a:latin typeface="Red Hat Text" pitchFamily="34" charset="0"/>
                <a:ea typeface="Red Hat Text" pitchFamily="34" charset="-122"/>
                <a:cs typeface="Red Hat Text" pitchFamily="34" charset="-120"/>
              </a:rPr>
              <a:t>; a values.schema.json rejects bad input before rendering.</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r>
              <a:rPr lang="en-US" sz="20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r>
              <a:rPr lang="en-US" sz="2000" dirty="0">
                <a:solidFill>
                  <a:srgbClr val="242424"/>
                </a:solidFill>
                <a:latin typeface="Red Hat Text" pitchFamily="34" charset="0"/>
                <a:ea typeface="Red Hat Text" pitchFamily="34" charset="-122"/>
                <a:cs typeface="Red Hat Text" pitchFamily="34" charset="-120"/>
              </a:rPr>
              <a:t> — </a:t>
            </a:r>
            <a:r>
              <a:rPr lang="en-US" sz="1900" dirty="0">
                <a:solidFill>
                  <a:srgbClr val="151515"/>
                </a:solidFill>
                <a:latin typeface="Red Hat Mono" pitchFamily="34" charset="0"/>
                <a:ea typeface="Red Hat Mono" pitchFamily="34" charset="-122"/>
                <a:cs typeface="Red Hat Mono" pitchFamily="34" charset="-120"/>
              </a:rPr>
              <a:t>--wait</a:t>
            </a:r>
            <a:r>
              <a:rPr lang="en-US" sz="2000" dirty="0">
                <a:solidFill>
                  <a:srgbClr val="242424"/>
                </a:solidFill>
                <a:latin typeface="Red Hat Text" pitchFamily="34" charset="0"/>
                <a:ea typeface="Red Hat Text" pitchFamily="34" charset="-122"/>
                <a:cs typeface="Red Hat Text" pitchFamily="34" charset="-120"/>
              </a:rPr>
              <a:t> with the kstatus watcher, </a:t>
            </a:r>
            <a:r>
              <a:rPr lang="en-US" sz="1900" dirty="0">
                <a:solidFill>
                  <a:srgbClr val="151515"/>
                </a:solidFill>
                <a:latin typeface="Red Hat Mono" pitchFamily="34" charset="0"/>
                <a:ea typeface="Red Hat Mono" pitchFamily="34" charset="-122"/>
                <a:cs typeface="Red Hat Mono" pitchFamily="34" charset="-120"/>
              </a:rPr>
              <a:t>--rollback-on-failure</a:t>
            </a:r>
            <a:r>
              <a:rPr lang="en-US" sz="2000" dirty="0">
                <a:solidFill>
                  <a:srgbClr val="242424"/>
                </a:solidFill>
                <a:latin typeface="Red Hat Text" pitchFamily="34" charset="0"/>
                <a:ea typeface="Red Hat Text" pitchFamily="34" charset="-122"/>
                <a:cs typeface="Red Hat Text" pitchFamily="34" charset="-120"/>
              </a:rPr>
              <a:t>,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Rung 4: compare two chart directories locally (helm-diff plugin)
</a:t>
            </a:r>
            <a:r>
              <a:rPr lang="en-US" sz="1800" dirty="0">
                <a:solidFill>
                  <a:srgbClr val="E6E6E6"/>
                </a:solidFill>
                <a:latin typeface="Red Hat Mono" pitchFamily="34" charset="0"/>
                <a:ea typeface="Red Hat Mono" pitchFamily="34" charset="-122"/>
                <a:cs typeface="Red Hat Mono" pitchFamily="34" charset="-120"/>
              </a:rPr>
              <a:t>[host]$ helm diff local charts/shipping-service /tmp/changed
</a:t>
            </a:r>
            <a:r>
              <a:rPr lang="en-US" sz="1800" dirty="0">
                <a:solidFill>
                  <a:srgbClr val="8FB98F"/>
                </a:solidFill>
                <a:latin typeface="Red Hat Mono" pitchFamily="34" charset="0"/>
                <a:ea typeface="Red Hat Mono" pitchFamily="34" charset="-122"/>
                <a:cs typeface="Red Hat Mono" pitchFamily="34" charset="-120"/>
              </a:rPr>
              <a:t># Rung 5: resolve kinds and run lookup against the API server
</a:t>
            </a:r>
            <a:r>
              <a:rPr lang="en-US" sz="1800" dirty="0">
                <a:solidFill>
                  <a:srgbClr val="E6E6E6"/>
                </a:solidFill>
                <a:latin typeface="Red Hat Mono" pitchFamily="34" charset="0"/>
                <a:ea typeface="Red Hat Mono" pitchFamily="34" charset="-122"/>
                <a:cs typeface="Red Hat Mono" pitchFamily="34" charset="-120"/>
              </a:rPr>
              <a:t>[host]$ helm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--dry-run=server
</a:t>
            </a:r>
            <a:r>
              <a:rPr lang="en-US" sz="1800" dirty="0">
                <a:solidFill>
                  <a:srgbClr val="8FB98F"/>
                </a:solidFill>
                <a:latin typeface="Red Hat Mono" pitchFamily="34" charset="0"/>
                <a:ea typeface="Red Hat Mono" pitchFamily="34" charset="-122"/>
                <a:cs typeface="Red Hat Mono" pitchFamily="34" charset="-120"/>
              </a:rPr>
              <a:t># Rung 6: what an upgrade would change in the live release
</a:t>
            </a:r>
            <a:r>
              <a:rPr lang="en-US" sz="1800" dirty="0">
                <a:solidFill>
                  <a:srgbClr val="E6E6E6"/>
                </a:solidFill>
                <a:latin typeface="Red Hat Mono" pitchFamily="34" charset="0"/>
                <a:ea typeface="Red Hat Mono" pitchFamily="34" charset="-122"/>
                <a:cs typeface="Red Hat Mono" pitchFamily="34" charset="-120"/>
              </a:rPr>
              <a:t>[host]$ helm diff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--set replicaCount=2
</a:t>
            </a:r>
            <a:r>
              <a:rPr lang="en-US" sz="1800" dirty="0">
                <a:solidFill>
                  <a:srgbClr val="8FB98F"/>
                </a:solidFill>
                <a:latin typeface="Red Hat Mono" pitchFamily="34" charset="0"/>
                <a:ea typeface="Red Hat Mono" pitchFamily="34" charset="-122"/>
                <a:cs typeface="Red Hat Mono" pitchFamily="34" charset="-120"/>
              </a:rPr>
              <a:t># Rung 7: the stored manifest, fed back to the schema check
</a:t>
            </a:r>
            <a:r>
              <a:rPr lang="en-US" sz="1800" dirty="0">
                <a:solidFill>
                  <a:srgbClr val="E6E6E6"/>
                </a:solidFill>
                <a:latin typeface="Red Hat Mono" pitchFamily="34" charset="0"/>
                <a:ea typeface="Red Hat Mono" pitchFamily="34" charset="-122"/>
                <a:cs typeface="Red Hat Mono" pitchFamily="34" charset="-120"/>
              </a:rPr>
              <a:t>[host]$ helm get manifest shipping -n hfd-13 | kubeconform -strict -summary
</a:t>
            </a:r>
            <a:endParaRPr lang="en-US" sz="18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a:t>
            </a:r>
            <a:r>
              <a:rPr lang="en-US" sz="1200" i="1" dirty="0">
                <a:solidFill>
                  <a:srgbClr val="151515"/>
                </a:solidFill>
                <a:latin typeface="Red Hat Mono" pitchFamily="34" charset="0"/>
                <a:ea typeface="Red Hat Mono" pitchFamily="34" charset="-122"/>
                <a:cs typeface="Red Hat Mono" pitchFamily="34" charset="-120"/>
              </a:rPr>
              <a:t>--dry-run=server</a:t>
            </a:r>
            <a:r>
              <a:rPr lang="en-US" sz="1300" i="1" dirty="0">
                <a:solidFill>
                  <a:srgbClr val="5A5A5A"/>
                </a:solidFill>
                <a:latin typeface="Red Hat Text" pitchFamily="34" charset="0"/>
                <a:ea typeface="Red Hat Text" pitchFamily="34" charset="-122"/>
                <a:cs typeface="Red Hat Text" pitchFamily="34" charset="-120"/>
              </a:rPr>
              <a:t>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helm-unittest</a:t>
            </a:r>
            <a:r>
              <a:rPr lang="en-US" sz="3000" b="1" dirty="0">
                <a:solidFill>
                  <a:srgbClr val="151515"/>
                </a:solidFill>
                <a:latin typeface="Red Hat Display" pitchFamily="34" charset="0"/>
                <a:ea typeface="Red Hat Display" pitchFamily="34" charset="-122"/>
                <a:cs typeface="Red Hat Display" pitchFamily="34" charset="-120"/>
              </a:rPr>
              <a: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suite: shipping-service deployment
</a:t>
            </a:r>
            <a:r>
              <a:rPr lang="en-US" sz="1700" dirty="0">
                <a:solidFill>
                  <a:srgbClr val="E6E6E6"/>
                </a:solidFill>
                <a:latin typeface="Red Hat Mono" pitchFamily="34" charset="0"/>
                <a:ea typeface="Red Hat Mono" pitchFamily="34" charset="-122"/>
                <a:cs typeface="Red Hat Mono" pitchFamily="34" charset="-120"/>
              </a:rPr>
              <a:t>templates:
</a:t>
            </a:r>
            <a:r>
              <a:rPr lang="en-US" sz="1700" dirty="0">
                <a:solidFill>
                  <a:srgbClr val="E6E6E6"/>
                </a:solidFill>
                <a:latin typeface="Red Hat Mono" pitchFamily="34" charset="0"/>
                <a:ea typeface="Red Hat Mono" pitchFamily="34" charset="-122"/>
                <a:cs typeface="Red Hat Mono" pitchFamily="34" charset="-120"/>
              </a:rPr>
              <a:t>  - templates/deployment.yaml
</a:t>
            </a:r>
            <a:r>
              <a:rPr lang="en-US" sz="1700" dirty="0">
                <a:solidFill>
                  <a:srgbClr val="E6E6E6"/>
                </a:solidFill>
                <a:latin typeface="Red Hat Mono" pitchFamily="34" charset="0"/>
                <a:ea typeface="Red Hat Mono" pitchFamily="34" charset="-122"/>
                <a:cs typeface="Red Hat Mono" pitchFamily="34" charset="-120"/>
              </a:rPr>
              <a:t>tests:
</a:t>
            </a:r>
            <a:r>
              <a:rPr lang="en-US" sz="17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equal:
</a:t>
            </a:r>
            <a:r>
              <a:rPr lang="en-US" sz="1700" dirty="0">
                <a:solidFill>
                  <a:srgbClr val="E6E6E6"/>
                </a:solidFill>
                <a:latin typeface="Red Hat Mono" pitchFamily="34" charset="0"/>
                <a:ea typeface="Red Hat Mono" pitchFamily="34" charset="-122"/>
                <a:cs typeface="Red Hat Mono" pitchFamily="34" charset="-120"/>
              </a:rPr>
              <a:t>          path: spec.template.spec.containers[0].image
</a:t>
            </a:r>
            <a:r>
              <a:rPr lang="en-US" sz="1700" dirty="0">
                <a:solidFill>
                  <a:srgbClr val="E6E6E6"/>
                </a:solidFill>
                <a:latin typeface="Red Hat Mono" pitchFamily="34" charset="0"/>
                <a:ea typeface="Red Hat Mono" pitchFamily="34" charset="-122"/>
                <a:cs typeface="Red Hat Mono" pitchFamily="34" charset="-120"/>
              </a:rPr>
              <a:t>          value: shipping-service:0.1.0
</a:t>
            </a:r>
            <a:r>
              <a:rPr lang="en-US" sz="1700" dirty="0">
                <a:solidFill>
                  <a:srgbClr val="E6E6E6"/>
                </a:solidFill>
                <a:latin typeface="Red Hat Mono" pitchFamily="34" charset="0"/>
                <a:ea typeface="Red Hat Mono" pitchFamily="34" charset="-122"/>
                <a:cs typeface="Red Hat Mono" pitchFamily="34" charset="-120"/>
              </a:rPr>
              <a:t>  - it: fails when kafka is enabled without a bootstrap address
</a:t>
            </a:r>
            <a:r>
              <a:rPr lang="en-US" sz="1700" dirty="0">
                <a:solidFill>
                  <a:srgbClr val="E6E6E6"/>
                </a:solidFill>
                <a:latin typeface="Red Hat Mono" pitchFamily="34" charset="0"/>
                <a:ea typeface="Red Hat Mono" pitchFamily="34" charset="-122"/>
                <a:cs typeface="Red Hat Mono" pitchFamily="34" charset="-120"/>
              </a:rPr>
              <a:t>    set:
</a:t>
            </a:r>
            <a:r>
              <a:rPr lang="en-US" sz="1700" dirty="0">
                <a:solidFill>
                  <a:srgbClr val="E6E6E6"/>
                </a:solidFill>
                <a:latin typeface="Red Hat Mono" pitchFamily="34" charset="0"/>
                <a:ea typeface="Red Hat Mono" pitchFamily="34" charset="-122"/>
                <a:cs typeface="Red Hat Mono" pitchFamily="34" charset="-120"/>
              </a:rPr>
              <a:t>      kafka.enabled: true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failedTemplate:
</a:t>
            </a:r>
            <a:r>
              <a:rPr lang="en-US" sz="17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a:t>
            </a:r>
            <a:r>
              <a:rPr lang="en-US" sz="1200" i="1" dirty="0">
                <a:solidFill>
                  <a:srgbClr val="151515"/>
                </a:solidFill>
                <a:latin typeface="Red Hat Mono" pitchFamily="34" charset="0"/>
                <a:ea typeface="Red Hat Mono" pitchFamily="34" charset="-122"/>
                <a:cs typeface="Red Hat Mono" pitchFamily="34" charset="-120"/>
              </a:rPr>
              <a:t>-u</a:t>
            </a:r>
            <a:r>
              <a:rPr lang="en-US" sz="1300" i="1" dirty="0">
                <a:solidFill>
                  <a:srgbClr val="5A5A5A"/>
                </a:solidFill>
                <a:latin typeface="Red Hat Text" pitchFamily="34" charset="0"/>
                <a:ea typeface="Red Hat Text" pitchFamily="34" charset="-122"/>
                <a:cs typeface="Red Hat Text" pitchFamily="34" charset="-120"/>
              </a:rPr>
              <a:t>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chart-testing</a:t>
            </a:r>
            <a:r>
              <a:rPr lang="en-US" sz="3000" b="1" dirty="0">
                <a:solidFill>
                  <a:srgbClr val="151515"/>
                </a:solidFill>
                <a:latin typeface="Red Hat Display" pitchFamily="34" charset="0"/>
                <a:ea typeface="Red Hat Display" pitchFamily="34" charset="-122"/>
                <a:cs typeface="Red Hat Display" pitchFamily="34" charset="-120"/>
              </a:rPr>
              <a:t>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-values.yaml</a:t>
                      </a:r>
                      <a:r>
                        <a:rPr lang="en-US" sz="1500" dirty="0">
                          <a:solidFill>
                            <a:srgbClr val="242424"/>
                          </a:solidFill>
                          <a:latin typeface="Red Hat Text" pitchFamily="34" charset="0"/>
                          <a:ea typeface="Red Hat Text" pitchFamily="34" charset="-122"/>
                          <a:cs typeface="Red Hat Text" pitchFamily="34" charset="-120"/>
                        </a:rPr>
                        <a: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r>
              <a:rPr lang="en-US" sz="1800" dirty="0">
                <a:solidFill>
                  <a:srgbClr val="E6E6E6"/>
                </a:solidFill>
                <a:latin typeface="Red Hat Mono" pitchFamily="34" charset="0"/>
                <a:ea typeface="Red Hat Mono" pitchFamily="34" charset="-122"/>
                <a:cs typeface="Red Hat Mono" pitchFamily="34" charset="-120"/>
              </a:rPr>
              <a:t>[host]$ helm lint --strict charts/shipping-service
</a:t>
            </a:r>
            <a:r>
              <a:rPr lang="en-US" sz="1800" dirty="0">
                <a:solidFill>
                  <a:srgbClr val="E6E6E6"/>
                </a:solidFill>
                <a:latin typeface="Red Hat Mono" pitchFamily="34" charset="0"/>
                <a:ea typeface="Red Hat Mono" pitchFamily="34" charset="-122"/>
                <a:cs typeface="Red Hat Mono" pitchFamily="34" charset="-120"/>
              </a:rPr>
              <a:t>[host]$ helm unittest charts/shipping-service
</a:t>
            </a:r>
            <a:r>
              <a:rPr lang="en-US" sz="1800" dirty="0">
                <a:solidFill>
                  <a:srgbClr val="E6E6E6"/>
                </a:solidFill>
                <a:latin typeface="Red Hat Mono" pitchFamily="34" charset="0"/>
                <a:ea typeface="Red Hat Mono" pitchFamily="34" charset="-122"/>
                <a:cs typeface="Red Hat Mono" pitchFamily="34" charset="-120"/>
              </a:rPr>
              <a:t>[host]$ helm template shipping charts/shipping-service \
</a:t>
            </a:r>
            <a:r>
              <a:rPr lang="en-US" sz="1800" dirty="0">
                <a:solidFill>
                  <a:srgbClr val="E6E6E6"/>
                </a:solidFill>
                <a:latin typeface="Red Hat Mono" pitchFamily="34" charset="0"/>
                <a:ea typeface="Red Hat Mono" pitchFamily="34" charset="-122"/>
                <a:cs typeface="Red Hat Mono" pitchFamily="34" charset="-120"/>
              </a:rPr>
              <a:t>          -f charts/shipping-service/ci/ci-values.yaml \
</a:t>
            </a:r>
            <a:r>
              <a:rPr lang="en-US" sz="1800" dirty="0">
                <a:solidFill>
                  <a:srgbClr val="E6E6E6"/>
                </a:solidFill>
                <a:latin typeface="Red Hat Mono" pitchFamily="34" charset="0"/>
                <a:ea typeface="Red Hat Mono" pitchFamily="34" charset="-122"/>
                <a:cs typeface="Red Hat Mono" pitchFamily="34" charset="-120"/>
              </a:rPr>
              <a:t>          | kubeconform -strict -summary
</a:t>
            </a:r>
            <a:r>
              <a:rPr lang="en-US" sz="1800" dirty="0">
                <a:solidFill>
                  <a:srgbClr val="E6E6E6"/>
                </a:solidFill>
                <a:latin typeface="Red Hat Mono" pitchFamily="34" charset="0"/>
                <a:ea typeface="Red Hat Mono" pitchFamily="34" charset="-122"/>
                <a:cs typeface="Red Hat Mono" pitchFamily="34" charset="-120"/>
              </a:rPr>
              <a:t>[host]$ ct lint --config ct.yaml --all
</a:t>
            </a: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r>
              <a:rPr lang="en-US" sz="1800" dirty="0">
                <a:solidFill>
                  <a:srgbClr val="E6E6E6"/>
                </a:solidFill>
                <a:latin typeface="Red Hat Mono" pitchFamily="34" charset="0"/>
                <a:ea typeface="Red Hat Mono" pitchFamily="34" charset="-122"/>
                <a:cs typeface="Red Hat Mono" pitchFamily="34" charset="-120"/>
              </a:rPr>
              <a:t>[host]$ ct install --charts charts/shipping-service \
</a:t>
            </a:r>
            <a:r>
              <a:rPr lang="en-US" sz="1800" dirty="0">
                <a:solidFill>
                  <a:srgbClr val="E6E6E6"/>
                </a:solidFill>
                <a:latin typeface="Red Hat Mono" pitchFamily="34" charset="0"/>
                <a:ea typeface="Red Hat Mono" pitchFamily="34" charset="-122"/>
                <a:cs typeface="Red Hat Mono" pitchFamily="34" charset="-120"/>
              </a:rPr>
              <a:t>          --helm-extra-args '--timeout 3m'
</a:t>
            </a:r>
            <a:r>
              <a:rPr lang="en-US" sz="1800" dirty="0">
                <a:solidFill>
                  <a:srgbClr val="8FB98F"/>
                </a:solidFill>
                <a:latin typeface="Red Hat Mono" pitchFamily="34" charset="0"/>
                <a:ea typeface="Red Hat Mono" pitchFamily="34" charset="-122"/>
                <a:cs typeface="Red Hat Mono" pitchFamily="34" charset="-120"/>
              </a:rPr>
              <a:t># Stage 3: publish on a version tag
</a:t>
            </a:r>
            <a:r>
              <a:rPr lang="en-US" sz="1800" dirty="0">
                <a:solidFill>
                  <a:srgbClr val="E6E6E6"/>
                </a:solidFill>
                <a:latin typeface="Red Hat Mono" pitchFamily="34" charset="0"/>
                <a:ea typeface="Red Hat Mono" pitchFamily="34" charset="-122"/>
                <a:cs typeface="Red Hat Mono" pitchFamily="34" charset="-120"/>
              </a:rPr>
              <a:t>[host]$ helm package charts/shipping-service --dependency-update -d dist
</a:t>
            </a:r>
            <a:r>
              <a:rPr lang="en-US" sz="1800" dirty="0">
                <a:solidFill>
                  <a:srgbClr val="E6E6E6"/>
                </a:solidFill>
                <a:latin typeface="Red Hat Mono" pitchFamily="34" charset="0"/>
                <a:ea typeface="Red Hat Mono" pitchFamily="34" charset="-122"/>
                <a:cs typeface="Red Hat Mono" pitchFamily="34" charset="-120"/>
              </a:rPr>
              <a:t>[host]$ helm push dist/shipping-service-1.0.0.tgz \
</a:t>
            </a: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a:t>
            </a:r>
            <a:r>
              <a:rPr lang="en-US" sz="1200" i="1" dirty="0">
                <a:solidFill>
                  <a:srgbClr val="151515"/>
                </a:solidFill>
                <a:latin typeface="Red Hat Mono" pitchFamily="34" charset="0"/>
                <a:ea typeface="Red Hat Mono" pitchFamily="34" charset="-122"/>
                <a:cs typeface="Red Hat Mono" pitchFamily="34" charset="-120"/>
              </a:rPr>
              <a:t>chart-testing</a:t>
            </a:r>
            <a:r>
              <a:rPr lang="en-US" sz="1300" i="1" dirty="0">
                <a:solidFill>
                  <a:srgbClr val="5A5A5A"/>
                </a:solidFill>
                <a:latin typeface="Red Hat Text" pitchFamily="34" charset="0"/>
                <a:ea typeface="Red Hat Text" pitchFamily="34" charset="-122"/>
                <a:cs typeface="Red Hat Text" pitchFamily="34" charset="-120"/>
              </a:rPr>
              <a:t>.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301566"/>
          </a:xfrm>
          <a:prstGeom prst="rect">
            <a:avLst/>
          </a:prstGeom>
          <a:solidFill>
            <a:srgbClr val="151515"/>
          </a:solidFill>
          <a:ln w="12700">
            <a:solidFill>
              <a:srgbClr val="151515"/>
            </a:solidFill>
            <a:prstDash val="solid"/>
          </a:ln>
        </p:spPr>
      </p:sp>
      <p:sp>
        <p:nvSpPr>
          <p:cNvPr id="8" name="Text 5"/>
          <p:cNvSpPr/>
          <p:nvPr/>
        </p:nvSpPr>
        <p:spPr>
          <a:xfrm>
            <a:off x="749808" y="1508760"/>
            <a:ext cx="10689336" cy="4118686"/>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listeners:
</a:t>
            </a:r>
            <a:r>
              <a:rPr lang="en-US" sz="1950" dirty="0">
                <a:solidFill>
                  <a:srgbClr val="E6E6E6"/>
                </a:solidFill>
                <a:latin typeface="Red Hat Mono" pitchFamily="34" charset="0"/>
                <a:ea typeface="Red Hat Mono" pitchFamily="34" charset="-122"/>
                <a:cs typeface="Red Hat Mono" pitchFamily="34" charset="-120"/>
              </a:rPr>
              <a:t>      - name: plain
</a:t>
            </a:r>
            <a:r>
              <a:rPr lang="en-US" sz="1950" dirty="0">
                <a:solidFill>
                  <a:srgbClr val="E6E6E6"/>
                </a:solidFill>
                <a:latin typeface="Red Hat Mono" pitchFamily="34" charset="0"/>
                <a:ea typeface="Red Hat Mono" pitchFamily="34" charset="-122"/>
                <a:cs typeface="Red Hat Mono" pitchFamily="34" charset="-120"/>
              </a:rPr>
              <a:t>        port: 9092
</a:t>
            </a:r>
            <a:r>
              <a:rPr lang="en-US" sz="1950" dirty="0">
                <a:solidFill>
                  <a:srgbClr val="E6E6E6"/>
                </a:solidFill>
                <a:latin typeface="Red Hat Mono" pitchFamily="34" charset="0"/>
                <a:ea typeface="Red Hat Mono" pitchFamily="34" charset="-122"/>
                <a:cs typeface="Red Hat Mono" pitchFamily="34" charset="-120"/>
              </a:rPr>
              <a:t>        type: internal
</a:t>
            </a:r>
            <a:r>
              <a:rPr lang="en-US" sz="1950" dirty="0">
                <a:solidFill>
                  <a:srgbClr val="E6E6E6"/>
                </a:solidFill>
                <a:latin typeface="Red Hat Mono" pitchFamily="34" charset="0"/>
                <a:ea typeface="Red Hat Mono" pitchFamily="34" charset="-122"/>
                <a:cs typeface="Red Hat Mono" pitchFamily="34" charset="-120"/>
              </a:rPr>
              <a:t>        tls: false
</a:t>
            </a:r>
            <a:r>
              <a:rPr lang="en-US" sz="1950" dirty="0">
                <a:solidFill>
                  <a:srgbClr val="8FB98F"/>
                </a:solidFill>
                <a:latin typeface="Red Hat Mono" pitchFamily="34" charset="0"/>
                <a:ea typeface="Red Hat Mono" pitchFamily="34" charset="-122"/>
                <a:cs typeface="Red Hat Mono" pitchFamily="34" charset="-120"/>
              </a:rPr>
              <a:t># values.yaml: the contract other charts import
</a:t>
            </a:r>
            <a:r>
              <a:rPr lang="en-US" sz="1950" dirty="0">
                <a:solidFill>
                  <a:srgbClr val="E6E6E6"/>
                </a:solidFill>
                <a:latin typeface="Red Hat Mono" pitchFamily="34" charset="0"/>
                <a:ea typeface="Red Hat Mono" pitchFamily="34" charset="-122"/>
                <a:cs typeface="Red Hat Mono" pitchFamily="34" charset="-120"/>
              </a:rPr>
              <a:t>exports: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950" dirty="0"/>
          </a:p>
        </p:txBody>
      </p:sp>
      <p:sp>
        <p:nvSpPr>
          <p:cNvPr id="9" name="Text 6"/>
          <p:cNvSpPr/>
          <p:nvPr/>
        </p:nvSpPr>
        <p:spPr>
          <a:xfrm>
            <a:off x="566928" y="581032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950" dirty="0">
                <a:solidFill>
                  <a:srgbClr val="E6E6E6"/>
                </a:solidFill>
                <a:latin typeface="Red Hat Mono" pitchFamily="34" charset="0"/>
                <a:ea typeface="Red Hat Mono" pitchFamily="34" charset="-122"/>
                <a:cs typeface="Red Hat Mono" pitchFamily="34" charset="-120"/>
              </a:rPr>
              <a:t>dependencies:
</a:t>
            </a:r>
            <a:r>
              <a:rPr lang="en-US" sz="1950" dirty="0">
                <a:solidFill>
                  <a:srgbClr val="E6E6E6"/>
                </a:solidFill>
                <a:latin typeface="Red Hat Mono" pitchFamily="34" charset="0"/>
                <a:ea typeface="Red Hat Mono" pitchFamily="34" charset="-122"/>
                <a:cs typeface="Red Hat Mono" pitchFamily="34" charset="-120"/>
              </a:rPr>
              <a:t>  - name: shipping-service
</a:t>
            </a:r>
            <a:r>
              <a:rPr lang="en-US" sz="1950" dirty="0">
                <a:solidFill>
                  <a:srgbClr val="E6E6E6"/>
                </a:solidFill>
                <a:latin typeface="Red Hat Mono" pitchFamily="34" charset="0"/>
                <a:ea typeface="Red Hat Mono" pitchFamily="34" charset="-122"/>
                <a:cs typeface="Red Hat Mono" pitchFamily="34" charset="-120"/>
              </a:rPr>
              <a:t>    alias: shipping
</a:t>
            </a:r>
            <a:r>
              <a:rPr lang="en-US" sz="1950" dirty="0">
                <a:solidFill>
                  <a:srgbClr val="E6E6E6"/>
                </a:solidFill>
                <a:latin typeface="Red Hat Mono" pitchFamily="34" charset="0"/>
                <a:ea typeface="Red Hat Mono" pitchFamily="34" charset="-122"/>
                <a:cs typeface="Red Hat Mono" pitchFamily="34" charset="-120"/>
              </a:rPr>
              <a:t>    condition: shipping.enabled
</a:t>
            </a:r>
            <a:r>
              <a:rPr lang="en-US" sz="1950" dirty="0">
                <a:solidFill>
                  <a:srgbClr val="E6E6E6"/>
                </a:solidFill>
                <a:latin typeface="Red Hat Mono" pitchFamily="34" charset="0"/>
                <a:ea typeface="Red Hat Mono" pitchFamily="34" charset="-122"/>
                <a:cs typeface="Red Hat Mono" pitchFamily="34" charset="-120"/>
              </a:rPr>
              <a:t>  - name: notification-service
</a:t>
            </a:r>
            <a:r>
              <a:rPr lang="en-US" sz="1950" dirty="0">
                <a:solidFill>
                  <a:srgbClr val="E6E6E6"/>
                </a:solidFill>
                <a:latin typeface="Red Hat Mono" pitchFamily="34" charset="0"/>
                <a:ea typeface="Red Hat Mono" pitchFamily="34" charset="-122"/>
                <a:cs typeface="Red Hat Mono" pitchFamily="34" charset="-120"/>
              </a:rPr>
              <a:t>    alias: notification
</a:t>
            </a:r>
            <a:r>
              <a:rPr lang="en-US" sz="1950" dirty="0">
                <a:solidFill>
                  <a:srgbClr val="E6E6E6"/>
                </a:solidFill>
                <a:latin typeface="Red Hat Mono" pitchFamily="34" charset="0"/>
                <a:ea typeface="Red Hat Mono" pitchFamily="34" charset="-122"/>
                <a:cs typeface="Red Hat Mono" pitchFamily="34" charset="-120"/>
              </a:rPr>
              <a:t>    tags: [messaging]
</a:t>
            </a:r>
            <a:r>
              <a:rPr lang="en-US" sz="1950" dirty="0">
                <a:solidFill>
                  <a:srgbClr val="E6E6E6"/>
                </a:solidFill>
                <a:latin typeface="Red Hat Mono" pitchFamily="34" charset="0"/>
                <a:ea typeface="Red Hat Mono" pitchFamily="34" charset="-122"/>
                <a:cs typeface="Red Hat Mono" pitchFamily="34" charset="-120"/>
              </a:rPr>
              <a:t>  - name: shipping-postgres
</a:t>
            </a:r>
            <a:r>
              <a:rPr lang="en-US" sz="1950" dirty="0">
                <a:solidFill>
                  <a:srgbClr val="E6E6E6"/>
                </a:solidFill>
                <a:latin typeface="Red Hat Mono" pitchFamily="34" charset="0"/>
                <a:ea typeface="Red Hat Mono" pitchFamily="34" charset="-122"/>
                <a:cs typeface="Red Hat Mono" pitchFamily="34" charset="-120"/>
              </a:rPr>
              <a:t>    alias: db
</a:t>
            </a:r>
            <a:r>
              <a:rPr lang="en-US" sz="1950" dirty="0">
                <a:solidFill>
                  <a:srgbClr val="E6E6E6"/>
                </a:solidFill>
                <a:latin typeface="Red Hat Mono" pitchFamily="34" charset="0"/>
                <a:ea typeface="Red Hat Mono" pitchFamily="34" charset="-122"/>
                <a:cs typeface="Red Hat Mono" pitchFamily="34" charset="-120"/>
              </a:rPr>
              <a:t>    condition: db.enabled
</a:t>
            </a:r>
            <a:r>
              <a:rPr lang="en-US" sz="1950" dirty="0">
                <a:solidFill>
                  <a:srgbClr val="E6E6E6"/>
                </a:solidFill>
                <a:latin typeface="Red Hat Mono" pitchFamily="34" charset="0"/>
                <a:ea typeface="Red Hat Mono" pitchFamily="34" charset="-122"/>
                <a:cs typeface="Red Hat Mono" pitchFamily="34" charset="-120"/>
              </a:rPr>
              <a:t>  - name: shipping-kafka
</a:t>
            </a:r>
            <a:r>
              <a:rPr lang="en-US" sz="1950" dirty="0">
                <a:solidFill>
                  <a:srgbClr val="E6E6E6"/>
                </a:solidFill>
                <a:latin typeface="Red Hat Mono" pitchFamily="34" charset="0"/>
                <a:ea typeface="Red Hat Mono" pitchFamily="34" charset="-122"/>
                <a:cs typeface="Red Hat Mono" pitchFamily="34" charset="-120"/>
              </a:rPr>
              <a:t>    alias: kafka
</a:t>
            </a:r>
            <a:r>
              <a:rPr lang="en-US" sz="1950" dirty="0">
                <a:solidFill>
                  <a:srgbClr val="E6E6E6"/>
                </a:solidFill>
                <a:latin typeface="Red Hat Mono" pitchFamily="34" charset="0"/>
                <a:ea typeface="Red Hat Mono" pitchFamily="34" charset="-122"/>
                <a:cs typeface="Red Hat Mono" pitchFamily="34" charset="-120"/>
              </a:rPr>
              <a:t>    tags: [messaging]
</a:t>
            </a:r>
            <a:endParaRPr lang="en-US" sz="19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r>
              <a:rPr lang="en-US" sz="20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r>
              <a:rPr lang="en-US" sz="20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r>
              <a:rPr lang="en-US" sz="20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r>
              <a:rPr lang="en-US" sz="20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r>
              <a:rPr lang="en-US" sz="1700" dirty="0">
                <a:solidFill>
                  <a:srgbClr val="E6E6E6"/>
                </a:solidFill>
                <a:latin typeface="Red Hat Mono" pitchFamily="34" charset="0"/>
                <a:ea typeface="Red Hat Mono" pitchFamily="34" charset="-122"/>
                <a:cs typeface="Red Hat Mono" pitchFamily="34" charset="-120"/>
              </a:rPr>
              <a:t>{{- if and .Values.route.enabled
</a:t>
            </a: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
</a:t>
            </a:r>
            <a:r>
              <a:rPr lang="en-US" sz="1700" dirty="0">
                <a:solidFill>
                  <a:srgbClr val="E6E6E6"/>
                </a:solidFill>
                <a:latin typeface="Red Hat Mono" pitchFamily="34" charset="0"/>
                <a:ea typeface="Red Hat Mono" pitchFamily="34" charset="-122"/>
                <a:cs typeface="Red Hat Mono" pitchFamily="34" charset="-120"/>
              </a:rPr>
              <a:t>          --api-versions route.openshift.io/v1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t>
            </a:r>
            <a:r>
              <a:rPr lang="en-US" sz="1200" i="1" dirty="0">
                <a:solidFill>
                  <a:srgbClr val="151515"/>
                </a:solidFill>
                <a:latin typeface="Red Hat Mono" pitchFamily="34" charset="0"/>
                <a:ea typeface="Red Hat Mono" pitchFamily="34" charset="-122"/>
                <a:cs typeface="Red Hat Mono" pitchFamily="34" charset="-120"/>
              </a:rPr>
              <a:t>--api-versions</a:t>
            </a:r>
            <a:r>
              <a:rPr lang="en-US" sz="1300" i="1" dirty="0">
                <a:solidFill>
                  <a:srgbClr val="5A5A5A"/>
                </a:solidFill>
                <a:latin typeface="Red Hat Text" pitchFamily="34" charset="0"/>
                <a:ea typeface="Red Hat Text" pitchFamily="34" charset="-122"/>
                <a:cs typeface="Red Hat Text" pitchFamily="34" charset="-120"/>
              </a:rPr>
              <a:t>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r>
              <a:rPr lang="en-US" sz="2000" dirty="0">
                <a:solidFill>
                  <a:srgbClr val="E6E6E6"/>
                </a:solidFill>
                <a:latin typeface="Red Hat Mono" pitchFamily="34" charset="0"/>
                <a:ea typeface="Red Hat Mono" pitchFamily="34" charset="-122"/>
                <a:cs typeface="Red Hat Mono" pitchFamily="34" charset="-120"/>
              </a:rPr>
              <a:t>[host]$ helm create --starter pc-fastapi charts/inventory-service
</a:t>
            </a:r>
            <a:r>
              <a:rPr lang="en-US" sz="2000" dirty="0">
                <a:solidFill>
                  <a:srgbClr val="E6E6E6"/>
                </a:solidFill>
                <a:latin typeface="Red Hat Mono" pitchFamily="34" charset="0"/>
                <a:ea typeface="Red Hat Mono" pitchFamily="34" charset="-122"/>
                <a:cs typeface="Red Hat Mono" pitchFamily="34" charset="-120"/>
              </a:rPr>
              <a:t>[host]$ helm dependency build charts/inventory-service
</a:t>
            </a:r>
            <a:r>
              <a:rPr lang="en-US" sz="2000" dirty="0">
                <a:solidFill>
                  <a:srgbClr val="E6E6E6"/>
                </a:solidFill>
                <a:latin typeface="Red Hat Mono" pitchFamily="34" charset="0"/>
                <a:ea typeface="Red Hat Mono" pitchFamily="34" charset="-122"/>
                <a:cs typeface="Red Hat Mono" pitchFamily="34" charset="-120"/>
              </a:rPr>
              <a:t>[host]$ helm lint --strict charts/inventory-service
</a:t>
            </a:r>
            <a:r>
              <a:rPr lang="en-US" sz="2000" dirty="0">
                <a:solidFill>
                  <a:srgbClr val="E6E6E6"/>
                </a:solidFill>
                <a:latin typeface="Red Hat Mono" pitchFamily="34" charset="0"/>
                <a:ea typeface="Red Hat Mono" pitchFamily="34" charset="-122"/>
                <a:cs typeface="Red Hat Mono" pitchFamily="34" charset="-120"/>
              </a:rPr>
              <a:t>[host]$ helm template inventory charts/inventory-service \
</a:t>
            </a:r>
            <a:r>
              <a:rPr lang="en-US" sz="2000" dirty="0">
                <a:solidFill>
                  <a:srgbClr val="E6E6E6"/>
                </a:solidFill>
                <a:latin typeface="Red Hat Mono" pitchFamily="34" charset="0"/>
                <a:ea typeface="Red Hat Mono" pitchFamily="34" charset="-122"/>
                <a:cs typeface="Red Hat Mono" pitchFamily="34" charset="-120"/>
              </a:rPr>
              <a:t>          | kubeconform -strict -summary
</a:t>
            </a:r>
            <a:r>
              <a:rPr lang="en-US" sz="2000" dirty="0">
                <a:solidFill>
                  <a:srgbClr val="E6E6E6"/>
                </a:solidFill>
                <a:latin typeface="Red Hat Mono" pitchFamily="34" charset="0"/>
                <a:ea typeface="Red Hat Mono" pitchFamily="34" charset="-122"/>
                <a:cs typeface="Red Hat Mono" pitchFamily="34" charset="-120"/>
              </a:rPr>
              <a:t>[host]$ helm upgrade --install inventory charts/inventory-service \
</a:t>
            </a:r>
            <a:r>
              <a:rPr lang="en-US" sz="2000" dirty="0">
                <a:solidFill>
                  <a:srgbClr val="E6E6E6"/>
                </a:solidFill>
                <a:latin typeface="Red Hat Mono" pitchFamily="34" charset="0"/>
                <a:ea typeface="Red Hat Mono" pitchFamily="34" charset="-122"/>
                <a:cs typeface="Red Hat Mono" pitchFamily="34" charset="-120"/>
              </a:rPr>
              <a:t>          -n hfd-18 --create-namespace
</a:t>
            </a:r>
            <a:r>
              <a:rPr lang="en-US" sz="2000" dirty="0">
                <a:solidFill>
                  <a:srgbClr val="E6E6E6"/>
                </a:solidFill>
                <a:latin typeface="Red Hat Mono" pitchFamily="34" charset="0"/>
                <a:ea typeface="Red Hat Mono" pitchFamily="34" charset="-122"/>
                <a:cs typeface="Red Hat Mono" pitchFamily="34" charset="-120"/>
              </a:rPr>
              <a:t>[host]$ helm test inventory -n hfd-18
</a:t>
            </a: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version: 1.0.0        # the chart: templates, values keys, dependencies
</a:t>
            </a:r>
            <a:r>
              <a:rPr lang="en-US" sz="17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CI stamps both without editing the file
</a:t>
            </a:r>
            <a:r>
              <a:rPr lang="en-US" sz="1700" dirty="0">
                <a:solidFill>
                  <a:srgbClr val="E6E6E6"/>
                </a:solidFill>
                <a:latin typeface="Red Hat Mono" pitchFamily="34" charset="0"/>
                <a:ea typeface="Red Hat Mono" pitchFamily="34" charset="-122"/>
                <a:cs typeface="Red Hat Mono" pitchFamily="34" charset="-120"/>
              </a:rPr>
              <a:t>[host]$ helm package charts/shipping-service \
</a:t>
            </a:r>
            <a:r>
              <a:rPr lang="en-US" sz="1700" dirty="0">
                <a:solidFill>
                  <a:srgbClr val="E6E6E6"/>
                </a:solidFill>
                <a:latin typeface="Red Hat Mono" pitchFamily="34" charset="0"/>
                <a:ea typeface="Red Hat Mono" pitchFamily="34" charset="-122"/>
                <a:cs typeface="Red Hat Mono" pitchFamily="34" charset="-120"/>
              </a:rPr>
              <a:t>          --version 1.0.1 --app-version 0.1.1 -d .work/repo
</a:t>
            </a:r>
            <a:r>
              <a:rPr lang="en-US" sz="17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r>
              <a:rPr lang="en-US" sz="1700" dirty="0">
                <a:solidFill>
                  <a:srgbClr val="E6E6E6"/>
                </a:solidFill>
                <a:latin typeface="Red Hat Mono" pitchFamily="34" charset="0"/>
                <a:ea typeface="Red Hat Mono" pitchFamily="34" charset="-122"/>
                <a:cs typeface="Red Hat Mono" pitchFamily="34" charset="-120"/>
              </a:rPr>
              <a:t>[host]$ helm package charts/shipping-service --version 1.1.0-rc.1 -d .work/repo
</a:t>
            </a:r>
            <a:r>
              <a:rPr lang="en-US" sz="1700" dirty="0">
                <a:solidFill>
                  <a:srgbClr val="E6E6E6"/>
                </a:solidFill>
                <a:latin typeface="Red Hat Mono" pitchFamily="34" charset="0"/>
                <a:ea typeface="Red Hat Mono" pitchFamily="34" charset="-122"/>
                <a:cs typeface="Red Hat Mono" pitchFamily="34" charset="-120"/>
              </a:rPr>
              <a:t>[host]$ helm search repo hfd-local --devel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r>
              <a:rPr lang="en-US" sz="1850" dirty="0">
                <a:solidFill>
                  <a:srgbClr val="E6E6E6"/>
                </a:solidFill>
                <a:latin typeface="Red Hat Mono" pitchFamily="34" charset="0"/>
                <a:ea typeface="Red Hat Mono" pitchFamily="34" charset="-122"/>
                <a:cs typeface="Red Hat Mono" pitchFamily="34" charset="-120"/>
              </a:rPr>
              <a:t>[host]$ helm package charts/shipping-service --dependency-update --sign \
</a:t>
            </a:r>
            <a:r>
              <a:rPr lang="en-US" sz="1850" dirty="0">
                <a:solidFill>
                  <a:srgbClr val="E6E6E6"/>
                </a:solidFill>
                <a:latin typeface="Red Hat Mono" pitchFamily="34" charset="0"/>
                <a:ea typeface="Red Hat Mono" pitchFamily="34" charset="-122"/>
                <a:cs typeface="Red Hat Mono" pitchFamily="34" charset="-120"/>
              </a:rPr>
              <a:t>          --key "HFD Throwaway Signer" --keyring .work/keys/secring.gpg \
</a:t>
            </a:r>
            <a:r>
              <a:rPr lang="en-US" sz="1850" dirty="0">
                <a:solidFill>
                  <a:srgbClr val="E6E6E6"/>
                </a:solidFill>
                <a:latin typeface="Red Hat Mono" pitchFamily="34" charset="0"/>
                <a:ea typeface="Red Hat Mono" pitchFamily="34" charset="-122"/>
                <a:cs typeface="Red Hat Mono" pitchFamily="34" charset="-120"/>
              </a:rPr>
              <a:t>          -d .work/signed
</a:t>
            </a:r>
            <a:r>
              <a:rPr lang="en-US" sz="1850" dirty="0">
                <a:solidFill>
                  <a:srgbClr val="8FB98F"/>
                </a:solidFill>
                <a:latin typeface="Red Hat Mono" pitchFamily="34" charset="0"/>
                <a:ea typeface="Red Hat Mono" pitchFamily="34" charset="-122"/>
                <a:cs typeface="Red Hat Mono" pitchFamily="34" charset="-120"/>
              </a:rPr>
              <a:t># Verify the tarball against its .prov file
</a:t>
            </a:r>
            <a:r>
              <a:rPr lang="en-US" sz="1850" dirty="0">
                <a:solidFill>
                  <a:srgbClr val="E6E6E6"/>
                </a:solidFill>
                <a:latin typeface="Red Hat Mono" pitchFamily="34" charset="0"/>
                <a:ea typeface="Red Hat Mono" pitchFamily="34" charset="-122"/>
                <a:cs typeface="Red Hat Mono" pitchFamily="34" charset="-120"/>
              </a:rPr>
              <a:t>[host]$ helm verify .work/signed/shipping-service-1.0.0.tgz
</a:t>
            </a:r>
            <a:r>
              <a:rPr lang="en-US" sz="1850" dirty="0">
                <a:solidFill>
                  <a:srgbClr val="8FB98F"/>
                </a:solidFill>
                <a:latin typeface="Red Hat Mono" pitchFamily="34" charset="0"/>
                <a:ea typeface="Red Hat Mono" pitchFamily="34" charset="-122"/>
                <a:cs typeface="Red Hat Mono" pitchFamily="34" charset="-120"/>
              </a:rPr>
              <a:t># Verify while pulling from an OCI registry
</a:t>
            </a:r>
            <a:r>
              <a:rPr lang="en-US" sz="1850" dirty="0">
                <a:solidFill>
                  <a:srgbClr val="E6E6E6"/>
                </a:solidFill>
                <a:latin typeface="Red Hat Mono" pitchFamily="34" charset="0"/>
                <a:ea typeface="Red Hat Mono" pitchFamily="34" charset="-122"/>
                <a:cs typeface="Red Hat Mono" pitchFamily="34" charset="-120"/>
              </a:rPr>
              <a:t>[host]$ helm pull oci://127.0.0.1:5001/signed/shipping-service \
</a:t>
            </a:r>
            <a:r>
              <a:rPr lang="en-US" sz="1850" dirty="0">
                <a:solidFill>
                  <a:srgbClr val="E6E6E6"/>
                </a:solidFill>
                <a:latin typeface="Red Hat Mono" pitchFamily="34" charset="0"/>
                <a:ea typeface="Red Hat Mono" pitchFamily="34" charset="-122"/>
                <a:cs typeface="Red Hat Mono" pitchFamily="34" charset="-120"/>
              </a:rPr>
              <a:t>          --version 1.0.0 --plain-http --verify -d .work/pull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r>
              <a:rPr lang="en-US" sz="1700" dirty="0">
                <a:solidFill>
                  <a:srgbClr val="E6E6E6"/>
                </a:solidFill>
                <a:latin typeface="Red Hat Mono" pitchFamily="34" charset="0"/>
                <a:ea typeface="Red Hat Mono" pitchFamily="34" charset="-122"/>
                <a:cs typeface="Red Hat Mono" pitchFamily="34" charset="-120"/>
              </a:rPr>
              <a:t>[host]$ cosign sign --key .work/cosign/cosign.key --yes --allow-http-registry \
</a:t>
            </a:r>
            <a:r>
              <a:rPr lang="en-US" sz="1700" dirty="0">
                <a:solidFill>
                  <a:srgbClr val="E6E6E6"/>
                </a:solidFill>
                <a:latin typeface="Red Hat Mono" pitchFamily="34" charset="0"/>
                <a:ea typeface="Red Hat Mono" pitchFamily="34" charset="-122"/>
                <a:cs typeface="Red Hat Mono" pitchFamily="34" charset="-120"/>
              </a:rPr>
              <a:t>          --use-signing-config=false --tlog-upload=false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E6E6E6"/>
                </a:solidFill>
                <a:latin typeface="Red Hat Mono" pitchFamily="34" charset="0"/>
                <a:ea typeface="Red Hat Mono" pitchFamily="34" charset="-122"/>
                <a:cs typeface="Red Hat Mono" pitchFamily="34" charset="-120"/>
              </a:rPr>
              <a:t>[host]$ cosign verify --key .work/cosign/cosign.pub --allow-http-registry \
</a:t>
            </a:r>
            <a:r>
              <a:rPr lang="en-US" sz="1700" dirty="0">
                <a:solidFill>
                  <a:srgbClr val="E6E6E6"/>
                </a:solidFill>
                <a:latin typeface="Red Hat Mono" pitchFamily="34" charset="0"/>
                <a:ea typeface="Red Hat Mono" pitchFamily="34" charset="-122"/>
                <a:cs typeface="Red Hat Mono" pitchFamily="34" charset="-120"/>
              </a:rPr>
              <a:t>          --insecure-ignore-tlog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r>
              <a:rPr lang="en-US" sz="17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--post-renderer</a:t>
                      </a:r>
                      <a:r>
                        <a:rPr lang="en-US" sz="1500" dirty="0">
                          <a:solidFill>
                            <a:srgbClr val="242424"/>
                          </a:solidFill>
                          <a:latin typeface="Red Hat Text" pitchFamily="34" charset="0"/>
                          <a:ea typeface="Red Hat Text" pitchFamily="34" charset="-122"/>
                          <a:cs typeface="Red Hat Text" pitchFamily="34" charset="-120"/>
                        </a:rPr>
                        <a:t>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r>
              <a:rPr lang="en-US" sz="2000" dirty="0">
                <a:solidFill>
                  <a:srgbClr val="E6E6E6"/>
                </a:solidFill>
                <a:latin typeface="Red Hat Mono" pitchFamily="34" charset="0"/>
                <a:ea typeface="Red Hat Mono" pitchFamily="34" charset="-122"/>
                <a:cs typeface="Red Hat Mono" pitchFamily="34" charset="-120"/>
              </a:rPr>
              <a:t>type: cli/v1
</a:t>
            </a:r>
            <a:r>
              <a:rPr lang="en-US" sz="2000" dirty="0">
                <a:solidFill>
                  <a:srgbClr val="E6E6E6"/>
                </a:solidFill>
                <a:latin typeface="Red Hat Mono" pitchFamily="34" charset="0"/>
                <a:ea typeface="Red Hat Mono" pitchFamily="34" charset="-122"/>
                <a:cs typeface="Red Hat Mono" pitchFamily="34" charset="-120"/>
              </a:rPr>
              <a:t>name: wasm-hello
</a:t>
            </a:r>
            <a:r>
              <a:rPr lang="en-US" sz="2000" dirty="0">
                <a:solidFill>
                  <a:srgbClr val="E6E6E6"/>
                </a:solidFill>
                <a:latin typeface="Red Hat Mono" pitchFamily="34" charset="0"/>
                <a:ea typeface="Red Hat Mono" pitchFamily="34" charset="-122"/>
                <a:cs typeface="Red Hat Mono" pitchFamily="34" charset="-120"/>
              </a:rPr>
              <a:t>version: 0.1.0
</a:t>
            </a:r>
            <a:r>
              <a:rPr lang="en-US" sz="2000" dirty="0">
                <a:solidFill>
                  <a:srgbClr val="E6E6E6"/>
                </a:solidFill>
                <a:latin typeface="Red Hat Mono" pitchFamily="34" charset="0"/>
                <a:ea typeface="Red Hat Mono" pitchFamily="34" charset="-122"/>
                <a:cs typeface="Red Hat Mono" pitchFamily="34" charset="-120"/>
              </a:rPr>
              <a:t>runtime: extism/v1
</a:t>
            </a:r>
            <a:r>
              <a:rPr lang="en-US" sz="2000" dirty="0">
                <a:solidFill>
                  <a:srgbClr val="E6E6E6"/>
                </a:solidFill>
                <a:latin typeface="Red Hat Mono" pitchFamily="34" charset="0"/>
                <a:ea typeface="Red Hat Mono" pitchFamily="34" charset="-122"/>
                <a:cs typeface="Red Hat Mono" pitchFamily="34" charset="-120"/>
              </a:rPr>
              <a:t>runtimeConfig:
</a:t>
            </a:r>
            <a:r>
              <a:rPr lang="en-US" sz="2000" dirty="0">
                <a:solidFill>
                  <a:srgbClr val="E6E6E6"/>
                </a:solidFill>
                <a:latin typeface="Red Hat Mono" pitchFamily="34" charset="0"/>
                <a:ea typeface="Red Hat Mono" pitchFamily="34" charset="-122"/>
                <a:cs typeface="Red Hat Mono" pitchFamily="34" charset="-120"/>
              </a:rPr>
              <a:t>  memory:
</a:t>
            </a:r>
            <a:r>
              <a:rPr lang="en-US" sz="2000" dirty="0">
                <a:solidFill>
                  <a:srgbClr val="E6E6E6"/>
                </a:solidFill>
                <a:latin typeface="Red Hat Mono" pitchFamily="34" charset="0"/>
                <a:ea typeface="Red Hat Mono" pitchFamily="34" charset="-122"/>
                <a:cs typeface="Red Hat Mono" pitchFamily="34" charset="-120"/>
              </a:rPr>
              <a:t>    maxPages: 256
</a:t>
            </a: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r>
              <a:rPr lang="en-US" sz="2000" dirty="0">
                <a:solidFill>
                  <a:srgbClr val="8FB98F"/>
                </a:solidFill>
                <a:latin typeface="Red Hat Mono" pitchFamily="34" charset="0"/>
                <a:ea typeface="Red Hat Mono" pitchFamily="34" charset="-122"/>
                <a:cs typeface="Red Hat Mono" pitchFamily="34" charset="-120"/>
              </a:rPr>
              <a:t>//go:wasmexport helm_plugin_main
</a:t>
            </a:r>
            <a:r>
              <a:rPr lang="en-US" sz="2000" dirty="0">
                <a:solidFill>
                  <a:srgbClr val="E6E6E6"/>
                </a:solidFill>
                <a:latin typeface="Red Hat Mono" pitchFamily="34" charset="0"/>
                <a:ea typeface="Red Hat Mono" pitchFamily="34" charset="-122"/>
                <a:cs typeface="Red Hat Mono" pitchFamily="34" charset="-120"/>
              </a:rPr>
              <a:t>func helmPluginMain() uint32 { ...; return 0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r>
              <a:rPr lang="en-US" sz="2000" dirty="0">
                <a:solidFill>
                  <a:srgbClr val="E6E6E6"/>
                </a:solidFill>
                <a:latin typeface="Red Hat Mono" pitchFamily="34" charset="0"/>
                <a:ea typeface="Red Hat Mono" pitchFamily="34" charset="-122"/>
                <a:cs typeface="Red Hat Mono" pitchFamily="34" charset="-120"/>
              </a:rPr>
              <a:t>[host]$ GOOS=wasip1 GOARCH=wasm go build \
</a:t>
            </a:r>
            <a:r>
              <a:rPr lang="en-US" sz="2000" dirty="0">
                <a:solidFill>
                  <a:srgbClr val="E6E6E6"/>
                </a:solidFill>
                <a:latin typeface="Red Hat Mono" pitchFamily="34" charset="0"/>
                <a:ea typeface="Red Hat Mono" pitchFamily="34" charset="-122"/>
                <a:cs typeface="Red Hat Mono" pitchFamily="34" charset="-120"/>
              </a:rPr>
              <a:t>          -buildmode=c-shared -o plugin.wasm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r>
              <a:rPr lang="en-US" sz="1650" dirty="0">
                <a:solidFill>
                  <a:srgbClr val="E6E6E6"/>
                </a:solidFill>
                <a:latin typeface="Red Hat Mono" pitchFamily="34" charset="0"/>
                <a:ea typeface="Red Hat Mono" pitchFamily="34" charset="-122"/>
                <a:cs typeface="Red Hat Mono" pitchFamily="34" charset="-120"/>
              </a:rPr>
              <a:t>  wait: true
</a:t>
            </a:r>
            <a:r>
              <a:rPr lang="en-US" sz="1650" dirty="0">
                <a:solidFill>
                  <a:srgbClr val="E6E6E6"/>
                </a:solidFill>
                <a:latin typeface="Red Hat Mono" pitchFamily="34" charset="0"/>
                <a:ea typeface="Red Hat Mono" pitchFamily="34" charset="-122"/>
                <a:cs typeface="Red Hat Mono" pitchFamily="34" charset="-120"/>
              </a:rPr>
              <a:t>  timeout: 600
</a:t>
            </a:r>
            <a:r>
              <a:rPr lang="en-US" sz="1650" dirty="0">
                <a:solidFill>
                  <a:srgbClr val="E6E6E6"/>
                </a:solidFill>
                <a:latin typeface="Red Hat Mono" pitchFamily="34" charset="0"/>
                <a:ea typeface="Red Hat Mono" pitchFamily="34" charset="-122"/>
                <a:cs typeface="Red Hat Mono" pitchFamily="34" charset="-120"/>
              </a:rPr>
              <a:t>  createNamespace: true
</a:t>
            </a:r>
            <a:r>
              <a:rPr lang="en-US" sz="1650" dirty="0">
                <a:solidFill>
                  <a:srgbClr val="E6E6E6"/>
                </a:solidFill>
                <a:latin typeface="Red Hat Mono" pitchFamily="34" charset="0"/>
                <a:ea typeface="Red Hat Mono" pitchFamily="34" charset="-122"/>
                <a:cs typeface="Red Hat Mono" pitchFamily="34" charset="-120"/>
              </a:rPr>
              <a:t>  rollbackOnFailure: true      # Helm 4 flag
</a:t>
            </a:r>
            <a:r>
              <a:rPr lang="en-US" sz="1650" dirty="0">
                <a:solidFill>
                  <a:srgbClr val="E6E6E6"/>
                </a:solidFill>
                <a:latin typeface="Red Hat Mono" pitchFamily="34" charset="0"/>
                <a:ea typeface="Red Hat Mono" pitchFamily="34" charset="-122"/>
                <a:cs typeface="Red Hat Mono" pitchFamily="34" charset="-120"/>
              </a:rPr>
              <a:t>releases:
</a:t>
            </a:r>
            <a:r>
              <a:rPr lang="en-US" sz="1650" dirty="0">
                <a:solidFill>
                  <a:srgbClr val="E6E6E6"/>
                </a:solidFill>
                <a:latin typeface="Red Hat Mono" pitchFamily="34" charset="0"/>
                <a:ea typeface="Red Hat Mono" pitchFamily="34" charset="-122"/>
                <a:cs typeface="Red Hat Mono" pitchFamily="34" charset="-120"/>
              </a:rPr>
              <a:t>  - name: platform
</a:t>
            </a:r>
            <a:r>
              <a:rPr lang="en-US" sz="1650" dirty="0">
                <a:solidFill>
                  <a:srgbClr val="E6E6E6"/>
                </a:solidFill>
                <a:latin typeface="Red Hat Mono" pitchFamily="34" charset="0"/>
                <a:ea typeface="Red Hat Mono" pitchFamily="34" charset="-122"/>
                <a:cs typeface="Red Hat Mono" pitchFamily="34" charset="-120"/>
              </a:rPr>
              <a:t>    namespace: hfd-24-prod
</a:t>
            </a:r>
            <a:r>
              <a:rPr lang="en-US" sz="1650" dirty="0">
                <a:solidFill>
                  <a:srgbClr val="E6E6E6"/>
                </a:solidFill>
                <a:latin typeface="Red Hat Mono" pitchFamily="34" charset="0"/>
                <a:ea typeface="Red Hat Mono" pitchFamily="34" charset="-122"/>
                <a:cs typeface="Red Hat Mono" pitchFamily="34" charset="-120"/>
              </a:rPr>
              <a:t>    chart: ./charts/shipping-platform
</a:t>
            </a: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r>
              <a:rPr lang="en-US" sz="1650" dirty="0">
                <a:solidFill>
                  <a:srgbClr val="E6E6E6"/>
                </a:solidFill>
                <a:latin typeface="Red Hat Mono" pitchFamily="34" charset="0"/>
                <a:ea typeface="Red Hat Mono" pitchFamily="34" charset="-122"/>
                <a:cs typeface="Red Hat Mono" pitchFamily="34" charset="-120"/>
              </a:rPr>
              <a:t>    labels:
</a:t>
            </a:r>
            <a:r>
              <a:rPr lang="en-US" sz="1650" dirty="0">
                <a:solidFill>
                  <a:srgbClr val="E6E6E6"/>
                </a:solidFill>
                <a:latin typeface="Red Hat Mono" pitchFamily="34" charset="0"/>
                <a:ea typeface="Red Hat Mono" pitchFamily="34" charset="-122"/>
                <a:cs typeface="Red Hat Mono" pitchFamily="34" charset="-120"/>
              </a:rPr>
              <a:t>      env: prod
</a:t>
            </a:r>
            <a:r>
              <a:rPr lang="en-US" sz="1650" dirty="0">
                <a:solidFill>
                  <a:srgbClr val="E6E6E6"/>
                </a:solidFill>
                <a:latin typeface="Red Hat Mono" pitchFamily="34" charset="0"/>
                <a:ea typeface="Red Hat Mono" pitchFamily="34" charset="-122"/>
                <a:cs typeface="Red Hat Mono" pitchFamily="34" charset="-120"/>
              </a:rPr>
              <a:t>    values:
</a:t>
            </a:r>
            <a:r>
              <a:rPr lang="en-US" sz="1650" dirty="0">
                <a:solidFill>
                  <a:srgbClr val="E6E6E6"/>
                </a:solidFill>
                <a:latin typeface="Red Hat Mono" pitchFamily="34" charset="0"/>
                <a:ea typeface="Red Hat Mono" pitchFamily="34" charset="-122"/>
                <a:cs typeface="Red Hat Mono" pitchFamily="34" charset="-120"/>
              </a:rPr>
              <a:t>      - charts/shipping-platform/values-prod.yaml
</a:t>
            </a: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a:t>
            </a:r>
            <a:r>
              <a:rPr lang="en-US" sz="1200" i="1" dirty="0">
                <a:solidFill>
                  <a:srgbClr val="151515"/>
                </a:solidFill>
                <a:latin typeface="Red Hat Mono" pitchFamily="34" charset="0"/>
                <a:ea typeface="Red Hat Mono" pitchFamily="34" charset="-122"/>
                <a:cs typeface="Red Hat Mono" pitchFamily="34" charset="-120"/>
              </a:rPr>
              <a:t>-l</a:t>
            </a:r>
            <a:r>
              <a:rPr lang="en-US" sz="1300" i="1" dirty="0">
                <a:solidFill>
                  <a:srgbClr val="5A5A5A"/>
                </a:solidFill>
                <a:latin typeface="Red Hat Text" pitchFamily="34" charset="0"/>
                <a:ea typeface="Red Hat Text" pitchFamily="34" charset="-122"/>
                <a:cs typeface="Red Hat Text" pitchFamily="34" charset="-120"/>
              </a:rPr>
              <a:t> env=prod template </a:t>
            </a:r>
            <a:r>
              <a:rPr lang="en-US" sz="1200" i="1" dirty="0">
                <a:solidFill>
                  <a:srgbClr val="151515"/>
                </a:solidFill>
                <a:latin typeface="Red Hat Mono" pitchFamily="34" charset="0"/>
                <a:ea typeface="Red Hat Mono" pitchFamily="34" charset="-122"/>
                <a:cs typeface="Red Hat Mono" pitchFamily="34" charset="-120"/>
              </a:rPr>
              <a:t>--skip-deps</a:t>
            </a:r>
            <a:r>
              <a:rPr lang="en-US" sz="1300" i="1" dirty="0">
                <a:solidFill>
                  <a:srgbClr val="5A5A5A"/>
                </a:solidFill>
                <a:latin typeface="Red Hat Text" pitchFamily="34" charset="0"/>
                <a:ea typeface="Red Hat Text" pitchFamily="34" charset="-122"/>
                <a:cs typeface="Red Hat Text" pitchFamily="34" charset="-120"/>
              </a:rPr>
              <a:t>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3603346"/>
          </a:xfrm>
          <a:prstGeom prst="rect">
            <a:avLst/>
          </a:prstGeom>
          <a:solidFill>
            <a:srgbClr val="151515"/>
          </a:solidFill>
          <a:ln w="12700">
            <a:solidFill>
              <a:srgbClr val="151515"/>
            </a:solidFill>
            <a:prstDash val="solid"/>
          </a:ln>
        </p:spPr>
      </p:sp>
      <p:sp>
        <p:nvSpPr>
          <p:cNvPr id="8" name="Text 5"/>
          <p:cNvSpPr/>
          <p:nvPr/>
        </p:nvSpPr>
        <p:spPr>
          <a:xfrm>
            <a:off x="749808" y="1508760"/>
            <a:ext cx="10689336" cy="3420466"/>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define "pc-lib.otelEnv" -}}
</a:t>
            </a:r>
            <a:r>
              <a:rPr lang="en-US" sz="1600" dirty="0">
                <a:solidFill>
                  <a:srgbClr val="E6E6E6"/>
                </a:solidFill>
                <a:latin typeface="Red Hat Mono" pitchFamily="34" charset="0"/>
                <a:ea typeface="Red Hat Mono" pitchFamily="34" charset="-122"/>
                <a:cs typeface="Red Hat Mono" pitchFamily="34" charset="-120"/>
              </a:rPr>
              <a:t>{{- $global := default (dict) .Values.global -}}
</a:t>
            </a:r>
            <a:r>
              <a:rPr lang="en-US" sz="16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r>
              <a:rPr lang="en-US" sz="1600" dirty="0">
                <a:solidFill>
                  <a:srgbClr val="E6E6E6"/>
                </a:solidFill>
                <a:latin typeface="Red Hat Mono" pitchFamily="34" charset="0"/>
                <a:ea typeface="Red Hat Mono" pitchFamily="34" charset="-122"/>
                <a:cs typeface="Red Hat Mono" pitchFamily="34" charset="-120"/>
              </a:rPr>
              <a:t>- name: OTEL_SDK_DISABLED
</a:t>
            </a:r>
            <a:r>
              <a:rPr lang="en-US" sz="1600" dirty="0">
                <a:solidFill>
                  <a:srgbClr val="E6E6E6"/>
                </a:solidFill>
                <a:latin typeface="Red Hat Mono" pitchFamily="34" charset="0"/>
                <a:ea typeface="Red Hat Mono" pitchFamily="34" charset="-122"/>
                <a:cs typeface="Red Hat Mono" pitchFamily="34" charset="-120"/>
              </a:rPr>
              <a:t>  value: {{ if $endpoint }}"false"{{ else }}"true"{{ end }}
</a:t>
            </a:r>
            <a:r>
              <a:rPr lang="en-US" sz="1600" dirty="0">
                <a:solidFill>
                  <a:srgbClr val="E6E6E6"/>
                </a:solidFill>
                <a:latin typeface="Red Hat Mono" pitchFamily="34" charset="0"/>
                <a:ea typeface="Red Hat Mono" pitchFamily="34" charset="-122"/>
                <a:cs typeface="Red Hat Mono" pitchFamily="34" charset="-120"/>
              </a:rPr>
              <a:t>{{- if $endpoint }}
</a:t>
            </a:r>
            <a:r>
              <a:rPr lang="en-US" sz="1600" dirty="0">
                <a:solidFill>
                  <a:srgbClr val="E6E6E6"/>
                </a:solidFill>
                <a:latin typeface="Red Hat Mono" pitchFamily="34" charset="0"/>
                <a:ea typeface="Red Hat Mono" pitchFamily="34" charset="-122"/>
                <a:cs typeface="Red Hat Mono" pitchFamily="34" charset="-120"/>
              </a:rPr>
              <a:t>- name: OTEL_EXPORTER_OTLP_ENDPOINT
</a:t>
            </a:r>
            <a:r>
              <a:rPr lang="en-US" sz="1600" dirty="0">
                <a:solidFill>
                  <a:srgbClr val="E6E6E6"/>
                </a:solidFill>
                <a:latin typeface="Red Hat Mono" pitchFamily="34" charset="0"/>
                <a:ea typeface="Red Hat Mono" pitchFamily="34" charset="-122"/>
                <a:cs typeface="Red Hat Mono" pitchFamily="34" charset="-120"/>
              </a:rPr>
              <a:t>  value: {{ $endpoint | quote }}
</a:t>
            </a:r>
            <a:r>
              <a:rPr lang="en-US" sz="1600" dirty="0">
                <a:solidFill>
                  <a:srgbClr val="E6E6E6"/>
                </a:solidFill>
                <a:latin typeface="Red Hat Mono" pitchFamily="34" charset="0"/>
                <a:ea typeface="Red Hat Mono" pitchFamily="34" charset="-122"/>
                <a:cs typeface="Red Hat Mono" pitchFamily="34" charset="-120"/>
              </a:rPr>
              <a:t>{{- end }}
</a:t>
            </a:r>
            <a:r>
              <a:rPr lang="en-US" sz="1600" dirty="0">
                <a:solidFill>
                  <a:srgbClr val="8FB98F"/>
                </a:solidFill>
                <a:latin typeface="Red Hat Mono" pitchFamily="34" charset="0"/>
                <a:ea typeface="Red Hat Mono" pitchFamily="34" charset="-122"/>
                <a:cs typeface="Red Hat Mono" pitchFamily="34" charset="-120"/>
              </a:rPr>
              <a:t># umbrella values.yaml
</a:t>
            </a:r>
            <a:r>
              <a:rPr lang="en-US" sz="1600" dirty="0">
                <a:solidFill>
                  <a:srgbClr val="E6E6E6"/>
                </a:solidFill>
                <a:latin typeface="Red Hat Mono" pitchFamily="34" charset="0"/>
                <a:ea typeface="Red Hat Mono" pitchFamily="34" charset="-122"/>
                <a:cs typeface="Red Hat Mono" pitchFamily="34" charset="-120"/>
              </a:rPr>
              <a:t>global:
</a:t>
            </a:r>
            <a:r>
              <a:rPr lang="en-US" sz="16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600" dirty="0"/>
          </a:p>
        </p:txBody>
      </p:sp>
      <p:sp>
        <p:nvSpPr>
          <p:cNvPr id="9" name="Text 6"/>
          <p:cNvSpPr/>
          <p:nvPr/>
        </p:nvSpPr>
        <p:spPr>
          <a:xfrm>
            <a:off x="566928" y="511210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r>
              <a:rPr lang="en-US" sz="20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r>
              <a:rPr lang="en-US" sz="20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r>
              <a:rPr lang="en-US" sz="20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r>
              <a:rPr lang="en-US" sz="20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42879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45910"/>
          </a:xfrm>
          <a:prstGeom prst="rect">
            <a:avLst/>
          </a:prstGeom>
          <a:noFill/>
          <a:ln/>
        </p:spPr>
        <p:txBody>
          <a:bodyPr wrap="square" rtlCol="0" anchor="t"/>
          <a:lstStyle/>
          <a:p>
            <a:pPr algn="l" indent="0" marL="0">
              <a:lnSpc>
                <a:spcPct val="110000"/>
              </a:lnSpc>
              <a:buNone/>
            </a:pPr>
            <a:r>
              <a:rPr lang="en-US" sz="1650" dirty="0">
                <a:solidFill>
                  <a:srgbClr val="8FB98F"/>
                </a:solidFill>
                <a:latin typeface="Red Hat Mono" pitchFamily="34" charset="0"/>
                <a:ea typeface="Red Hat Mono" pitchFamily="34" charset="-122"/>
                <a:cs typeface="Red Hat Mono" pitchFamily="34" charset="-120"/>
              </a:rPr>
              <a:t># Same chart as minikube, with the OpenShift overrides
</a:t>
            </a:r>
            <a:r>
              <a:rPr lang="en-US" sz="1650" dirty="0">
                <a:solidFill>
                  <a:srgbClr val="E6E6E6"/>
                </a:solidFill>
                <a:latin typeface="Red Hat Mono" pitchFamily="34" charset="0"/>
                <a:ea typeface="Red Hat Mono" pitchFamily="34" charset="-122"/>
                <a:cs typeface="Red Hat Mono" pitchFamily="34" charset="-120"/>
              </a:rPr>
              <a:t>[crc-host]$ helm upgrade --install platform charts/shipping-platform -n hfd-ocp \
</a:t>
            </a:r>
            <a:r>
              <a:rPr lang="en-US" sz="1650" dirty="0">
                <a:solidFill>
                  <a:srgbClr val="E6E6E6"/>
                </a:solidFill>
                <a:latin typeface="Red Hat Mono" pitchFamily="34" charset="0"/>
                <a:ea typeface="Red Hat Mono" pitchFamily="34" charset="-122"/>
                <a:cs typeface="Red Hat Mono" pitchFamily="34" charset="-120"/>
              </a:rPr>
              <a:t>          -f values-openshift.yaml -f values-openshift-minimal.yaml \
</a:t>
            </a:r>
            <a:r>
              <a:rPr lang="en-US" sz="1650" dirty="0">
                <a:solidFill>
                  <a:srgbClr val="E6E6E6"/>
                </a:solidFill>
                <a:latin typeface="Red Hat Mono" pitchFamily="34" charset="0"/>
                <a:ea typeface="Red Hat Mono" pitchFamily="34" charset="-122"/>
                <a:cs typeface="Red Hat Mono" pitchFamily="34" charset="-120"/>
              </a:rPr>
              <a:t>          --wait --rollback-on-failure
</a:t>
            </a:r>
            <a:r>
              <a:rPr lang="en-US" sz="1650" dirty="0">
                <a:solidFill>
                  <a:srgbClr val="8FB98F"/>
                </a:solidFill>
                <a:latin typeface="Red Hat Mono" pitchFamily="34" charset="0"/>
                <a:ea typeface="Red Hat Mono" pitchFamily="34" charset="-122"/>
                <a:cs typeface="Red Hat Mono" pitchFamily="34" charset="-120"/>
              </a:rPr>
              <a:t># values-openshift.yaml
</a:t>
            </a:r>
            <a:r>
              <a:rPr lang="en-US" sz="1650" dirty="0">
                <a:solidFill>
                  <a:srgbClr val="E6E6E6"/>
                </a:solidFill>
                <a:latin typeface="Red Hat Mono" pitchFamily="34" charset="0"/>
                <a:ea typeface="Red Hat Mono" pitchFamily="34" charset="-122"/>
                <a:cs typeface="Red Hat Mono" pitchFamily="34" charset="-120"/>
              </a:rPr>
              <a:t>global:
</a:t>
            </a:r>
            <a:r>
              <a:rPr lang="en-US" sz="1650" dirty="0">
                <a:solidFill>
                  <a:srgbClr val="E6E6E6"/>
                </a:solidFill>
                <a:latin typeface="Red Hat Mono" pitchFamily="34" charset="0"/>
                <a:ea typeface="Red Hat Mono" pitchFamily="34" charset="-122"/>
                <a:cs typeface="Red Hat Mono" pitchFamily="34" charset="-120"/>
              </a:rPr>
              <a:t>  environment: openshift
</a:t>
            </a:r>
            <a:r>
              <a:rPr lang="en-US" sz="16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r>
              <a:rPr lang="en-US" sz="1650" dirty="0">
                <a:solidFill>
                  <a:srgbClr val="E6E6E6"/>
                </a:solidFill>
                <a:latin typeface="Red Hat Mono" pitchFamily="34" charset="0"/>
                <a:ea typeface="Red Hat Mono" pitchFamily="34" charset="-122"/>
                <a:cs typeface="Red Hat Mono" pitchFamily="34" charset="-120"/>
              </a:rPr>
              <a:t>shipping:
</a:t>
            </a:r>
            <a:r>
              <a:rPr lang="en-US" sz="1650" dirty="0">
                <a:solidFill>
                  <a:srgbClr val="E6E6E6"/>
                </a:solidFill>
                <a:latin typeface="Red Hat Mono" pitchFamily="34" charset="0"/>
                <a:ea typeface="Red Hat Mono" pitchFamily="34" charset="-122"/>
                <a:cs typeface="Red Hat Mono" pitchFamily="34" charset="-120"/>
              </a:rPr>
              <a:t>  service:
</a:t>
            </a:r>
            <a:r>
              <a:rPr lang="en-US" sz="1650" dirty="0">
                <a:solidFill>
                  <a:srgbClr val="E6E6E6"/>
                </a:solidFill>
                <a:latin typeface="Red Hat Mono" pitchFamily="34" charset="0"/>
                <a:ea typeface="Red Hat Mono" pitchFamily="34" charset="-122"/>
                <a:cs typeface="Red Hat Mono" pitchFamily="34" charset="-120"/>
              </a:rPr>
              <a:t>    type: ClusterIP
</a:t>
            </a:r>
            <a:endParaRPr lang="en-US" sz="1650" dirty="0"/>
          </a:p>
        </p:txBody>
      </p:sp>
      <p:sp>
        <p:nvSpPr>
          <p:cNvPr id="9" name="Text 6"/>
          <p:cNvSpPr/>
          <p:nvPr/>
        </p:nvSpPr>
        <p:spPr>
          <a:xfrm>
            <a:off x="566928" y="493755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Developer console: expose a chart repository to one project
</a:t>
            </a:r>
            <a:r>
              <a:rPr lang="en-US" sz="2000" dirty="0">
                <a:solidFill>
                  <a:srgbClr val="E6E6E6"/>
                </a:solidFill>
                <a:latin typeface="Red Hat Mono" pitchFamily="34" charset="0"/>
                <a:ea typeface="Red Hat Mono" pitchFamily="34" charset="-122"/>
                <a:cs typeface="Red Hat Mono" pitchFamily="34" charset="-120"/>
              </a:rPr>
              <a:t>apiVersion: helm.openshift.io/v1beta1
</a:t>
            </a:r>
            <a:r>
              <a:rPr lang="en-US" sz="2000" dirty="0">
                <a:solidFill>
                  <a:srgbClr val="E6E6E6"/>
                </a:solidFill>
                <a:latin typeface="Red Hat Mono" pitchFamily="34" charset="0"/>
                <a:ea typeface="Red Hat Mono" pitchFamily="34" charset="-122"/>
                <a:cs typeface="Red Hat Mono" pitchFamily="34" charset="-120"/>
              </a:rPr>
              <a:t>kind: ProjectHelmChartRepository
</a:t>
            </a:r>
            <a:r>
              <a:rPr lang="en-US" sz="2000" dirty="0">
                <a:solidFill>
                  <a:srgbClr val="E6E6E6"/>
                </a:solidFill>
                <a:latin typeface="Red Hat Mono" pitchFamily="34" charset="0"/>
                <a:ea typeface="Red Hat Mono" pitchFamily="34" charset="-122"/>
                <a:cs typeface="Red Hat Mono" pitchFamily="34" charset="-120"/>
              </a:rPr>
              <a:t>metadata:
</a:t>
            </a:r>
            <a:r>
              <a:rPr lang="en-US" sz="2000" dirty="0">
                <a:solidFill>
                  <a:srgbClr val="E6E6E6"/>
                </a:solidFill>
                <a:latin typeface="Red Hat Mono" pitchFamily="34" charset="0"/>
                <a:ea typeface="Red Hat Mono" pitchFamily="34" charset="-122"/>
                <a:cs typeface="Red Hat Mono" pitchFamily="34" charset="-120"/>
              </a:rPr>
              <a:t>  name: hfd-charts
</a:t>
            </a:r>
            <a:r>
              <a:rPr lang="en-US" sz="2000" dirty="0">
                <a:solidFill>
                  <a:srgbClr val="E6E6E6"/>
                </a:solidFill>
                <a:latin typeface="Red Hat Mono" pitchFamily="34" charset="0"/>
                <a:ea typeface="Red Hat Mono" pitchFamily="34" charset="-122"/>
                <a:cs typeface="Red Hat Mono" pitchFamily="34" charset="-120"/>
              </a:rPr>
              <a:t>  namespace: hfd-ocp
</a:t>
            </a:r>
            <a:r>
              <a:rPr lang="en-US" sz="2000" dirty="0">
                <a:solidFill>
                  <a:srgbClr val="E6E6E6"/>
                </a:solidFill>
                <a:latin typeface="Red Hat Mono" pitchFamily="34" charset="0"/>
                <a:ea typeface="Red Hat Mono" pitchFamily="34" charset="-122"/>
                <a:cs typeface="Red Hat Mono" pitchFamily="34" charset="-120"/>
              </a:rPr>
              <a:t>spec:
</a:t>
            </a:r>
            <a:r>
              <a:rPr lang="en-US" sz="2000" dirty="0">
                <a:solidFill>
                  <a:srgbClr val="E6E6E6"/>
                </a:solidFill>
                <a:latin typeface="Red Hat Mono" pitchFamily="34" charset="0"/>
                <a:ea typeface="Red Hat Mono" pitchFamily="34" charset="-122"/>
                <a:cs typeface="Red Hat Mono" pitchFamily="34" charset="-120"/>
              </a:rPr>
              <a:t>  connectionConfig:
</a:t>
            </a:r>
            <a:r>
              <a:rPr lang="en-US" sz="2000" dirty="0">
                <a:solidFill>
                  <a:srgbClr val="E6E6E6"/>
                </a:solidFill>
                <a:latin typeface="Red Hat Mono" pitchFamily="34" charset="0"/>
                <a:ea typeface="Red Hat Mono" pitchFamily="34" charset="-122"/>
                <a:cs typeface="Red Hat Mono" pitchFamily="34" charset="-120"/>
              </a:rPr>
              <a:t>    url: https://&lt;your-chart-repo-host&gt;/charts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replace the placeholder URL with a repository that publishes an index.yaml.</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r>
              <a:rPr lang="en-US" sz="18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r>
              <a:rPr lang="en-US" sz="18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r>
              <a:rPr lang="en-US" sz="18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r>
              <a:rPr lang="en-US" sz="18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r>
              <a:rPr lang="en-US" sz="18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-u</a:t>
                      </a:r>
                      <a:r>
                        <a:rPr lang="en-US" sz="1400" dirty="0">
                          <a:solidFill>
                            <a:srgbClr val="242424"/>
                          </a:solidFill>
                          <a:latin typeface="Red Hat Text" pitchFamily="34" charset="0"/>
                          <a:ea typeface="Red Hat Text" pitchFamily="34" charset="-122"/>
                          <a:cs typeface="Red Hat Text" pitchFamily="34" charset="-120"/>
                        </a:rPr>
                        <a:t>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--plain-http</a:t>
                      </a:r>
                      <a:r>
                        <a:rPr lang="en-US" sz="1400" dirty="0">
                          <a:solidFill>
                            <a:srgbClr val="242424"/>
                          </a:solidFill>
                          <a:latin typeface="Red Hat Text" pitchFamily="34" charset="0"/>
                          <a:ea typeface="Red Hat Text" pitchFamily="34" charset="-122"/>
                          <a:cs typeface="Red Hat Text" pitchFamily="34" charset="-120"/>
                        </a:rPr>
                        <a:t>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--post-renderer-args</a:t>
                      </a:r>
                      <a:r>
                        <a:rPr lang="en-US" sz="1400" dirty="0">
                          <a:solidFill>
                            <a:srgbClr val="242424"/>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2026-10-08T18:32:08Z</dcterms:created>
  <dcterms:modified xsi:type="dcterms:W3CDTF">2026-10-08T18:32:08Z</dcterms:modified>
</cp:coreProperties>
</file>