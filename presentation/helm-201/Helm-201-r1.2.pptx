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reference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reference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`runtime: extism/v1` tells Helm to load plugin.wasm into the Extism runtime instead of running a platform command.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entry point is the exported `helm_plugin_main`; input and output are JSON through the Extism PDK, and the plugin returns an empty JSON object on success. The example builds with Go targeting wasip1 and the resulting plugin.wasm sits beside plugin.yaml.
What to show: `cd examples/22-plugins &amp;&amp; ./demo.sh` prints the greeting.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127.0.0.1:30300 (published NodePort);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either Strimzi 1.2.0 or Streams for Apache Kafka 3.2.1 from OperatorHub, and the minimal profile, all passing verify-crc.sh. The two Kafka operators own the same CRDs, so a cluster runs one of them. The Developer console Helm view was set up against the published repository; the console's own catalog listing was not opened.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reference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On OpenShift Local 2.64.0 (OpenShift 4.22.14) the Route host was generated as platform-shipping-hfd-ocp.apps-crc.testing, `/api/info` returned 200 and plain HTTP redirected with 302.
What to show: `cd examples/27-openshift-crc &amp;&amp; ./demo.sh offline` for the Route render; on CRC, `./verify-crc.sh`.
Fallback: the offline render; the OpenShift Container Platform documentation for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`ProjectHelmChartRepository` makes a chart repository visible in the Developer console's Helm catalog for one project. On OpenShift Local 2.64.0 the resource was accepted with the published URL, the console pod read the index (HTTP 200) and `helm search repo` listed all six charts. The console's catalog listing needs a browser login and was not opened.
What to show: `oc get projecthelmchartrepository -n hfd-ocp` on a CRC host; open Developer, Helm, Create to see the catalog.
Fallback: the YAML on this slide and the chapter 27 section on the Developer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Helm 201 deck. The two codes take it with you: on the left, the workshop site: the chapters, the runnable charts, and the hands-on labs.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r1.2</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Testing and debugging: the debug ladder,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 and release</a:t>
            </a:r>
            <a:r>
              <a:rPr lang="en-US" sz="2000" dirty="0">
                <a:solidFill>
                  <a:srgbClr val="242424"/>
                </a:solidFill>
                <a:latin typeface="Red Hat Text" pitchFamily="34" charset="0"/>
                <a:ea typeface="Red Hat Text" pitchFamily="34" charset="-122"/>
                <a:cs typeface="Red Hat Text" pitchFamily="34" charset="-120"/>
              </a:rPr>
              <a:t>: a chart is the package, a release is one install of it, stored as a Secret in the release namespace.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chart defaults, then </a:t>
            </a:r>
            <a:r>
              <a:rPr lang="en-US" sz="1900" dirty="0">
                <a:solidFill>
                  <a:srgbClr val="151515"/>
                </a:solidFill>
                <a:latin typeface="Red Hat Mono" pitchFamily="34" charset="0"/>
                <a:ea typeface="Red Hat Mono" pitchFamily="34" charset="-122"/>
                <a:cs typeface="Red Hat Mono" pitchFamily="34" charset="-120"/>
              </a:rPr>
              <a:t>-f</a:t>
            </a:r>
            <a:r>
              <a:rPr lang="en-US" sz="2000" dirty="0">
                <a:solidFill>
                  <a:srgbClr val="242424"/>
                </a:solidFill>
                <a:latin typeface="Red Hat Text" pitchFamily="34" charset="0"/>
                <a:ea typeface="Red Hat Text" pitchFamily="34" charset="-122"/>
                <a:cs typeface="Red Hat Text" pitchFamily="34" charset="-120"/>
              </a:rPr>
              <a:t> files in order, then </a:t>
            </a:r>
            <a:r>
              <a:rPr lang="en-US" sz="1900" dirty="0">
                <a:solidFill>
                  <a:srgbClr val="151515"/>
                </a:solidFill>
                <a:latin typeface="Red Hat Mono" pitchFamily="34" charset="0"/>
                <a:ea typeface="Red Hat Mono" pitchFamily="34" charset="-122"/>
                <a:cs typeface="Red Hat Mono" pitchFamily="34" charset="-120"/>
              </a:rPr>
              <a:t>--set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--set-json</a:t>
            </a:r>
            <a:r>
              <a:rPr lang="en-US" sz="2000" dirty="0">
                <a:solidFill>
                  <a:srgbClr val="242424"/>
                </a:solidFill>
                <a:latin typeface="Red Hat Text" pitchFamily="34" charset="0"/>
                <a:ea typeface="Red Hat Text" pitchFamily="34" charset="-122"/>
                <a:cs typeface="Red Hat Text" pitchFamily="34" charset="-120"/>
              </a:rPr>
              <a:t> and </a:t>
            </a:r>
            <a:r>
              <a:rPr lang="en-US" sz="1900" dirty="0">
                <a:solidFill>
                  <a:srgbClr val="151515"/>
                </a:solidFill>
                <a:latin typeface="Red Hat Mono" pitchFamily="34" charset="0"/>
                <a:ea typeface="Red Hat Mono" pitchFamily="34" charset="-122"/>
                <a:cs typeface="Red Hat Mono" pitchFamily="34" charset="-120"/>
              </a:rPr>
              <a:t>--set-file</a:t>
            </a:r>
            <a:r>
              <a:rPr lang="en-US" sz="2000" dirty="0">
                <a:solidFill>
                  <a:srgbClr val="242424"/>
                </a:solidFill>
                <a:latin typeface="Red Hat Text" pitchFamily="34" charset="0"/>
                <a:ea typeface="Red Hat Text" pitchFamily="34" charset="-122"/>
                <a:cs typeface="Red Hat Text" pitchFamily="34" charset="-120"/>
              </a:rPr>
              <a:t>; a values.schema.json rejects bad input before rendering.</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Templates</a:t>
            </a:r>
            <a:r>
              <a:rPr lang="en-US" sz="2000" dirty="0">
                <a:solidFill>
                  <a:srgbClr val="242424"/>
                </a:solidFill>
                <a:latin typeface="Red Hat Text" pitchFamily="34" charset="0"/>
                <a:ea typeface="Red Hat Text" pitchFamily="34" charset="-122"/>
                <a:cs typeface="Red Hat Text" pitchFamily="34" charset="-120"/>
              </a:rPr>
              <a:t>: Go templates plus Sprig; named templates in _helpers.tpl; include over template when the result is piped.</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Safe releases</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--wait</a:t>
            </a:r>
            <a:r>
              <a:rPr lang="en-US" sz="2000" dirty="0">
                <a:solidFill>
                  <a:srgbClr val="242424"/>
                </a:solidFill>
                <a:latin typeface="Red Hat Text" pitchFamily="34" charset="0"/>
                <a:ea typeface="Red Hat Text" pitchFamily="34" charset="-122"/>
                <a:cs typeface="Red Hat Text" pitchFamily="34" charset="-120"/>
              </a:rPr>
              <a:t> with the kstatus watcher, </a:t>
            </a:r>
            <a:r>
              <a:rPr lang="en-US" sz="1900" dirty="0">
                <a:solidFill>
                  <a:srgbClr val="151515"/>
                </a:solidFill>
                <a:latin typeface="Red Hat Mono" pitchFamily="34" charset="0"/>
                <a:ea typeface="Red Hat Mono" pitchFamily="34" charset="-122"/>
                <a:cs typeface="Red Hat Mono" pitchFamily="34" charset="-120"/>
              </a:rPr>
              <a:t>--rollback-on-failure</a:t>
            </a:r>
            <a:r>
              <a:rPr lang="en-US" sz="2000" dirty="0">
                <a:solidFill>
                  <a:srgbClr val="242424"/>
                </a:solidFill>
                <a:latin typeface="Red Hat Text" pitchFamily="34" charset="0"/>
                <a:ea typeface="Red Hat Text" pitchFamily="34" charset="-122"/>
                <a:cs typeface="Red Hat Text" pitchFamily="34" charset="-120"/>
              </a:rPr>
              <a:t>, server-side apply by default for new releases.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Rung 4: compare two chart directories locally (helm-diff plugin)
</a:t>
            </a:r>
            <a:r>
              <a:rPr lang="en-US" sz="1800" dirty="0">
                <a:solidFill>
                  <a:srgbClr val="E6E6E6"/>
                </a:solidFill>
                <a:latin typeface="Red Hat Mono" pitchFamily="34" charset="0"/>
                <a:ea typeface="Red Hat Mono" pitchFamily="34" charset="-122"/>
                <a:cs typeface="Red Hat Mono" pitchFamily="34" charset="-120"/>
              </a:rPr>
              <a:t>[host]$ helm diff local charts/shipping-service /tmp/changed
</a:t>
            </a:r>
            <a:r>
              <a:rPr lang="en-US" sz="1800" dirty="0">
                <a:solidFill>
                  <a:srgbClr val="8FB98F"/>
                </a:solidFill>
                <a:latin typeface="Red Hat Mono" pitchFamily="34" charset="0"/>
                <a:ea typeface="Red Hat Mono" pitchFamily="34" charset="-122"/>
                <a:cs typeface="Red Hat Mono" pitchFamily="34" charset="-120"/>
              </a:rPr>
              <a:t># Rung 5: resolve kinds and run lookup against the API server
</a:t>
            </a:r>
            <a:r>
              <a:rPr lang="en-US" sz="1800" dirty="0">
                <a:solidFill>
                  <a:srgbClr val="E6E6E6"/>
                </a:solidFill>
                <a:latin typeface="Red Hat Mono" pitchFamily="34" charset="0"/>
                <a:ea typeface="Red Hat Mono" pitchFamily="34" charset="-122"/>
                <a:cs typeface="Red Hat Mono" pitchFamily="34" charset="-120"/>
              </a:rPr>
              <a:t>[host]$ helm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--dry-run=server
</a:t>
            </a:r>
            <a:r>
              <a:rPr lang="en-US" sz="1800" dirty="0">
                <a:solidFill>
                  <a:srgbClr val="8FB98F"/>
                </a:solidFill>
                <a:latin typeface="Red Hat Mono" pitchFamily="34" charset="0"/>
                <a:ea typeface="Red Hat Mono" pitchFamily="34" charset="-122"/>
                <a:cs typeface="Red Hat Mono" pitchFamily="34" charset="-120"/>
              </a:rPr>
              <a:t># Rung 6: what an upgrade would change in the live release
</a:t>
            </a:r>
            <a:r>
              <a:rPr lang="en-US" sz="1800" dirty="0">
                <a:solidFill>
                  <a:srgbClr val="E6E6E6"/>
                </a:solidFill>
                <a:latin typeface="Red Hat Mono" pitchFamily="34" charset="0"/>
                <a:ea typeface="Red Hat Mono" pitchFamily="34" charset="-122"/>
                <a:cs typeface="Red Hat Mono" pitchFamily="34" charset="-120"/>
              </a:rPr>
              <a:t>[host]$ helm diff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--set replicaCount=2
</a:t>
            </a:r>
            <a:r>
              <a:rPr lang="en-US" sz="1800" dirty="0">
                <a:solidFill>
                  <a:srgbClr val="8FB98F"/>
                </a:solidFill>
                <a:latin typeface="Red Hat Mono" pitchFamily="34" charset="0"/>
                <a:ea typeface="Red Hat Mono" pitchFamily="34" charset="-122"/>
                <a:cs typeface="Red Hat Mono" pitchFamily="34" charset="-120"/>
              </a:rPr>
              <a:t># Rung 7: the stored manifest, fed back to the schema check
</a:t>
            </a:r>
            <a:r>
              <a:rPr lang="en-US" sz="1800" dirty="0">
                <a:solidFill>
                  <a:srgbClr val="E6E6E6"/>
                </a:solidFill>
                <a:latin typeface="Red Hat Mono" pitchFamily="34" charset="0"/>
                <a:ea typeface="Red Hat Mono" pitchFamily="34" charset="-122"/>
                <a:cs typeface="Red Hat Mono" pitchFamily="34" charset="-120"/>
              </a:rPr>
              <a:t>[host]$ helm get manifest shipping -n hfd-13 | kubeconform -strict -summary
</a:t>
            </a:r>
            <a:endParaRPr lang="en-US" sz="18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examples/13-debugging. </a:t>
            </a:r>
            <a:r>
              <a:rPr lang="en-US" sz="1200" i="1" dirty="0">
                <a:solidFill>
                  <a:srgbClr val="151515"/>
                </a:solidFill>
                <a:latin typeface="Red Hat Mono" pitchFamily="34" charset="0"/>
                <a:ea typeface="Red Hat Mono" pitchFamily="34" charset="-122"/>
                <a:cs typeface="Red Hat Mono" pitchFamily="34" charset="-120"/>
              </a:rPr>
              <a:t>--dry-run=server</a:t>
            </a:r>
            <a:r>
              <a:rPr lang="en-US" sz="1300" i="1" dirty="0">
                <a:solidFill>
                  <a:srgbClr val="5A5A5A"/>
                </a:solidFill>
                <a:latin typeface="Red Hat Text" pitchFamily="34" charset="0"/>
                <a:ea typeface="Red Hat Text" pitchFamily="34" charset="-122"/>
                <a:cs typeface="Red Hat Text" pitchFamily="34" charset="-120"/>
              </a:rPr>
              <a:t>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helm-unittest</a:t>
            </a:r>
            <a:r>
              <a:rPr lang="en-US" sz="3000" b="1" dirty="0">
                <a:solidFill>
                  <a:srgbClr val="151515"/>
                </a:solidFill>
                <a:latin typeface="Red Hat Display" pitchFamily="34" charset="0"/>
                <a:ea typeface="Red Hat Display" pitchFamily="34" charset="-122"/>
                <a:cs typeface="Red Hat Display" pitchFamily="34" charset="-120"/>
              </a:rPr>
              <a: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suite: shipping-service deployment
</a:t>
            </a:r>
            <a:r>
              <a:rPr lang="en-US" sz="1700" dirty="0">
                <a:solidFill>
                  <a:srgbClr val="E6E6E6"/>
                </a:solidFill>
                <a:latin typeface="Red Hat Mono" pitchFamily="34" charset="0"/>
                <a:ea typeface="Red Hat Mono" pitchFamily="34" charset="-122"/>
                <a:cs typeface="Red Hat Mono" pitchFamily="34" charset="-120"/>
              </a:rPr>
              <a:t>templates:
</a:t>
            </a:r>
            <a:r>
              <a:rPr lang="en-US" sz="1700" dirty="0">
                <a:solidFill>
                  <a:srgbClr val="E6E6E6"/>
                </a:solidFill>
                <a:latin typeface="Red Hat Mono" pitchFamily="34" charset="0"/>
                <a:ea typeface="Red Hat Mono" pitchFamily="34" charset="-122"/>
                <a:cs typeface="Red Hat Mono" pitchFamily="34" charset="-120"/>
              </a:rPr>
              <a:t>  - templates/deployment.yaml
</a:t>
            </a:r>
            <a:r>
              <a:rPr lang="en-US" sz="1700" dirty="0">
                <a:solidFill>
                  <a:srgbClr val="E6E6E6"/>
                </a:solidFill>
                <a:latin typeface="Red Hat Mono" pitchFamily="34" charset="0"/>
                <a:ea typeface="Red Hat Mono" pitchFamily="34" charset="-122"/>
                <a:cs typeface="Red Hat Mono" pitchFamily="34" charset="-120"/>
              </a:rPr>
              <a:t>tests:
</a:t>
            </a:r>
            <a:r>
              <a:rPr lang="en-US" sz="17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equal:
</a:t>
            </a:r>
            <a:r>
              <a:rPr lang="en-US" sz="1700" dirty="0">
                <a:solidFill>
                  <a:srgbClr val="E6E6E6"/>
                </a:solidFill>
                <a:latin typeface="Red Hat Mono" pitchFamily="34" charset="0"/>
                <a:ea typeface="Red Hat Mono" pitchFamily="34" charset="-122"/>
                <a:cs typeface="Red Hat Mono" pitchFamily="34" charset="-120"/>
              </a:rPr>
              <a:t>          path: spec.template.spec.containers[0].image
</a:t>
            </a:r>
            <a:r>
              <a:rPr lang="en-US" sz="1700" dirty="0">
                <a:solidFill>
                  <a:srgbClr val="E6E6E6"/>
                </a:solidFill>
                <a:latin typeface="Red Hat Mono" pitchFamily="34" charset="0"/>
                <a:ea typeface="Red Hat Mono" pitchFamily="34" charset="-122"/>
                <a:cs typeface="Red Hat Mono" pitchFamily="34" charset="-120"/>
              </a:rPr>
              <a:t>          value: shipping-service:0.1.0
</a:t>
            </a:r>
            <a:r>
              <a:rPr lang="en-US" sz="1700" dirty="0">
                <a:solidFill>
                  <a:srgbClr val="E6E6E6"/>
                </a:solidFill>
                <a:latin typeface="Red Hat Mono" pitchFamily="34" charset="0"/>
                <a:ea typeface="Red Hat Mono" pitchFamily="34" charset="-122"/>
                <a:cs typeface="Red Hat Mono" pitchFamily="34" charset="-120"/>
              </a:rPr>
              <a:t>  - it: fails when kafka is enabled without a bootstrap address
</a:t>
            </a:r>
            <a:r>
              <a:rPr lang="en-US" sz="1700" dirty="0">
                <a:solidFill>
                  <a:srgbClr val="E6E6E6"/>
                </a:solidFill>
                <a:latin typeface="Red Hat Mono" pitchFamily="34" charset="0"/>
                <a:ea typeface="Red Hat Mono" pitchFamily="34" charset="-122"/>
                <a:cs typeface="Red Hat Mono" pitchFamily="34" charset="-120"/>
              </a:rPr>
              <a:t>    set:
</a:t>
            </a:r>
            <a:r>
              <a:rPr lang="en-US" sz="1700" dirty="0">
                <a:solidFill>
                  <a:srgbClr val="E6E6E6"/>
                </a:solidFill>
                <a:latin typeface="Red Hat Mono" pitchFamily="34" charset="0"/>
                <a:ea typeface="Red Hat Mono" pitchFamily="34" charset="-122"/>
                <a:cs typeface="Red Hat Mono" pitchFamily="34" charset="-120"/>
              </a:rPr>
              <a:t>      kafka.enabled: true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failedTemplate:
</a:t>
            </a:r>
            <a:r>
              <a:rPr lang="en-US" sz="17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a:t>
            </a:r>
            <a:r>
              <a:rPr lang="en-US" sz="1200" i="1" dirty="0">
                <a:solidFill>
                  <a:srgbClr val="151515"/>
                </a:solidFill>
                <a:latin typeface="Red Hat Mono" pitchFamily="34" charset="0"/>
                <a:ea typeface="Red Hat Mono" pitchFamily="34" charset="-122"/>
                <a:cs typeface="Red Hat Mono" pitchFamily="34" charset="-120"/>
              </a:rPr>
              <a:t>-u</a:t>
            </a:r>
            <a:r>
              <a:rPr lang="en-US" sz="1300" i="1" dirty="0">
                <a:solidFill>
                  <a:srgbClr val="5A5A5A"/>
                </a:solidFill>
                <a:latin typeface="Red Hat Text" pitchFamily="34" charset="0"/>
                <a:ea typeface="Red Hat Text" pitchFamily="34" charset="-122"/>
                <a:cs typeface="Red Hat Text" pitchFamily="34" charset="-120"/>
              </a:rPr>
              <a:t>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chart-testing</a:t>
            </a:r>
            <a:r>
              <a:rPr lang="en-US" sz="3000" b="1" dirty="0">
                <a:solidFill>
                  <a:srgbClr val="151515"/>
                </a:solidFill>
                <a:latin typeface="Red Hat Display" pitchFamily="34" charset="0"/>
                <a:ea typeface="Red Hat Display" pitchFamily="34" charset="-122"/>
                <a:cs typeface="Red Hat Display" pitchFamily="34" charset="-120"/>
              </a:rPr>
              <a:t>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lint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 metadata</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Chart.yaml schema, yamllint, and helm lint for every ci/*</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-values.yaml</a:t>
                      </a:r>
                      <a:r>
                        <a:rPr lang="en-US" sz="1500" dirty="0">
                          <a:solidFill>
                            <a:srgbClr val="242424"/>
                          </a:solidFill>
                          <a:latin typeface="Red Hat Text" pitchFamily="34" charset="0"/>
                          <a:ea typeface="Red Hat Text" pitchFamily="34" charset="-122"/>
                          <a:cs typeface="Red Hat Text" pitchFamily="34" charset="-120"/>
                        </a:rPr>
                        <a: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install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Cluster test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Configuration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ci/*-values.yaml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Scenarios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kubeconform</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Schema check</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1: static checks, no cluster, every push
</a:t>
            </a:r>
            <a:r>
              <a:rPr lang="en-US" sz="1800" dirty="0">
                <a:solidFill>
                  <a:srgbClr val="E6E6E6"/>
                </a:solidFill>
                <a:latin typeface="Red Hat Mono" pitchFamily="34" charset="0"/>
                <a:ea typeface="Red Hat Mono" pitchFamily="34" charset="-122"/>
                <a:cs typeface="Red Hat Mono" pitchFamily="34" charset="-120"/>
              </a:rPr>
              <a:t>[host]$ helm lint --strict charts/shipping-service
</a:t>
            </a:r>
            <a:r>
              <a:rPr lang="en-US" sz="1800" dirty="0">
                <a:solidFill>
                  <a:srgbClr val="E6E6E6"/>
                </a:solidFill>
                <a:latin typeface="Red Hat Mono" pitchFamily="34" charset="0"/>
                <a:ea typeface="Red Hat Mono" pitchFamily="34" charset="-122"/>
                <a:cs typeface="Red Hat Mono" pitchFamily="34" charset="-120"/>
              </a:rPr>
              <a:t>[host]$ helm unittest charts/shipping-service
</a:t>
            </a:r>
            <a:r>
              <a:rPr lang="en-US" sz="1800" dirty="0">
                <a:solidFill>
                  <a:srgbClr val="E6E6E6"/>
                </a:solidFill>
                <a:latin typeface="Red Hat Mono" pitchFamily="34" charset="0"/>
                <a:ea typeface="Red Hat Mono" pitchFamily="34" charset="-122"/>
                <a:cs typeface="Red Hat Mono" pitchFamily="34" charset="-120"/>
              </a:rPr>
              <a:t>[host]$ helm template shipping charts/shipping-service \
</a:t>
            </a:r>
            <a:r>
              <a:rPr lang="en-US" sz="1800" dirty="0">
                <a:solidFill>
                  <a:srgbClr val="E6E6E6"/>
                </a:solidFill>
                <a:latin typeface="Red Hat Mono" pitchFamily="34" charset="0"/>
                <a:ea typeface="Red Hat Mono" pitchFamily="34" charset="-122"/>
                <a:cs typeface="Red Hat Mono" pitchFamily="34" charset="-120"/>
              </a:rPr>
              <a:t>          -f charts/shipping-service/ci/ci-values.yaml \
</a:t>
            </a:r>
            <a:r>
              <a:rPr lang="en-US" sz="1800" dirty="0">
                <a:solidFill>
                  <a:srgbClr val="E6E6E6"/>
                </a:solidFill>
                <a:latin typeface="Red Hat Mono" pitchFamily="34" charset="0"/>
                <a:ea typeface="Red Hat Mono" pitchFamily="34" charset="-122"/>
                <a:cs typeface="Red Hat Mono" pitchFamily="34" charset="-120"/>
              </a:rPr>
              <a:t>          | kubeconform -strict -summary
</a:t>
            </a:r>
            <a:r>
              <a:rPr lang="en-US" sz="1800" dirty="0">
                <a:solidFill>
                  <a:srgbClr val="E6E6E6"/>
                </a:solidFill>
                <a:latin typeface="Red Hat Mono" pitchFamily="34" charset="0"/>
                <a:ea typeface="Red Hat Mono" pitchFamily="34" charset="-122"/>
                <a:cs typeface="Red Hat Mono" pitchFamily="34" charset="-120"/>
              </a:rPr>
              <a:t>[host]$ ct lint --config ct.yaml --all
</a:t>
            </a:r>
            <a:r>
              <a:rPr lang="en-US" sz="1800" dirty="0">
                <a:solidFill>
                  <a:srgbClr val="8FB98F"/>
                </a:solidFill>
                <a:latin typeface="Red Hat Mono" pitchFamily="34" charset="0"/>
                <a:ea typeface="Red Hat Mono" pitchFamily="34" charset="-122"/>
                <a:cs typeface="Red Hat Mono" pitchFamily="34" charset="-120"/>
              </a:rPr>
              <a:t># Stage 2: install test on a throwaway cluster
</a:t>
            </a:r>
            <a:r>
              <a:rPr lang="en-US" sz="1800" dirty="0">
                <a:solidFill>
                  <a:srgbClr val="E6E6E6"/>
                </a:solidFill>
                <a:latin typeface="Red Hat Mono" pitchFamily="34" charset="0"/>
                <a:ea typeface="Red Hat Mono" pitchFamily="34" charset="-122"/>
                <a:cs typeface="Red Hat Mono" pitchFamily="34" charset="-120"/>
              </a:rPr>
              <a:t>[host]$ ct install --charts charts/shipping-service \
</a:t>
            </a:r>
            <a:r>
              <a:rPr lang="en-US" sz="1800" dirty="0">
                <a:solidFill>
                  <a:srgbClr val="E6E6E6"/>
                </a:solidFill>
                <a:latin typeface="Red Hat Mono" pitchFamily="34" charset="0"/>
                <a:ea typeface="Red Hat Mono" pitchFamily="34" charset="-122"/>
                <a:cs typeface="Red Hat Mono" pitchFamily="34" charset="-120"/>
              </a:rPr>
              <a:t>          --helm-extra-args '--timeout 3m'
</a:t>
            </a:r>
            <a:r>
              <a:rPr lang="en-US" sz="1800" dirty="0">
                <a:solidFill>
                  <a:srgbClr val="8FB98F"/>
                </a:solidFill>
                <a:latin typeface="Red Hat Mono" pitchFamily="34" charset="0"/>
                <a:ea typeface="Red Hat Mono" pitchFamily="34" charset="-122"/>
                <a:cs typeface="Red Hat Mono" pitchFamily="34" charset="-120"/>
              </a:rPr>
              <a:t># Stage 3: publish on a version tag
</a:t>
            </a:r>
            <a:r>
              <a:rPr lang="en-US" sz="1800" dirty="0">
                <a:solidFill>
                  <a:srgbClr val="E6E6E6"/>
                </a:solidFill>
                <a:latin typeface="Red Hat Mono" pitchFamily="34" charset="0"/>
                <a:ea typeface="Red Hat Mono" pitchFamily="34" charset="-122"/>
                <a:cs typeface="Red Hat Mono" pitchFamily="34" charset="-120"/>
              </a:rPr>
              <a:t>[host]$ helm package charts/shipping-service --dependency-update -d dist
</a:t>
            </a:r>
            <a:r>
              <a:rPr lang="en-US" sz="1800" dirty="0">
                <a:solidFill>
                  <a:srgbClr val="E6E6E6"/>
                </a:solidFill>
                <a:latin typeface="Red Hat Mono" pitchFamily="34" charset="0"/>
                <a:ea typeface="Red Hat Mono" pitchFamily="34" charset="-122"/>
                <a:cs typeface="Red Hat Mono" pitchFamily="34" charset="-120"/>
              </a:rPr>
              <a:t>[host]$ helm push dist/shipping-service-1.0.0.tgz \
</a:t>
            </a:r>
            <a:r>
              <a:rPr lang="en-US" sz="1800" dirty="0">
                <a:solidFill>
                  <a:srgbClr val="E6E6E6"/>
                </a:solidFill>
                <a:latin typeface="Red Hat Mono" pitchFamily="34" charset="0"/>
                <a:ea typeface="Red Hat Mono" pitchFamily="34" charset="-122"/>
                <a:cs typeface="Red Hat Mono" pitchFamily="34" charset="-120"/>
              </a:rPr>
              <a:t>          oci://registry.example.com/charts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examples/14-</a:t>
            </a:r>
            <a:r>
              <a:rPr lang="en-US" sz="1200" i="1" dirty="0">
                <a:solidFill>
                  <a:srgbClr val="151515"/>
                </a:solidFill>
                <a:latin typeface="Red Hat Mono" pitchFamily="34" charset="0"/>
                <a:ea typeface="Red Hat Mono" pitchFamily="34" charset="-122"/>
                <a:cs typeface="Red Hat Mono" pitchFamily="34" charset="-120"/>
              </a:rPr>
              <a:t>chart-testing</a:t>
            </a:r>
            <a:r>
              <a:rPr lang="en-US" sz="1300" i="1" dirty="0">
                <a:solidFill>
                  <a:srgbClr val="5A5A5A"/>
                </a:solidFill>
                <a:latin typeface="Red Hat Text" pitchFamily="34" charset="0"/>
                <a:ea typeface="Red Hat Text" pitchFamily="34" charset="-122"/>
                <a:cs typeface="Red Hat Text" pitchFamily="34" charset="-120"/>
              </a:rPr>
              <a:t>. 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417320"/>
            <a:ext cx="11055096" cy="4301566"/>
          </a:xfrm>
          <a:prstGeom prst="rect">
            <a:avLst/>
          </a:prstGeom>
          <a:solidFill>
            <a:srgbClr val="151515"/>
          </a:solidFill>
          <a:ln w="12700">
            <a:solidFill>
              <a:srgbClr val="151515"/>
            </a:solidFill>
            <a:prstDash val="solid"/>
          </a:ln>
        </p:spPr>
      </p:sp>
      <p:sp>
        <p:nvSpPr>
          <p:cNvPr id="8" name="Text 5"/>
          <p:cNvSpPr/>
          <p:nvPr/>
        </p:nvSpPr>
        <p:spPr>
          <a:xfrm>
            <a:off x="749808" y="1508760"/>
            <a:ext cx="10689336" cy="4118686"/>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listeners:
</a:t>
            </a:r>
            <a:r>
              <a:rPr lang="en-US" sz="1950" dirty="0">
                <a:solidFill>
                  <a:srgbClr val="E6E6E6"/>
                </a:solidFill>
                <a:latin typeface="Red Hat Mono" pitchFamily="34" charset="0"/>
                <a:ea typeface="Red Hat Mono" pitchFamily="34" charset="-122"/>
                <a:cs typeface="Red Hat Mono" pitchFamily="34" charset="-120"/>
              </a:rPr>
              <a:t>      - name: plain
</a:t>
            </a:r>
            <a:r>
              <a:rPr lang="en-US" sz="1950" dirty="0">
                <a:solidFill>
                  <a:srgbClr val="E6E6E6"/>
                </a:solidFill>
                <a:latin typeface="Red Hat Mono" pitchFamily="34" charset="0"/>
                <a:ea typeface="Red Hat Mono" pitchFamily="34" charset="-122"/>
                <a:cs typeface="Red Hat Mono" pitchFamily="34" charset="-120"/>
              </a:rPr>
              <a:t>        port: 9092
</a:t>
            </a:r>
            <a:r>
              <a:rPr lang="en-US" sz="1950" dirty="0">
                <a:solidFill>
                  <a:srgbClr val="E6E6E6"/>
                </a:solidFill>
                <a:latin typeface="Red Hat Mono" pitchFamily="34" charset="0"/>
                <a:ea typeface="Red Hat Mono" pitchFamily="34" charset="-122"/>
                <a:cs typeface="Red Hat Mono" pitchFamily="34" charset="-120"/>
              </a:rPr>
              <a:t>        type: internal
</a:t>
            </a:r>
            <a:r>
              <a:rPr lang="en-US" sz="1950" dirty="0">
                <a:solidFill>
                  <a:srgbClr val="E6E6E6"/>
                </a:solidFill>
                <a:latin typeface="Red Hat Mono" pitchFamily="34" charset="0"/>
                <a:ea typeface="Red Hat Mono" pitchFamily="34" charset="-122"/>
                <a:cs typeface="Red Hat Mono" pitchFamily="34" charset="-120"/>
              </a:rPr>
              <a:t>        tls: false
</a:t>
            </a:r>
            <a:r>
              <a:rPr lang="en-US" sz="1950" dirty="0">
                <a:solidFill>
                  <a:srgbClr val="8FB98F"/>
                </a:solidFill>
                <a:latin typeface="Red Hat Mono" pitchFamily="34" charset="0"/>
                <a:ea typeface="Red Hat Mono" pitchFamily="34" charset="-122"/>
                <a:cs typeface="Red Hat Mono" pitchFamily="34" charset="-120"/>
              </a:rPr>
              <a:t># values.yaml: the contract other charts import
</a:t>
            </a:r>
            <a:r>
              <a:rPr lang="en-US" sz="1950" dirty="0">
                <a:solidFill>
                  <a:srgbClr val="E6E6E6"/>
                </a:solidFill>
                <a:latin typeface="Red Hat Mono" pitchFamily="34" charset="0"/>
                <a:ea typeface="Red Hat Mono" pitchFamily="34" charset="-122"/>
                <a:cs typeface="Red Hat Mono" pitchFamily="34" charset="-120"/>
              </a:rPr>
              <a:t>exports: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950" dirty="0"/>
          </a:p>
        </p:txBody>
      </p:sp>
      <p:sp>
        <p:nvSpPr>
          <p:cNvPr id="9" name="Text 6"/>
          <p:cNvSpPr/>
          <p:nvPr/>
        </p:nvSpPr>
        <p:spPr>
          <a:xfrm>
            <a:off x="566928" y="581032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950" dirty="0">
                <a:solidFill>
                  <a:srgbClr val="E6E6E6"/>
                </a:solidFill>
                <a:latin typeface="Red Hat Mono" pitchFamily="34" charset="0"/>
                <a:ea typeface="Red Hat Mono" pitchFamily="34" charset="-122"/>
                <a:cs typeface="Red Hat Mono" pitchFamily="34" charset="-120"/>
              </a:rPr>
              <a:t>dependencies:
</a:t>
            </a:r>
            <a:r>
              <a:rPr lang="en-US" sz="1950" dirty="0">
                <a:solidFill>
                  <a:srgbClr val="E6E6E6"/>
                </a:solidFill>
                <a:latin typeface="Red Hat Mono" pitchFamily="34" charset="0"/>
                <a:ea typeface="Red Hat Mono" pitchFamily="34" charset="-122"/>
                <a:cs typeface="Red Hat Mono" pitchFamily="34" charset="-120"/>
              </a:rPr>
              <a:t>  - name: shipping-service
</a:t>
            </a:r>
            <a:r>
              <a:rPr lang="en-US" sz="1950" dirty="0">
                <a:solidFill>
                  <a:srgbClr val="E6E6E6"/>
                </a:solidFill>
                <a:latin typeface="Red Hat Mono" pitchFamily="34" charset="0"/>
                <a:ea typeface="Red Hat Mono" pitchFamily="34" charset="-122"/>
                <a:cs typeface="Red Hat Mono" pitchFamily="34" charset="-120"/>
              </a:rPr>
              <a:t>    alias: shipping
</a:t>
            </a:r>
            <a:r>
              <a:rPr lang="en-US" sz="1950" dirty="0">
                <a:solidFill>
                  <a:srgbClr val="E6E6E6"/>
                </a:solidFill>
                <a:latin typeface="Red Hat Mono" pitchFamily="34" charset="0"/>
                <a:ea typeface="Red Hat Mono" pitchFamily="34" charset="-122"/>
                <a:cs typeface="Red Hat Mono" pitchFamily="34" charset="-120"/>
              </a:rPr>
              <a:t>    condition: shipping.enabled
</a:t>
            </a:r>
            <a:r>
              <a:rPr lang="en-US" sz="1950" dirty="0">
                <a:solidFill>
                  <a:srgbClr val="E6E6E6"/>
                </a:solidFill>
                <a:latin typeface="Red Hat Mono" pitchFamily="34" charset="0"/>
                <a:ea typeface="Red Hat Mono" pitchFamily="34" charset="-122"/>
                <a:cs typeface="Red Hat Mono" pitchFamily="34" charset="-120"/>
              </a:rPr>
              <a:t>  - name: notification-service
</a:t>
            </a:r>
            <a:r>
              <a:rPr lang="en-US" sz="1950" dirty="0">
                <a:solidFill>
                  <a:srgbClr val="E6E6E6"/>
                </a:solidFill>
                <a:latin typeface="Red Hat Mono" pitchFamily="34" charset="0"/>
                <a:ea typeface="Red Hat Mono" pitchFamily="34" charset="-122"/>
                <a:cs typeface="Red Hat Mono" pitchFamily="34" charset="-120"/>
              </a:rPr>
              <a:t>    alias: notification
</a:t>
            </a:r>
            <a:r>
              <a:rPr lang="en-US" sz="1950" dirty="0">
                <a:solidFill>
                  <a:srgbClr val="E6E6E6"/>
                </a:solidFill>
                <a:latin typeface="Red Hat Mono" pitchFamily="34" charset="0"/>
                <a:ea typeface="Red Hat Mono" pitchFamily="34" charset="-122"/>
                <a:cs typeface="Red Hat Mono" pitchFamily="34" charset="-120"/>
              </a:rPr>
              <a:t>    tags: [messaging]
</a:t>
            </a:r>
            <a:r>
              <a:rPr lang="en-US" sz="1950" dirty="0">
                <a:solidFill>
                  <a:srgbClr val="E6E6E6"/>
                </a:solidFill>
                <a:latin typeface="Red Hat Mono" pitchFamily="34" charset="0"/>
                <a:ea typeface="Red Hat Mono" pitchFamily="34" charset="-122"/>
                <a:cs typeface="Red Hat Mono" pitchFamily="34" charset="-120"/>
              </a:rPr>
              <a:t>  - name: shipping-postgres
</a:t>
            </a:r>
            <a:r>
              <a:rPr lang="en-US" sz="1950" dirty="0">
                <a:solidFill>
                  <a:srgbClr val="E6E6E6"/>
                </a:solidFill>
                <a:latin typeface="Red Hat Mono" pitchFamily="34" charset="0"/>
                <a:ea typeface="Red Hat Mono" pitchFamily="34" charset="-122"/>
                <a:cs typeface="Red Hat Mono" pitchFamily="34" charset="-120"/>
              </a:rPr>
              <a:t>    alias: db
</a:t>
            </a:r>
            <a:r>
              <a:rPr lang="en-US" sz="1950" dirty="0">
                <a:solidFill>
                  <a:srgbClr val="E6E6E6"/>
                </a:solidFill>
                <a:latin typeface="Red Hat Mono" pitchFamily="34" charset="0"/>
                <a:ea typeface="Red Hat Mono" pitchFamily="34" charset="-122"/>
                <a:cs typeface="Red Hat Mono" pitchFamily="34" charset="-120"/>
              </a:rPr>
              <a:t>    condition: db.enabled
</a:t>
            </a:r>
            <a:r>
              <a:rPr lang="en-US" sz="1950" dirty="0">
                <a:solidFill>
                  <a:srgbClr val="E6E6E6"/>
                </a:solidFill>
                <a:latin typeface="Red Hat Mono" pitchFamily="34" charset="0"/>
                <a:ea typeface="Red Hat Mono" pitchFamily="34" charset="-122"/>
                <a:cs typeface="Red Hat Mono" pitchFamily="34" charset="-120"/>
              </a:rPr>
              <a:t>  - name: shipping-kafka
</a:t>
            </a:r>
            <a:r>
              <a:rPr lang="en-US" sz="1950" dirty="0">
                <a:solidFill>
                  <a:srgbClr val="E6E6E6"/>
                </a:solidFill>
                <a:latin typeface="Red Hat Mono" pitchFamily="34" charset="0"/>
                <a:ea typeface="Red Hat Mono" pitchFamily="34" charset="-122"/>
                <a:cs typeface="Red Hat Mono" pitchFamily="34" charset="-120"/>
              </a:rPr>
              <a:t>    alias: kafka
</a:t>
            </a:r>
            <a:r>
              <a:rPr lang="en-US" sz="1950" dirty="0">
                <a:solidFill>
                  <a:srgbClr val="E6E6E6"/>
                </a:solidFill>
                <a:latin typeface="Red Hat Mono" pitchFamily="34" charset="0"/>
                <a:ea typeface="Red Hat Mono" pitchFamily="34" charset="-122"/>
                <a:cs typeface="Red Hat Mono" pitchFamily="34" charset="-120"/>
              </a:rPr>
              <a:t>    tags: [messaging]
</a:t>
            </a:r>
            <a:endParaRPr lang="en-US" sz="19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global</a:t>
            </a:r>
            <a:r>
              <a:rPr lang="en-US" sz="2000" dirty="0">
                <a:solidFill>
                  <a:srgbClr val="242424"/>
                </a:solidFill>
                <a:latin typeface="Red Hat Text" pitchFamily="34" charset="0"/>
                <a:ea typeface="Red Hat Text" pitchFamily="34" charset="-122"/>
                <a:cs typeface="Red Hat Text" pitchFamily="34" charset="-120"/>
              </a:rPr>
              <a:t>: one values subtree every subchart can read: environment, otlpEndpoint, imageRegistry.</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import-values</a:t>
            </a:r>
            <a:r>
              <a:rPr lang="en-US" sz="2000" dirty="0">
                <a:solidFill>
                  <a:srgbClr val="242424"/>
                </a:solidFill>
                <a:latin typeface="Red Hat Text" pitchFamily="34" charset="0"/>
                <a:ea typeface="Red Hat Text" pitchFamily="34" charset="-122"/>
                <a:cs typeface="Red Hat Text" pitchFamily="34" charset="-120"/>
              </a:rPr>
              <a:t>: copies a subchart's exports into the parent or a sibling's values at render time.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Static exports</a:t>
            </a:r>
            <a:r>
              <a:rPr lang="en-US" sz="2000" dirty="0">
                <a:solidFill>
                  <a:srgbClr val="242424"/>
                </a:solidFill>
                <a:latin typeface="Red Hat Text" pitchFamily="34" charset="0"/>
                <a:ea typeface="Red Hat Text" pitchFamily="34" charset="-122"/>
                <a:cs typeface="Red Hat Text" pitchFamily="34" charset="-120"/>
              </a:rPr>
              <a:t>: an exports block is a constant, so it must match the Cluster name and Kafka clusterName it describes.</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Override trap</a:t>
            </a:r>
            <a:r>
              <a:rPr lang="en-US" sz="2000" dirty="0">
                <a:solidFill>
                  <a:srgbClr val="242424"/>
                </a:solidFill>
                <a:latin typeface="Red Hat Text" pitchFamily="34" charset="0"/>
                <a:ea typeface="Red Hat Text" pitchFamily="34" charset="-122"/>
                <a:cs typeface="Red Hat Text" pitchFamily="34" charset="-120"/>
              </a:rPr>
              <a:t>: a key the subchart defaults in its own values.yaml cannot be overridden by an import; leave it unset.</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crds/ directory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templates/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CRD as a template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Operator chart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Operator-owned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fail guard</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Readable 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.Values.requireOperator
</a:t>
            </a:r>
            <a:r>
              <a:rPr lang="en-US" sz="1700" dirty="0">
                <a:solidFill>
                  <a:srgbClr val="E6E6E6"/>
                </a:solidFill>
                <a:latin typeface="Red Hat Mono" pitchFamily="34" charset="0"/>
                <a:ea typeface="Red Hat Mono" pitchFamily="34" charset="-122"/>
                <a:cs typeface="Red Hat Mono" pitchFamily="34" charset="-120"/>
              </a:rPr>
              <a:t>      (not (.Capabilities.APIVersions.Has "postgresql.cnpg.io/v1")) }}
</a:t>
            </a:r>
            <a:r>
              <a:rPr lang="en-US" sz="1700" dirty="0">
                <a:solidFill>
                  <a:srgbClr val="E6E6E6"/>
                </a:solidFill>
                <a:latin typeface="Red Hat Mono" pitchFamily="34" charset="0"/>
                <a:ea typeface="Red Hat Mono" pitchFamily="34" charset="-122"/>
                <a:cs typeface="Red Hat Mono" pitchFamily="34" charset="-120"/>
              </a:rPr>
              <a:t>{{- fail "shipping-postgres needs the CloudNativePG operator: ..." }}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templates/route.yaml renders only where the API exists
</a:t>
            </a:r>
            <a:r>
              <a:rPr lang="en-US" sz="1700" dirty="0">
                <a:solidFill>
                  <a:srgbClr val="E6E6E6"/>
                </a:solidFill>
                <a:latin typeface="Red Hat Mono" pitchFamily="34" charset="0"/>
                <a:ea typeface="Red Hat Mono" pitchFamily="34" charset="-122"/>
                <a:cs typeface="Red Hat Mono" pitchFamily="34" charset="-120"/>
              </a:rPr>
              <a:t>{{- if and .Values.route.enabled
</a:t>
            </a:r>
            <a:r>
              <a:rPr lang="en-US" sz="1700" dirty="0">
                <a:solidFill>
                  <a:srgbClr val="E6E6E6"/>
                </a:solidFill>
                <a:latin typeface="Red Hat Mono" pitchFamily="34" charset="0"/>
                <a:ea typeface="Red Hat Mono" pitchFamily="34" charset="-122"/>
                <a:cs typeface="Red Hat Mono" pitchFamily="34" charset="-120"/>
              </a:rPr>
              <a:t>      (.Capabilities.APIVersions.Has "route.openshift.io/v1")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Offline there is no cluster to ask: supply the API yourself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
</a:t>
            </a:r>
            <a:r>
              <a:rPr lang="en-US" sz="1700" dirty="0">
                <a:solidFill>
                  <a:srgbClr val="E6E6E6"/>
                </a:solidFill>
                <a:latin typeface="Red Hat Mono" pitchFamily="34" charset="0"/>
                <a:ea typeface="Red Hat Mono" pitchFamily="34" charset="-122"/>
                <a:cs typeface="Red Hat Mono" pitchFamily="34" charset="-120"/>
              </a:rPr>
              <a:t>          --api-versions route.openshift.io/v1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Has asks the cluster at install time; helm template needs </a:t>
            </a:r>
            <a:r>
              <a:rPr lang="en-US" sz="1200" i="1" dirty="0">
                <a:solidFill>
                  <a:srgbClr val="151515"/>
                </a:solidFill>
                <a:latin typeface="Red Hat Mono" pitchFamily="34" charset="0"/>
                <a:ea typeface="Red Hat Mono" pitchFamily="34" charset="-122"/>
                <a:cs typeface="Red Hat Mono" pitchFamily="34" charset="-120"/>
              </a:rPr>
              <a:t>--api-versions</a:t>
            </a:r>
            <a:r>
              <a:rPr lang="en-US" sz="1300" i="1" dirty="0">
                <a:solidFill>
                  <a:srgbClr val="5A5A5A"/>
                </a:solidFill>
                <a:latin typeface="Red Hat Text" pitchFamily="34" charset="0"/>
                <a:ea typeface="Red Hat Text" pitchFamily="34" charset="-122"/>
                <a:cs typeface="Red Hat Text" pitchFamily="34" charset="-120"/>
              </a:rPr>
              <a:t> (examples/27-openshift-crc).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A starter is a chart directory; &lt;CHARTNAME&gt; becomes the new name
</a:t>
            </a:r>
            <a:r>
              <a:rPr lang="en-US" sz="2000" dirty="0">
                <a:solidFill>
                  <a:srgbClr val="E6E6E6"/>
                </a:solidFill>
                <a:latin typeface="Red Hat Mono" pitchFamily="34" charset="0"/>
                <a:ea typeface="Red Hat Mono" pitchFamily="34" charset="-122"/>
                <a:cs typeface="Red Hat Mono" pitchFamily="34" charset="-120"/>
              </a:rPr>
              <a:t>[host]$ helm create --starter pc-fastapi charts/inventory-service
</a:t>
            </a:r>
            <a:r>
              <a:rPr lang="en-US" sz="2000" dirty="0">
                <a:solidFill>
                  <a:srgbClr val="E6E6E6"/>
                </a:solidFill>
                <a:latin typeface="Red Hat Mono" pitchFamily="34" charset="0"/>
                <a:ea typeface="Red Hat Mono" pitchFamily="34" charset="-122"/>
                <a:cs typeface="Red Hat Mono" pitchFamily="34" charset="-120"/>
              </a:rPr>
              <a:t>[host]$ helm dependency build charts/inventory-service
</a:t>
            </a:r>
            <a:r>
              <a:rPr lang="en-US" sz="2000" dirty="0">
                <a:solidFill>
                  <a:srgbClr val="E6E6E6"/>
                </a:solidFill>
                <a:latin typeface="Red Hat Mono" pitchFamily="34" charset="0"/>
                <a:ea typeface="Red Hat Mono" pitchFamily="34" charset="-122"/>
                <a:cs typeface="Red Hat Mono" pitchFamily="34" charset="-120"/>
              </a:rPr>
              <a:t>[host]$ helm lint --strict charts/inventory-service
</a:t>
            </a:r>
            <a:r>
              <a:rPr lang="en-US" sz="2000" dirty="0">
                <a:solidFill>
                  <a:srgbClr val="E6E6E6"/>
                </a:solidFill>
                <a:latin typeface="Red Hat Mono" pitchFamily="34" charset="0"/>
                <a:ea typeface="Red Hat Mono" pitchFamily="34" charset="-122"/>
                <a:cs typeface="Red Hat Mono" pitchFamily="34" charset="-120"/>
              </a:rPr>
              <a:t>[host]$ helm template inventory charts/inventory-service \
</a:t>
            </a:r>
            <a:r>
              <a:rPr lang="en-US" sz="2000" dirty="0">
                <a:solidFill>
                  <a:srgbClr val="E6E6E6"/>
                </a:solidFill>
                <a:latin typeface="Red Hat Mono" pitchFamily="34" charset="0"/>
                <a:ea typeface="Red Hat Mono" pitchFamily="34" charset="-122"/>
                <a:cs typeface="Red Hat Mono" pitchFamily="34" charset="-120"/>
              </a:rPr>
              <a:t>          | kubeconform -strict -summary
</a:t>
            </a:r>
            <a:r>
              <a:rPr lang="en-US" sz="2000" dirty="0">
                <a:solidFill>
                  <a:srgbClr val="E6E6E6"/>
                </a:solidFill>
                <a:latin typeface="Red Hat Mono" pitchFamily="34" charset="0"/>
                <a:ea typeface="Red Hat Mono" pitchFamily="34" charset="-122"/>
                <a:cs typeface="Red Hat Mono" pitchFamily="34" charset="-120"/>
              </a:rPr>
              <a:t>[host]$ helm upgrade --install inventory charts/inventory-service \
</a:t>
            </a:r>
            <a:r>
              <a:rPr lang="en-US" sz="2000" dirty="0">
                <a:solidFill>
                  <a:srgbClr val="E6E6E6"/>
                </a:solidFill>
                <a:latin typeface="Red Hat Mono" pitchFamily="34" charset="0"/>
                <a:ea typeface="Red Hat Mono" pitchFamily="34" charset="-122"/>
                <a:cs typeface="Red Hat Mono" pitchFamily="34" charset="-120"/>
              </a:rPr>
              <a:t>          -n hfd-18 --create-namespace
</a:t>
            </a:r>
            <a:r>
              <a:rPr lang="en-US" sz="2000" dirty="0">
                <a:solidFill>
                  <a:srgbClr val="E6E6E6"/>
                </a:solidFill>
                <a:latin typeface="Red Hat Mono" pitchFamily="34" charset="0"/>
                <a:ea typeface="Red Hat Mono" pitchFamily="34" charset="-122"/>
                <a:cs typeface="Red Hat Mono" pitchFamily="34" charset="-120"/>
              </a:rPr>
              <a:t>[host]$ helm test inventory -n hfd-18
</a:t>
            </a:r>
            <a:r>
              <a:rPr lang="en-US" sz="20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examples/18-starters. 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version: 1.0.0        # the chart: templates, values keys, dependencies
</a:t>
            </a:r>
            <a:r>
              <a:rPr lang="en-US" sz="17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CI stamps both without editing the file
</a:t>
            </a:r>
            <a:r>
              <a:rPr lang="en-US" sz="1700" dirty="0">
                <a:solidFill>
                  <a:srgbClr val="E6E6E6"/>
                </a:solidFill>
                <a:latin typeface="Red Hat Mono" pitchFamily="34" charset="0"/>
                <a:ea typeface="Red Hat Mono" pitchFamily="34" charset="-122"/>
                <a:cs typeface="Red Hat Mono" pitchFamily="34" charset="-120"/>
              </a:rPr>
              <a:t>[host]$ helm package charts/shipping-service \
</a:t>
            </a:r>
            <a:r>
              <a:rPr lang="en-US" sz="1700" dirty="0">
                <a:solidFill>
                  <a:srgbClr val="E6E6E6"/>
                </a:solidFill>
                <a:latin typeface="Red Hat Mono" pitchFamily="34" charset="0"/>
                <a:ea typeface="Red Hat Mono" pitchFamily="34" charset="-122"/>
                <a:cs typeface="Red Hat Mono" pitchFamily="34" charset="-120"/>
              </a:rPr>
              <a:t>          --version 1.0.1 --app-version 0.1.1 -d .work/repo
</a:t>
            </a:r>
            <a:r>
              <a:rPr lang="en-US" sz="17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r>
              <a:rPr lang="en-US" sz="1700" dirty="0">
                <a:solidFill>
                  <a:srgbClr val="E6E6E6"/>
                </a:solidFill>
                <a:latin typeface="Red Hat Mono" pitchFamily="34" charset="0"/>
                <a:ea typeface="Red Hat Mono" pitchFamily="34" charset="-122"/>
                <a:cs typeface="Red Hat Mono" pitchFamily="34" charset="-120"/>
              </a:rPr>
              <a:t>[host]$ helm package charts/shipping-service --version 1.1.0-rc.1 -d .work/repo
</a:t>
            </a:r>
            <a:r>
              <a:rPr lang="en-US" sz="1700" dirty="0">
                <a:solidFill>
                  <a:srgbClr val="E6E6E6"/>
                </a:solidFill>
                <a:latin typeface="Red Hat Mono" pitchFamily="34" charset="0"/>
                <a:ea typeface="Red Hat Mono" pitchFamily="34" charset="-122"/>
                <a:cs typeface="Red Hat Mono" pitchFamily="34" charset="-120"/>
              </a:rPr>
              <a:t>[host]$ helm search repo hfd-local --devel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Classic repo</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index.yaml over HTTP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OCI registry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Charts as artifacts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Search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Discovery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Digests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Immutability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Auth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Credentials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417320"/>
            <a:ext cx="11055096" cy="3179426"/>
          </a:xfrm>
          <a:prstGeom prst="rect">
            <a:avLst/>
          </a:prstGeom>
          <a:solidFill>
            <a:srgbClr val="151515"/>
          </a:solidFill>
          <a:ln w="12700">
            <a:solidFill>
              <a:srgbClr val="151515"/>
            </a:solidFill>
            <a:prstDash val="solid"/>
          </a:ln>
        </p:spPr>
      </p:sp>
      <p:sp>
        <p:nvSpPr>
          <p:cNvPr id="8" name="Text 5"/>
          <p:cNvSpPr/>
          <p:nvPr/>
        </p:nvSpPr>
        <p:spPr>
          <a:xfrm>
            <a:off x="749808" y="1508760"/>
            <a:ext cx="10689336" cy="2996546"/>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r>
              <a:rPr lang="en-US" sz="1850" dirty="0">
                <a:solidFill>
                  <a:srgbClr val="E6E6E6"/>
                </a:solidFill>
                <a:latin typeface="Red Hat Mono" pitchFamily="34" charset="0"/>
                <a:ea typeface="Red Hat Mono" pitchFamily="34" charset="-122"/>
                <a:cs typeface="Red Hat Mono" pitchFamily="34" charset="-120"/>
              </a:rPr>
              <a:t>[host]$ helm package charts/shipping-service --dependency-update --sign \
</a:t>
            </a:r>
            <a:r>
              <a:rPr lang="en-US" sz="1850" dirty="0">
                <a:solidFill>
                  <a:srgbClr val="E6E6E6"/>
                </a:solidFill>
                <a:latin typeface="Red Hat Mono" pitchFamily="34" charset="0"/>
                <a:ea typeface="Red Hat Mono" pitchFamily="34" charset="-122"/>
                <a:cs typeface="Red Hat Mono" pitchFamily="34" charset="-120"/>
              </a:rPr>
              <a:t>          --key "HFD Throwaway Signer" --keyring .work/keys/secring.gpg \
</a:t>
            </a:r>
            <a:r>
              <a:rPr lang="en-US" sz="1850" dirty="0">
                <a:solidFill>
                  <a:srgbClr val="E6E6E6"/>
                </a:solidFill>
                <a:latin typeface="Red Hat Mono" pitchFamily="34" charset="0"/>
                <a:ea typeface="Red Hat Mono" pitchFamily="34" charset="-122"/>
                <a:cs typeface="Red Hat Mono" pitchFamily="34" charset="-120"/>
              </a:rPr>
              <a:t>          -d .work/signed
</a:t>
            </a:r>
            <a:r>
              <a:rPr lang="en-US" sz="1850" dirty="0">
                <a:solidFill>
                  <a:srgbClr val="8FB98F"/>
                </a:solidFill>
                <a:latin typeface="Red Hat Mono" pitchFamily="34" charset="0"/>
                <a:ea typeface="Red Hat Mono" pitchFamily="34" charset="-122"/>
                <a:cs typeface="Red Hat Mono" pitchFamily="34" charset="-120"/>
              </a:rPr>
              <a:t># Verify the tarball against its .prov file
</a:t>
            </a:r>
            <a:r>
              <a:rPr lang="en-US" sz="1850" dirty="0">
                <a:solidFill>
                  <a:srgbClr val="E6E6E6"/>
                </a:solidFill>
                <a:latin typeface="Red Hat Mono" pitchFamily="34" charset="0"/>
                <a:ea typeface="Red Hat Mono" pitchFamily="34" charset="-122"/>
                <a:cs typeface="Red Hat Mono" pitchFamily="34" charset="-120"/>
              </a:rPr>
              <a:t>[host]$ helm verify .work/signed/shipping-service-1.0.0.tgz
</a:t>
            </a:r>
            <a:r>
              <a:rPr lang="en-US" sz="1850" dirty="0">
                <a:solidFill>
                  <a:srgbClr val="8FB98F"/>
                </a:solidFill>
                <a:latin typeface="Red Hat Mono" pitchFamily="34" charset="0"/>
                <a:ea typeface="Red Hat Mono" pitchFamily="34" charset="-122"/>
                <a:cs typeface="Red Hat Mono" pitchFamily="34" charset="-120"/>
              </a:rPr>
              <a:t># Verify while pulling from an OCI registry
</a:t>
            </a:r>
            <a:r>
              <a:rPr lang="en-US" sz="1850" dirty="0">
                <a:solidFill>
                  <a:srgbClr val="E6E6E6"/>
                </a:solidFill>
                <a:latin typeface="Red Hat Mono" pitchFamily="34" charset="0"/>
                <a:ea typeface="Red Hat Mono" pitchFamily="34" charset="-122"/>
                <a:cs typeface="Red Hat Mono" pitchFamily="34" charset="-120"/>
              </a:rPr>
              <a:t>[host]$ helm pull oci://127.0.0.1:5001/signed/shipping-service \
</a:t>
            </a:r>
            <a:r>
              <a:rPr lang="en-US" sz="1850" dirty="0">
                <a:solidFill>
                  <a:srgbClr val="E6E6E6"/>
                </a:solidFill>
                <a:latin typeface="Red Hat Mono" pitchFamily="34" charset="0"/>
                <a:ea typeface="Red Hat Mono" pitchFamily="34" charset="-122"/>
                <a:cs typeface="Red Hat Mono" pitchFamily="34" charset="-120"/>
              </a:rPr>
              <a:t>          --version 1.0.0 --plain-http --verify -d .work/pull
</a:t>
            </a:r>
            <a:endParaRPr lang="en-US" sz="1850" dirty="0"/>
          </a:p>
        </p:txBody>
      </p:sp>
      <p:sp>
        <p:nvSpPr>
          <p:cNvPr id="9" name="Text 6"/>
          <p:cNvSpPr/>
          <p:nvPr/>
        </p:nvSpPr>
        <p:spPr>
          <a:xfrm>
            <a:off x="566928" y="468818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examples/21-signing. 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r>
              <a:rPr lang="en-US" sz="1700" dirty="0">
                <a:solidFill>
                  <a:srgbClr val="E6E6E6"/>
                </a:solidFill>
                <a:latin typeface="Red Hat Mono" pitchFamily="34" charset="0"/>
                <a:ea typeface="Red Hat Mono" pitchFamily="34" charset="-122"/>
                <a:cs typeface="Red Hat Mono" pitchFamily="34" charset="-120"/>
              </a:rPr>
              <a:t>[host]$ cosign sign --key .work/cosign/cosign.key --yes --allow-http-registry \
</a:t>
            </a:r>
            <a:r>
              <a:rPr lang="en-US" sz="1700" dirty="0">
                <a:solidFill>
                  <a:srgbClr val="E6E6E6"/>
                </a:solidFill>
                <a:latin typeface="Red Hat Mono" pitchFamily="34" charset="0"/>
                <a:ea typeface="Red Hat Mono" pitchFamily="34" charset="-122"/>
                <a:cs typeface="Red Hat Mono" pitchFamily="34" charset="-120"/>
              </a:rPr>
              <a:t>          --use-signing-config=false --tlog-upload=false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E6E6E6"/>
                </a:solidFill>
                <a:latin typeface="Red Hat Mono" pitchFamily="34" charset="0"/>
                <a:ea typeface="Red Hat Mono" pitchFamily="34" charset="-122"/>
                <a:cs typeface="Red Hat Mono" pitchFamily="34" charset="-120"/>
              </a:rPr>
              <a:t>[host]$ cosign verify --key .work/cosign/cosign.pub --allow-http-registry \
</a:t>
            </a:r>
            <a:r>
              <a:rPr lang="en-US" sz="1700" dirty="0">
                <a:solidFill>
                  <a:srgbClr val="E6E6E6"/>
                </a:solidFill>
                <a:latin typeface="Red Hat Mono" pitchFamily="34" charset="0"/>
                <a:ea typeface="Red Hat Mono" pitchFamily="34" charset="-122"/>
                <a:cs typeface="Red Hat Mono" pitchFamily="34" charset="-120"/>
              </a:rPr>
              <a:t>          --insecure-ignore-tlog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r>
              <a:rPr lang="en-US" sz="17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cli/v1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Command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getter/v1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Download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postrenderer/v1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Rewrites rendered manifests; selected with </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--post-renderer</a:t>
                      </a:r>
                      <a:r>
                        <a:rPr lang="en-US" sz="1500" dirty="0">
                          <a:solidFill>
                            <a:srgbClr val="242424"/>
                          </a:solidFill>
                          <a:latin typeface="Red Hat Text" pitchFamily="34" charset="0"/>
                          <a:ea typeface="Red Hat Text" pitchFamily="34" charset="-122"/>
                          <a:cs typeface="Red Hat Text" pitchFamily="34" charset="-120"/>
                        </a:rPr>
                        <a:t>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subprocess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extism/v1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manifest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plugin.yaml</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v1
</a:t>
            </a:r>
            <a:r>
              <a:rPr lang="en-US" sz="2000" dirty="0">
                <a:solidFill>
                  <a:srgbClr val="E6E6E6"/>
                </a:solidFill>
                <a:latin typeface="Red Hat Mono" pitchFamily="34" charset="0"/>
                <a:ea typeface="Red Hat Mono" pitchFamily="34" charset="-122"/>
                <a:cs typeface="Red Hat Mono" pitchFamily="34" charset="-120"/>
              </a:rPr>
              <a:t>type: cli/v1
</a:t>
            </a:r>
            <a:r>
              <a:rPr lang="en-US" sz="2000" dirty="0">
                <a:solidFill>
                  <a:srgbClr val="E6E6E6"/>
                </a:solidFill>
                <a:latin typeface="Red Hat Mono" pitchFamily="34" charset="0"/>
                <a:ea typeface="Red Hat Mono" pitchFamily="34" charset="-122"/>
                <a:cs typeface="Red Hat Mono" pitchFamily="34" charset="-120"/>
              </a:rPr>
              <a:t>name: wasm-hello
</a:t>
            </a:r>
            <a:r>
              <a:rPr lang="en-US" sz="2000" dirty="0">
                <a:solidFill>
                  <a:srgbClr val="E6E6E6"/>
                </a:solidFill>
                <a:latin typeface="Red Hat Mono" pitchFamily="34" charset="0"/>
                <a:ea typeface="Red Hat Mono" pitchFamily="34" charset="-122"/>
                <a:cs typeface="Red Hat Mono" pitchFamily="34" charset="-120"/>
              </a:rPr>
              <a:t>version: 0.1.0
</a:t>
            </a:r>
            <a:r>
              <a:rPr lang="en-US" sz="2000" dirty="0">
                <a:solidFill>
                  <a:srgbClr val="E6E6E6"/>
                </a:solidFill>
                <a:latin typeface="Red Hat Mono" pitchFamily="34" charset="0"/>
                <a:ea typeface="Red Hat Mono" pitchFamily="34" charset="-122"/>
                <a:cs typeface="Red Hat Mono" pitchFamily="34" charset="-120"/>
              </a:rPr>
              <a:t>runtime: extism/v1
</a:t>
            </a:r>
            <a:r>
              <a:rPr lang="en-US" sz="2000" dirty="0">
                <a:solidFill>
                  <a:srgbClr val="E6E6E6"/>
                </a:solidFill>
                <a:latin typeface="Red Hat Mono" pitchFamily="34" charset="0"/>
                <a:ea typeface="Red Hat Mono" pitchFamily="34" charset="-122"/>
                <a:cs typeface="Red Hat Mono" pitchFamily="34" charset="-120"/>
              </a:rPr>
              <a:t>runtimeConfig:
</a:t>
            </a:r>
            <a:r>
              <a:rPr lang="en-US" sz="2000" dirty="0">
                <a:solidFill>
                  <a:srgbClr val="E6E6E6"/>
                </a:solidFill>
                <a:latin typeface="Red Hat Mono" pitchFamily="34" charset="0"/>
                <a:ea typeface="Red Hat Mono" pitchFamily="34" charset="-122"/>
                <a:cs typeface="Red Hat Mono" pitchFamily="34" charset="-120"/>
              </a:rPr>
              <a:t>  memory:
</a:t>
            </a:r>
            <a:r>
              <a:rPr lang="en-US" sz="2000" dirty="0">
                <a:solidFill>
                  <a:srgbClr val="E6E6E6"/>
                </a:solidFill>
                <a:latin typeface="Red Hat Mono" pitchFamily="34" charset="0"/>
                <a:ea typeface="Red Hat Mono" pitchFamily="34" charset="-122"/>
                <a:cs typeface="Red Hat Mono" pitchFamily="34" charset="-120"/>
              </a:rPr>
              <a:t>    maxPages: 256
</a:t>
            </a:r>
            <a:r>
              <a:rPr lang="en-US" sz="2000" dirty="0">
                <a:solidFill>
                  <a:srgbClr val="E6E6E6"/>
                </a:solidFill>
                <a:latin typeface="Red Hat Mono" pitchFamily="34" charset="0"/>
                <a:ea typeface="Red Hat Mono" pitchFamily="34" charset="-122"/>
                <a:cs typeface="Red Hat Mono" pitchFamily="34" charset="-120"/>
              </a:rPr>
              <a:t>  timeout: 5000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field selects the sandbox; memory and time limits live in the plugin's own configuration.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and 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main.go: the exported entry point
</a:t>
            </a:r>
            <a:r>
              <a:rPr lang="en-US" sz="2000" dirty="0">
                <a:solidFill>
                  <a:srgbClr val="8FB98F"/>
                </a:solidFill>
                <a:latin typeface="Red Hat Mono" pitchFamily="34" charset="0"/>
                <a:ea typeface="Red Hat Mono" pitchFamily="34" charset="-122"/>
                <a:cs typeface="Red Hat Mono" pitchFamily="34" charset="-120"/>
              </a:rPr>
              <a:t>//go:wasmexport helm_plugin_main
</a:t>
            </a:r>
            <a:r>
              <a:rPr lang="en-US" sz="2000" dirty="0">
                <a:solidFill>
                  <a:srgbClr val="E6E6E6"/>
                </a:solidFill>
                <a:latin typeface="Red Hat Mono" pitchFamily="34" charset="0"/>
                <a:ea typeface="Red Hat Mono" pitchFamily="34" charset="-122"/>
                <a:cs typeface="Red Hat Mono" pitchFamily="34" charset="-120"/>
              </a:rPr>
              <a:t>func helmPluginMain() uint32 { ...; return 0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build the module Helm loads as plugin.wasm
</a:t>
            </a:r>
            <a:r>
              <a:rPr lang="en-US" sz="2000" dirty="0">
                <a:solidFill>
                  <a:srgbClr val="E6E6E6"/>
                </a:solidFill>
                <a:latin typeface="Red Hat Mono" pitchFamily="34" charset="0"/>
                <a:ea typeface="Red Hat Mono" pitchFamily="34" charset="-122"/>
                <a:cs typeface="Red Hat Mono" pitchFamily="34" charset="-120"/>
              </a:rPr>
              <a:t>[host]$ GOOS=wasip1 GOARCH=wasm go build \
</a:t>
            </a:r>
            <a:r>
              <a:rPr lang="en-US" sz="2000" dirty="0">
                <a:solidFill>
                  <a:srgbClr val="E6E6E6"/>
                </a:solidFill>
                <a:latin typeface="Red Hat Mono" pitchFamily="34" charset="0"/>
                <a:ea typeface="Red Hat Mono" pitchFamily="34" charset="-122"/>
                <a:cs typeface="Red Hat Mono" pitchFamily="34" charset="-120"/>
              </a:rPr>
              <a:t>          -buildmode=c-shared -o plugin.wasm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run it: helm wasm-hello Helm4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Output: Hello, Helm4! (from a Wasm Helm plugin). The module runs inside Helm's Extism runtime.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helmDefaults:
</a:t>
            </a:r>
            <a:r>
              <a:rPr lang="en-US" sz="1650" dirty="0">
                <a:solidFill>
                  <a:srgbClr val="E6E6E6"/>
                </a:solidFill>
                <a:latin typeface="Red Hat Mono" pitchFamily="34" charset="0"/>
                <a:ea typeface="Red Hat Mono" pitchFamily="34" charset="-122"/>
                <a:cs typeface="Red Hat Mono" pitchFamily="34" charset="-120"/>
              </a:rPr>
              <a:t>  wait: true
</a:t>
            </a:r>
            <a:r>
              <a:rPr lang="en-US" sz="1650" dirty="0">
                <a:solidFill>
                  <a:srgbClr val="E6E6E6"/>
                </a:solidFill>
                <a:latin typeface="Red Hat Mono" pitchFamily="34" charset="0"/>
                <a:ea typeface="Red Hat Mono" pitchFamily="34" charset="-122"/>
                <a:cs typeface="Red Hat Mono" pitchFamily="34" charset="-120"/>
              </a:rPr>
              <a:t>  timeout: 600
</a:t>
            </a:r>
            <a:r>
              <a:rPr lang="en-US" sz="1650" dirty="0">
                <a:solidFill>
                  <a:srgbClr val="E6E6E6"/>
                </a:solidFill>
                <a:latin typeface="Red Hat Mono" pitchFamily="34" charset="0"/>
                <a:ea typeface="Red Hat Mono" pitchFamily="34" charset="-122"/>
                <a:cs typeface="Red Hat Mono" pitchFamily="34" charset="-120"/>
              </a:rPr>
              <a:t>  createNamespace: true
</a:t>
            </a:r>
            <a:r>
              <a:rPr lang="en-US" sz="1650" dirty="0">
                <a:solidFill>
                  <a:srgbClr val="E6E6E6"/>
                </a:solidFill>
                <a:latin typeface="Red Hat Mono" pitchFamily="34" charset="0"/>
                <a:ea typeface="Red Hat Mono" pitchFamily="34" charset="-122"/>
                <a:cs typeface="Red Hat Mono" pitchFamily="34" charset="-120"/>
              </a:rPr>
              <a:t>  rollbackOnFailure: true      # Helm 4 flag
</a:t>
            </a:r>
            <a:r>
              <a:rPr lang="en-US" sz="1650" dirty="0">
                <a:solidFill>
                  <a:srgbClr val="E6E6E6"/>
                </a:solidFill>
                <a:latin typeface="Red Hat Mono" pitchFamily="34" charset="0"/>
                <a:ea typeface="Red Hat Mono" pitchFamily="34" charset="-122"/>
                <a:cs typeface="Red Hat Mono" pitchFamily="34" charset="-120"/>
              </a:rPr>
              <a:t>releases:
</a:t>
            </a:r>
            <a:r>
              <a:rPr lang="en-US" sz="1650" dirty="0">
                <a:solidFill>
                  <a:srgbClr val="E6E6E6"/>
                </a:solidFill>
                <a:latin typeface="Red Hat Mono" pitchFamily="34" charset="0"/>
                <a:ea typeface="Red Hat Mono" pitchFamily="34" charset="-122"/>
                <a:cs typeface="Red Hat Mono" pitchFamily="34" charset="-120"/>
              </a:rPr>
              <a:t>  - name: platform
</a:t>
            </a:r>
            <a:r>
              <a:rPr lang="en-US" sz="1650" dirty="0">
                <a:solidFill>
                  <a:srgbClr val="E6E6E6"/>
                </a:solidFill>
                <a:latin typeface="Red Hat Mono" pitchFamily="34" charset="0"/>
                <a:ea typeface="Red Hat Mono" pitchFamily="34" charset="-122"/>
                <a:cs typeface="Red Hat Mono" pitchFamily="34" charset="-120"/>
              </a:rPr>
              <a:t>    namespace: hfd-24-prod
</a:t>
            </a:r>
            <a:r>
              <a:rPr lang="en-US" sz="1650" dirty="0">
                <a:solidFill>
                  <a:srgbClr val="E6E6E6"/>
                </a:solidFill>
                <a:latin typeface="Red Hat Mono" pitchFamily="34" charset="0"/>
                <a:ea typeface="Red Hat Mono" pitchFamily="34" charset="-122"/>
                <a:cs typeface="Red Hat Mono" pitchFamily="34" charset="-120"/>
              </a:rPr>
              <a:t>    chart: ./charts/shipping-platform
</a:t>
            </a:r>
            <a:r>
              <a:rPr lang="en-US" sz="1650" dirty="0">
                <a:solidFill>
                  <a:srgbClr val="E6E6E6"/>
                </a:solidFill>
                <a:latin typeface="Red Hat Mono" pitchFamily="34" charset="0"/>
                <a:ea typeface="Red Hat Mono" pitchFamily="34" charset="-122"/>
                <a:cs typeface="Red Hat Mono" pitchFamily="34" charset="-120"/>
              </a:rPr>
              <a:t>    version: 1.0.0             # the chart pin: one reviewed line per environment
</a:t>
            </a:r>
            <a:r>
              <a:rPr lang="en-US" sz="1650" dirty="0">
                <a:solidFill>
                  <a:srgbClr val="E6E6E6"/>
                </a:solidFill>
                <a:latin typeface="Red Hat Mono" pitchFamily="34" charset="0"/>
                <a:ea typeface="Red Hat Mono" pitchFamily="34" charset="-122"/>
                <a:cs typeface="Red Hat Mono" pitchFamily="34" charset="-120"/>
              </a:rPr>
              <a:t>    labels:
</a:t>
            </a:r>
            <a:r>
              <a:rPr lang="en-US" sz="1650" dirty="0">
                <a:solidFill>
                  <a:srgbClr val="E6E6E6"/>
                </a:solidFill>
                <a:latin typeface="Red Hat Mono" pitchFamily="34" charset="0"/>
                <a:ea typeface="Red Hat Mono" pitchFamily="34" charset="-122"/>
                <a:cs typeface="Red Hat Mono" pitchFamily="34" charset="-120"/>
              </a:rPr>
              <a:t>      env: prod
</a:t>
            </a:r>
            <a:r>
              <a:rPr lang="en-US" sz="1650" dirty="0">
                <a:solidFill>
                  <a:srgbClr val="E6E6E6"/>
                </a:solidFill>
                <a:latin typeface="Red Hat Mono" pitchFamily="34" charset="0"/>
                <a:ea typeface="Red Hat Mono" pitchFamily="34" charset="-122"/>
                <a:cs typeface="Red Hat Mono" pitchFamily="34" charset="-120"/>
              </a:rPr>
              <a:t>    values:
</a:t>
            </a:r>
            <a:r>
              <a:rPr lang="en-US" sz="1650" dirty="0">
                <a:solidFill>
                  <a:srgbClr val="E6E6E6"/>
                </a:solidFill>
                <a:latin typeface="Red Hat Mono" pitchFamily="34" charset="0"/>
                <a:ea typeface="Red Hat Mono" pitchFamily="34" charset="-122"/>
                <a:cs typeface="Red Hat Mono" pitchFamily="34" charset="-120"/>
              </a:rPr>
              <a:t>      - charts/shipping-platform/values-prod.yaml
</a:t>
            </a:r>
            <a:r>
              <a:rPr lang="en-US" sz="1650" dirty="0">
                <a:solidFill>
                  <a:srgbClr val="E6E6E6"/>
                </a:solidFill>
                <a:latin typeface="Red Hat Mono" pitchFamily="34" charset="0"/>
                <a:ea typeface="Red Hat Mono" pitchFamily="34" charset="-122"/>
                <a:cs typeface="Red Hat Mono" pitchFamily="34" charset="-120"/>
              </a:rPr>
              <a:t>      - pins/prod.yaml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a:t>
            </a:r>
            <a:r>
              <a:rPr lang="en-US" sz="1200" i="1" dirty="0">
                <a:solidFill>
                  <a:srgbClr val="151515"/>
                </a:solidFill>
                <a:latin typeface="Red Hat Mono" pitchFamily="34" charset="0"/>
                <a:ea typeface="Red Hat Mono" pitchFamily="34" charset="-122"/>
                <a:cs typeface="Red Hat Mono" pitchFamily="34" charset="-120"/>
              </a:rPr>
              <a:t>-l</a:t>
            </a:r>
            <a:r>
              <a:rPr lang="en-US" sz="1300" i="1" dirty="0">
                <a:solidFill>
                  <a:srgbClr val="5A5A5A"/>
                </a:solidFill>
                <a:latin typeface="Red Hat Text" pitchFamily="34" charset="0"/>
                <a:ea typeface="Red Hat Text" pitchFamily="34" charset="-122"/>
                <a:cs typeface="Red Hat Text" pitchFamily="34" charset="-120"/>
              </a:rPr>
              <a:t> env=prod template </a:t>
            </a:r>
            <a:r>
              <a:rPr lang="en-US" sz="1200" i="1" dirty="0">
                <a:solidFill>
                  <a:srgbClr val="151515"/>
                </a:solidFill>
                <a:latin typeface="Red Hat Mono" pitchFamily="34" charset="0"/>
                <a:ea typeface="Red Hat Mono" pitchFamily="34" charset="-122"/>
                <a:cs typeface="Red Hat Mono" pitchFamily="34" charset="-120"/>
              </a:rPr>
              <a:t>--skip-deps</a:t>
            </a:r>
            <a:r>
              <a:rPr lang="en-US" sz="1300" i="1" dirty="0">
                <a:solidFill>
                  <a:srgbClr val="5A5A5A"/>
                </a:solidFill>
                <a:latin typeface="Red Hat Text" pitchFamily="34" charset="0"/>
                <a:ea typeface="Red Hat Text" pitchFamily="34" charset="-122"/>
                <a:cs typeface="Red Hat Text" pitchFamily="34" charset="-120"/>
              </a:rPr>
              <a:t> renders one environment; Helmfile adds no new Helm flags.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post-install hook</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PostSync 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hook-weight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sync-wave on hooks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no 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Wave 0 default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Scope</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Weights versus waves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--wait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 equivalent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417320"/>
            <a:ext cx="11055096" cy="3603346"/>
          </a:xfrm>
          <a:prstGeom prst="rect">
            <a:avLst/>
          </a:prstGeom>
          <a:solidFill>
            <a:srgbClr val="151515"/>
          </a:solidFill>
          <a:ln w="12700">
            <a:solidFill>
              <a:srgbClr val="151515"/>
            </a:solidFill>
            <a:prstDash val="solid"/>
          </a:ln>
        </p:spPr>
      </p:sp>
      <p:sp>
        <p:nvSpPr>
          <p:cNvPr id="8" name="Text 5"/>
          <p:cNvSpPr/>
          <p:nvPr/>
        </p:nvSpPr>
        <p:spPr>
          <a:xfrm>
            <a:off x="749808" y="1508760"/>
            <a:ext cx="10689336" cy="3420466"/>
          </a:xfrm>
          <a:prstGeom prst="rect">
            <a:avLst/>
          </a:prstGeom>
          <a:noFill/>
          <a:ln/>
        </p:spPr>
        <p:txBody>
          <a:bodyPr wrap="square" rtlCol="0" anchor="t"/>
          <a:lstStyle/>
          <a:p>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define "pc-lib.otelEnv" -}}
</a:t>
            </a:r>
            <a:r>
              <a:rPr lang="en-US" sz="1600" dirty="0">
                <a:solidFill>
                  <a:srgbClr val="E6E6E6"/>
                </a:solidFill>
                <a:latin typeface="Red Hat Mono" pitchFamily="34" charset="0"/>
                <a:ea typeface="Red Hat Mono" pitchFamily="34" charset="-122"/>
                <a:cs typeface="Red Hat Mono" pitchFamily="34" charset="-120"/>
              </a:rPr>
              <a:t>{{- $global := default (dict) .Values.global -}}
</a:t>
            </a:r>
            <a:r>
              <a:rPr lang="en-US" sz="16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r>
              <a:rPr lang="en-US" sz="1600" dirty="0">
                <a:solidFill>
                  <a:srgbClr val="E6E6E6"/>
                </a:solidFill>
                <a:latin typeface="Red Hat Mono" pitchFamily="34" charset="0"/>
                <a:ea typeface="Red Hat Mono" pitchFamily="34" charset="-122"/>
                <a:cs typeface="Red Hat Mono" pitchFamily="34" charset="-120"/>
              </a:rPr>
              <a:t>- name: OTEL_SDK_DISABLED
</a:t>
            </a:r>
            <a:r>
              <a:rPr lang="en-US" sz="1600" dirty="0">
                <a:solidFill>
                  <a:srgbClr val="E6E6E6"/>
                </a:solidFill>
                <a:latin typeface="Red Hat Mono" pitchFamily="34" charset="0"/>
                <a:ea typeface="Red Hat Mono" pitchFamily="34" charset="-122"/>
                <a:cs typeface="Red Hat Mono" pitchFamily="34" charset="-120"/>
              </a:rPr>
              <a:t>  value: {{ if $endpoint }}"false"{{ else }}"true"{{ end }}
</a:t>
            </a:r>
            <a:r>
              <a:rPr lang="en-US" sz="1600" dirty="0">
                <a:solidFill>
                  <a:srgbClr val="E6E6E6"/>
                </a:solidFill>
                <a:latin typeface="Red Hat Mono" pitchFamily="34" charset="0"/>
                <a:ea typeface="Red Hat Mono" pitchFamily="34" charset="-122"/>
                <a:cs typeface="Red Hat Mono" pitchFamily="34" charset="-120"/>
              </a:rPr>
              <a:t>{{- if $endpoint }}
</a:t>
            </a:r>
            <a:r>
              <a:rPr lang="en-US" sz="1600" dirty="0">
                <a:solidFill>
                  <a:srgbClr val="E6E6E6"/>
                </a:solidFill>
                <a:latin typeface="Red Hat Mono" pitchFamily="34" charset="0"/>
                <a:ea typeface="Red Hat Mono" pitchFamily="34" charset="-122"/>
                <a:cs typeface="Red Hat Mono" pitchFamily="34" charset="-120"/>
              </a:rPr>
              <a:t>- name: OTEL_EXPORTER_OTLP_ENDPOINT
</a:t>
            </a:r>
            <a:r>
              <a:rPr lang="en-US" sz="1600" dirty="0">
                <a:solidFill>
                  <a:srgbClr val="E6E6E6"/>
                </a:solidFill>
                <a:latin typeface="Red Hat Mono" pitchFamily="34" charset="0"/>
                <a:ea typeface="Red Hat Mono" pitchFamily="34" charset="-122"/>
                <a:cs typeface="Red Hat Mono" pitchFamily="34" charset="-120"/>
              </a:rPr>
              <a:t>  value: {{ $endpoint | quote }}
</a:t>
            </a:r>
            <a:r>
              <a:rPr lang="en-US" sz="1600" dirty="0">
                <a:solidFill>
                  <a:srgbClr val="E6E6E6"/>
                </a:solidFill>
                <a:latin typeface="Red Hat Mono" pitchFamily="34" charset="0"/>
                <a:ea typeface="Red Hat Mono" pitchFamily="34" charset="-122"/>
                <a:cs typeface="Red Hat Mono" pitchFamily="34" charset="-120"/>
              </a:rPr>
              <a:t>{{- end }}
</a:t>
            </a:r>
            <a:r>
              <a:rPr lang="en-US" sz="1600" dirty="0">
                <a:solidFill>
                  <a:srgbClr val="8FB98F"/>
                </a:solidFill>
                <a:latin typeface="Red Hat Mono" pitchFamily="34" charset="0"/>
                <a:ea typeface="Red Hat Mono" pitchFamily="34" charset="-122"/>
                <a:cs typeface="Red Hat Mono" pitchFamily="34" charset="-120"/>
              </a:rPr>
              <a:t># umbrella values.yaml
</a:t>
            </a:r>
            <a:r>
              <a:rPr lang="en-US" sz="1600" dirty="0">
                <a:solidFill>
                  <a:srgbClr val="E6E6E6"/>
                </a:solidFill>
                <a:latin typeface="Red Hat Mono" pitchFamily="34" charset="0"/>
                <a:ea typeface="Red Hat Mono" pitchFamily="34" charset="-122"/>
                <a:cs typeface="Red Hat Mono" pitchFamily="34" charset="-120"/>
              </a:rPr>
              <a:t>global:
</a:t>
            </a:r>
            <a:r>
              <a:rPr lang="en-US" sz="16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600" dirty="0"/>
          </a:p>
        </p:txBody>
      </p:sp>
      <p:sp>
        <p:nvSpPr>
          <p:cNvPr id="9" name="Text 6"/>
          <p:cNvSpPr/>
          <p:nvPr/>
        </p:nvSpPr>
        <p:spPr>
          <a:xfrm>
            <a:off x="566928" y="511210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restricted-v2</a:t>
            </a:r>
            <a:r>
              <a:rPr lang="en-US" sz="2000" dirty="0">
                <a:solidFill>
                  <a:srgbClr val="242424"/>
                </a:solidFill>
                <a:latin typeface="Red Hat Text" pitchFamily="34" charset="0"/>
                <a:ea typeface="Red Hat Text" pitchFamily="34" charset="-122"/>
                <a:cs typeface="Red Hat Text" pitchFamily="34" charset="-120"/>
              </a:rPr>
              <a:t>: the default Security Context Constraint assigns each pod a UID from the project's range and sets the group to 0.</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runAsUser fails</a:t>
            </a:r>
            <a:r>
              <a:rPr lang="en-US" sz="2000" dirty="0">
                <a:solidFill>
                  <a:srgbClr val="242424"/>
                </a:solidFill>
                <a:latin typeface="Red Hat Text" pitchFamily="34" charset="0"/>
                <a:ea typeface="Red Hat Text" pitchFamily="34" charset="-122"/>
                <a:cs typeface="Red Hat Text" pitchFamily="34" charset="-120"/>
              </a:rPr>
              <a:t>: a manifest that asks for a specific UID, such as 1001, is rejected at admission.</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pc-lib avoids it</a:t>
            </a:r>
            <a:r>
              <a:rPr lang="en-US" sz="2000" dirty="0">
                <a:solidFill>
                  <a:srgbClr val="242424"/>
                </a:solidFill>
                <a:latin typeface="Red Hat Text" pitchFamily="34" charset="0"/>
                <a:ea typeface="Red Hat Text" pitchFamily="34" charset="-122"/>
                <a:cs typeface="Red Hat Text" pitchFamily="34" charset="-120"/>
              </a:rPr>
              <a:t>: renders runAsNonRoot, no privilege escalation, dropped capabilities and RuntimeDefault seccomp, and never emits runAsUser or fsGroup.</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Group-0 files</a:t>
            </a:r>
            <a:r>
              <a:rPr lang="en-US" sz="2000" dirty="0">
                <a:solidFill>
                  <a:srgbClr val="242424"/>
                </a:solidFill>
                <a:latin typeface="Red Hat Text" pitchFamily="34" charset="0"/>
                <a:ea typeface="Red Hat Text" pitchFamily="34" charset="-122"/>
                <a:cs typeface="Red Hat Text" pitchFamily="34" charset="-120"/>
              </a:rPr>
              <a:t>: the image makes its files group-0 readable, so the assigned UID, near 1000650000, still runs the container.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OpenShift overrides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and yaml · helm</a:t>
            </a:r>
            <a:endParaRPr lang="en-US" sz="1100" dirty="0"/>
          </a:p>
        </p:txBody>
      </p:sp>
      <p:sp>
        <p:nvSpPr>
          <p:cNvPr id="7" name="Shape 4"/>
          <p:cNvSpPr/>
          <p:nvPr/>
        </p:nvSpPr>
        <p:spPr>
          <a:xfrm>
            <a:off x="566928" y="1417320"/>
            <a:ext cx="11055096" cy="342879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45910"/>
          </a:xfrm>
          <a:prstGeom prst="rect">
            <a:avLst/>
          </a:prstGeom>
          <a:noFill/>
          <a:ln/>
        </p:spPr>
        <p:txBody>
          <a:bodyPr wrap="square" rtlCol="0" anchor="t"/>
          <a:lstStyle/>
          <a:p>
            <a:pPr algn="l" indent="0" marL="0">
              <a:lnSpc>
                <a:spcPct val="110000"/>
              </a:lnSpc>
              <a:buNone/>
            </a:pPr>
            <a:r>
              <a:rPr lang="en-US" sz="1650" dirty="0">
                <a:solidFill>
                  <a:srgbClr val="8FB98F"/>
                </a:solidFill>
                <a:latin typeface="Red Hat Mono" pitchFamily="34" charset="0"/>
                <a:ea typeface="Red Hat Mono" pitchFamily="34" charset="-122"/>
                <a:cs typeface="Red Hat Mono" pitchFamily="34" charset="-120"/>
              </a:rPr>
              <a:t># Same chart as minikube, with the OpenShift overrides
</a:t>
            </a:r>
            <a:r>
              <a:rPr lang="en-US" sz="1650" dirty="0">
                <a:solidFill>
                  <a:srgbClr val="E6E6E6"/>
                </a:solidFill>
                <a:latin typeface="Red Hat Mono" pitchFamily="34" charset="0"/>
                <a:ea typeface="Red Hat Mono" pitchFamily="34" charset="-122"/>
                <a:cs typeface="Red Hat Mono" pitchFamily="34" charset="-120"/>
              </a:rPr>
              <a:t>[crc-host]$ helm upgrade --install platform charts/shipping-platform -n hfd-ocp \
</a:t>
            </a:r>
            <a:r>
              <a:rPr lang="en-US" sz="1650" dirty="0">
                <a:solidFill>
                  <a:srgbClr val="E6E6E6"/>
                </a:solidFill>
                <a:latin typeface="Red Hat Mono" pitchFamily="34" charset="0"/>
                <a:ea typeface="Red Hat Mono" pitchFamily="34" charset="-122"/>
                <a:cs typeface="Red Hat Mono" pitchFamily="34" charset="-120"/>
              </a:rPr>
              <a:t>          -f values-openshift.yaml -f values-openshift-minimal.yaml \
</a:t>
            </a:r>
            <a:r>
              <a:rPr lang="en-US" sz="1650" dirty="0">
                <a:solidFill>
                  <a:srgbClr val="E6E6E6"/>
                </a:solidFill>
                <a:latin typeface="Red Hat Mono" pitchFamily="34" charset="0"/>
                <a:ea typeface="Red Hat Mono" pitchFamily="34" charset="-122"/>
                <a:cs typeface="Red Hat Mono" pitchFamily="34" charset="-120"/>
              </a:rPr>
              <a:t>          --wait --rollback-on-failure
</a:t>
            </a:r>
            <a:r>
              <a:rPr lang="en-US" sz="1650" dirty="0">
                <a:solidFill>
                  <a:srgbClr val="8FB98F"/>
                </a:solidFill>
                <a:latin typeface="Red Hat Mono" pitchFamily="34" charset="0"/>
                <a:ea typeface="Red Hat Mono" pitchFamily="34" charset="-122"/>
                <a:cs typeface="Red Hat Mono" pitchFamily="34" charset="-120"/>
              </a:rPr>
              <a:t># values-openshift.yaml
</a:t>
            </a:r>
            <a:r>
              <a:rPr lang="en-US" sz="1650" dirty="0">
                <a:solidFill>
                  <a:srgbClr val="E6E6E6"/>
                </a:solidFill>
                <a:latin typeface="Red Hat Mono" pitchFamily="34" charset="0"/>
                <a:ea typeface="Red Hat Mono" pitchFamily="34" charset="-122"/>
                <a:cs typeface="Red Hat Mono" pitchFamily="34" charset="-120"/>
              </a:rPr>
              <a:t>global:
</a:t>
            </a:r>
            <a:r>
              <a:rPr lang="en-US" sz="1650" dirty="0">
                <a:solidFill>
                  <a:srgbClr val="E6E6E6"/>
                </a:solidFill>
                <a:latin typeface="Red Hat Mono" pitchFamily="34" charset="0"/>
                <a:ea typeface="Red Hat Mono" pitchFamily="34" charset="-122"/>
                <a:cs typeface="Red Hat Mono" pitchFamily="34" charset="-120"/>
              </a:rPr>
              <a:t>  environment: openshift
</a:t>
            </a:r>
            <a:r>
              <a:rPr lang="en-US" sz="1650" dirty="0">
                <a:solidFill>
                  <a:srgbClr val="E6E6E6"/>
                </a:solidFill>
                <a:latin typeface="Red Hat Mono" pitchFamily="34" charset="0"/>
                <a:ea typeface="Red Hat Mono" pitchFamily="34" charset="-122"/>
                <a:cs typeface="Red Hat Mono" pitchFamily="34" charset="-120"/>
              </a:rPr>
              <a:t>  imageRegistry: image-registry.openshift-image-registry.svc:5000/hfd-ocp
</a:t>
            </a:r>
            <a:r>
              <a:rPr lang="en-US" sz="1650" dirty="0">
                <a:solidFill>
                  <a:srgbClr val="E6E6E6"/>
                </a:solidFill>
                <a:latin typeface="Red Hat Mono" pitchFamily="34" charset="0"/>
                <a:ea typeface="Red Hat Mono" pitchFamily="34" charset="-122"/>
                <a:cs typeface="Red Hat Mono" pitchFamily="34" charset="-120"/>
              </a:rPr>
              <a:t>shipping:
</a:t>
            </a:r>
            <a:r>
              <a:rPr lang="en-US" sz="1650" dirty="0">
                <a:solidFill>
                  <a:srgbClr val="E6E6E6"/>
                </a:solidFill>
                <a:latin typeface="Red Hat Mono" pitchFamily="34" charset="0"/>
                <a:ea typeface="Red Hat Mono" pitchFamily="34" charset="-122"/>
                <a:cs typeface="Red Hat Mono" pitchFamily="34" charset="-120"/>
              </a:rPr>
              <a:t>  service:
</a:t>
            </a:r>
            <a:r>
              <a:rPr lang="en-US" sz="1650" dirty="0">
                <a:solidFill>
                  <a:srgbClr val="E6E6E6"/>
                </a:solidFill>
                <a:latin typeface="Red Hat Mono" pitchFamily="34" charset="0"/>
                <a:ea typeface="Red Hat Mono" pitchFamily="34" charset="-122"/>
                <a:cs typeface="Red Hat Mono" pitchFamily="34" charset="-120"/>
              </a:rPr>
              <a:t>    type: ClusterIP
</a:t>
            </a:r>
            <a:endParaRPr lang="en-US" sz="1650" dirty="0"/>
          </a:p>
        </p:txBody>
      </p:sp>
      <p:sp>
        <p:nvSpPr>
          <p:cNvPr id="9" name="Text 6"/>
          <p:cNvSpPr/>
          <p:nvPr/>
        </p:nvSpPr>
        <p:spPr>
          <a:xfrm>
            <a:off x="566928" y="493755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examples/27-openshift-crc. Routes replace NodePorts; images come from the internal registry.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Console chart repository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console</a:t>
            </a:r>
            <a:endParaRPr lang="en-US" sz="1100" dirty="0"/>
          </a:p>
        </p:txBody>
      </p:sp>
      <p:sp>
        <p:nvSpPr>
          <p:cNvPr id="7" name="Shape 4"/>
          <p:cNvSpPr/>
          <p:nvPr/>
        </p:nvSpPr>
        <p:spPr>
          <a:xfrm>
            <a:off x="566928" y="1417320"/>
            <a:ext cx="11055096" cy="332904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146165"/>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Developer console: expose a chart repository to one project
</a:t>
            </a:r>
            <a:r>
              <a:rPr lang="en-US" sz="1950" dirty="0">
                <a:solidFill>
                  <a:srgbClr val="E6E6E6"/>
                </a:solidFill>
                <a:latin typeface="Red Hat Mono" pitchFamily="34" charset="0"/>
                <a:ea typeface="Red Hat Mono" pitchFamily="34" charset="-122"/>
                <a:cs typeface="Red Hat Mono" pitchFamily="34" charset="-120"/>
              </a:rPr>
              <a:t>apiVersion: helm.openshift.io/v1beta1
</a:t>
            </a:r>
            <a:r>
              <a:rPr lang="en-US" sz="1950" dirty="0">
                <a:solidFill>
                  <a:srgbClr val="E6E6E6"/>
                </a:solidFill>
                <a:latin typeface="Red Hat Mono" pitchFamily="34" charset="0"/>
                <a:ea typeface="Red Hat Mono" pitchFamily="34" charset="-122"/>
                <a:cs typeface="Red Hat Mono" pitchFamily="34" charset="-120"/>
              </a:rPr>
              <a:t>kind: ProjectHelmChartRepository
</a:t>
            </a:r>
            <a:r>
              <a:rPr lang="en-US" sz="1950" dirty="0">
                <a:solidFill>
                  <a:srgbClr val="E6E6E6"/>
                </a:solidFill>
                <a:latin typeface="Red Hat Mono" pitchFamily="34" charset="0"/>
                <a:ea typeface="Red Hat Mono" pitchFamily="34" charset="-122"/>
                <a:cs typeface="Red Hat Mono" pitchFamily="34" charset="-120"/>
              </a:rPr>
              <a:t>metadata:
</a:t>
            </a:r>
            <a:r>
              <a:rPr lang="en-US" sz="1950" dirty="0">
                <a:solidFill>
                  <a:srgbClr val="E6E6E6"/>
                </a:solidFill>
                <a:latin typeface="Red Hat Mono" pitchFamily="34" charset="0"/>
                <a:ea typeface="Red Hat Mono" pitchFamily="34" charset="-122"/>
                <a:cs typeface="Red Hat Mono" pitchFamily="34" charset="-120"/>
              </a:rPr>
              <a:t>  name: hfd-charts
</a:t>
            </a:r>
            <a:r>
              <a:rPr lang="en-US" sz="1950" dirty="0">
                <a:solidFill>
                  <a:srgbClr val="E6E6E6"/>
                </a:solidFill>
                <a:latin typeface="Red Hat Mono" pitchFamily="34" charset="0"/>
                <a:ea typeface="Red Hat Mono" pitchFamily="34" charset="-122"/>
                <a:cs typeface="Red Hat Mono" pitchFamily="34" charset="-120"/>
              </a:rPr>
              <a:t>  namespace: hfd-ocp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connectionConfig:
</a:t>
            </a:r>
            <a:r>
              <a:rPr lang="en-US" sz="1950" dirty="0">
                <a:solidFill>
                  <a:srgbClr val="E6E6E6"/>
                </a:solidFill>
                <a:latin typeface="Red Hat Mono" pitchFamily="34" charset="0"/>
                <a:ea typeface="Red Hat Mono" pitchFamily="34" charset="-122"/>
                <a:cs typeface="Red Hat Mono" pitchFamily="34" charset="-120"/>
              </a:rPr>
              <a:t>    url: https://patterncatalyst.github.io/helm-for-developers/charts
</a:t>
            </a:r>
            <a:endParaRPr lang="en-US" sz="1950" dirty="0"/>
          </a:p>
        </p:txBody>
      </p:sp>
      <p:sp>
        <p:nvSpPr>
          <p:cNvPr id="9" name="Text 6"/>
          <p:cNvSpPr/>
          <p:nvPr/>
        </p:nvSpPr>
        <p:spPr>
          <a:xfrm>
            <a:off x="566928" y="483780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console installs charts from a repository registered per project; the URL is this site's published chart repository, a classic index.yaml plus packaged archives.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Test in layers</a:t>
            </a:r>
            <a:r>
              <a:rPr lang="en-US" sz="1800" dirty="0">
                <a:solidFill>
                  <a:srgbClr val="242424"/>
                </a:solidFill>
                <a:latin typeface="Red Hat Text" pitchFamily="34" charset="0"/>
                <a:ea typeface="Red Hat Text" pitchFamily="34" charset="-122"/>
                <a:cs typeface="Red Hat Text" pitchFamily="34" charset="-120"/>
              </a:rPr>
              <a:t>: lint and unit tests on every push, kubeconform and server dry-run next, ct install on a real cluster last.</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Compose with intent</a:t>
            </a:r>
            <a:r>
              <a:rPr lang="en-US" sz="1800" dirty="0">
                <a:solidFill>
                  <a:srgbClr val="242424"/>
                </a:solidFill>
                <a:latin typeface="Red Hat Text" pitchFamily="34" charset="0"/>
                <a:ea typeface="Red Hat Text" pitchFamily="34" charset="-122"/>
                <a:cs typeface="Red Hat Text" pitchFamily="34" charset="-120"/>
              </a:rPr>
              <a:t>: an umbrella for the platform, a library chart for shared templates, a starter for the golden path.</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Ship by digest</a:t>
            </a:r>
            <a:r>
              <a:rPr lang="en-US" sz="1800" dirty="0">
                <a:solidFill>
                  <a:srgbClr val="242424"/>
                </a:solidFill>
                <a:latin typeface="Red Hat Text" pitchFamily="34" charset="0"/>
                <a:ea typeface="Red Hat Text" pitchFamily="34" charset="-122"/>
                <a:cs typeface="Red Hat Text" pitchFamily="34" charset="-120"/>
              </a:rPr>
              <a:t>: OCI registries, SemVer with appVersion kept separate, .prov or cosign signatures.</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Extend through plugins</a:t>
            </a:r>
            <a:r>
              <a:rPr lang="en-US" sz="1800" dirty="0">
                <a:solidFill>
                  <a:srgbClr val="242424"/>
                </a:solidFill>
                <a:latin typeface="Red Hat Text" pitchFamily="34" charset="0"/>
                <a:ea typeface="Red Hat Text" pitchFamily="34" charset="-122"/>
                <a:cs typeface="Red Hat Text" pitchFamily="34" charset="-120"/>
              </a:rPr>
              <a:t>: typed plugins and Wasm in Helm 4; post-renderers are plugins only.</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Choose who runs the release</a:t>
            </a:r>
            <a:r>
              <a:rPr lang="en-US" sz="1800" dirty="0">
                <a:solidFill>
                  <a:srgbClr val="242424"/>
                </a:solidFill>
                <a:latin typeface="Red Hat Text" pitchFamily="34" charset="0"/>
                <a:ea typeface="Red Hat Text" pitchFamily="34" charset="-122"/>
                <a:cs typeface="Red Hat Text" pitchFamily="34" charset="-120"/>
              </a:rPr>
              <a:t>: helm directly, Helmfile, or Argo CD, each with different hook and wait semantics.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Render-only tests;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-u</a:t>
                      </a:r>
                      <a:r>
                        <a:rPr lang="en-US" sz="1400" dirty="0">
                          <a:solidFill>
                            <a:srgbClr val="242424"/>
                          </a:solidFill>
                          <a:latin typeface="Red Hat Text" pitchFamily="34" charset="0"/>
                          <a:ea typeface="Red Hat Text" pitchFamily="34" charset="-122"/>
                          <a:cs typeface="Red Hat Text" pitchFamily="34" charset="-120"/>
                        </a:rPr>
                        <a:t> refreshes snapshots.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oci:// references; add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--plain-http</a:t>
                      </a:r>
                      <a:r>
                        <a:rPr lang="en-US" sz="1400" dirty="0">
                          <a:solidFill>
                            <a:srgbClr val="242424"/>
                          </a:solidFill>
                          <a:latin typeface="Red Hat Text" pitchFamily="34" charset="0"/>
                          <a:ea typeface="Red Hat Text" pitchFamily="34" charset="-122"/>
                          <a:cs typeface="Red Hat Text" pitchFamily="34" charset="-120"/>
                        </a:rPr>
                        <a:t> for a local HTTP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Names a postrenderer/v1 plugin; arguments via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--post-renderer-args</a:t>
                      </a:r>
                      <a:r>
                        <a:rPr lang="en-US" sz="1400" dirty="0">
                          <a:solidFill>
                            <a:srgbClr val="242424"/>
                          </a:solidFill>
                          <a:latin typeface="Red Hat Text" pitchFamily="34" charset="0"/>
                          <a:ea typeface="Red Hat Text" pitchFamily="34" charset="-122"/>
                          <a:cs typeface="Red Hat Text" pitchFamily="34" charset="-120"/>
                        </a:rPr>
                        <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Books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4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400" dirty="0"/>
          </a:p>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Official sources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helm-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workshop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runnable charts, and the hands-on labs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patterncatalyst.github.io/helm-for-developers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2026-10-23T16:25:19Z</dcterms:created>
  <dcterms:modified xsi:type="dcterms:W3CDTF">2026-10-23T16:25:19Z</dcterms:modified>
</cp:coreProperties>
</file>