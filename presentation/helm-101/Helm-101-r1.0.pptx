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the outline (chapter 00)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or ./demo.sh offline, which runs helm show chart and helm template without a cluster.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previous flags are forgotten unless the same -f files are passed again or --reuse-values or --reset-then-reuse-values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The commands assume the working directory examples/05-values, so the chart is ./shipping-service.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so a NodePort release gets the minikube service command and every other type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platform umbrella chart hit this deadlock on its first install attempt.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the observed failure path in chapter 12 shows a failed upgrade rolled back on the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induced failure and the two recovery behaviors. The commands assume the working directory examples/12-release-lifecycle.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which on 4.3.0 needs --take-ownership --force-conflicts because the existing fields belong to another manager. Step 10 shows --force-replace rejected under server-side apply and working with --server-side=false.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The commands assume the working directory examples/05-values.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kinds resolve against the API server, lookup returns live objects and .Capabilities.APIVersions reflects the real cluster. On Helm 4.3.0 it does not schema-validate fields: a string containerPort, an unknown field or a Pod Security violation all pass, so use kubeconform, or kubectl apply --server-side --dry-run=server on helm template output, for that.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the reference artifact: it is tested, packaged, signed, extended with plugins and promoted across environments. What to show: the reference charts under charts/ (shipping-service, notification-service, shipping-platform) and the umbrella install in chapter 22. Fallback: the outline (chapter 00) for the chapter list with durations. The cheat sheet in appendix chapter 29 accompanies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a helm3-reference marker in the source. The old spellings of the rename pair still work in Helm 4 with a deprecation warning, which makes them findable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Values: precedence, override flags, schema</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Verification: lint, template, dry-run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chart is a versioned package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release is a named installation</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records every change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is a command-line client</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950208"/>
        </p:xfrm>
        <a:graphic>
          <a:graphicData uri="http://schemas.openxmlformats.org/drawingml/2006/table">
            <a:tbl>
              <a:tblPr/>
              <a:tblGrid>
                <a:gridCol w="2194560"/>
                <a:gridCol w="2743200"/>
                <a:gridCol w="6117336"/>
              </a:tblGrid>
              <a:tr h="658368">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Apply</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Server-side apply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Failure</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--rollback-on-failure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Replaces Helm 3's atomic flag; implies --wait=watcher</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Wait</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kstatus watcher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--wait takes watcher, hookOnly or legacy; a bare --wait means watcher</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Plugins</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Typed, optional Wasm</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Post-renderers</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Plugins only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Charts</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apiVersion v2 unchanged</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Release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Repository or registry</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691640"/>
            <a:ext cx="6949440" cy="2704795"/>
          </a:xfrm>
          <a:prstGeom prst="rect">
            <a:avLst/>
          </a:prstGeom>
          <a:solidFill>
            <a:srgbClr val="151515"/>
          </a:solidFill>
          <a:ln w="12700">
            <a:solidFill>
              <a:srgbClr val="151515"/>
            </a:solidFill>
            <a:prstDash val="solid"/>
          </a:ln>
        </p:spPr>
      </p:sp>
      <p:sp>
        <p:nvSpPr>
          <p:cNvPr id="8" name="Text 5"/>
          <p:cNvSpPr/>
          <p:nvPr/>
        </p:nvSpPr>
        <p:spPr>
          <a:xfrm>
            <a:off x="749808" y="1783080"/>
            <a:ext cx="6583680" cy="2521915"/>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shipping-service/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Chart.yaml     # required: name, version, appVersion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values.yaml    # defaults read through .Values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.helmignore    # files left out of the package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templates/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configmap.yaml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deployment.yaml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service.yaml
</a:t>
            </a:r>
            <a:endParaRPr lang="en-US" sz="1400" dirty="0"/>
          </a:p>
        </p:txBody>
      </p:sp>
      <p:sp>
        <p:nvSpPr>
          <p:cNvPr id="9" name="Text 6"/>
          <p:cNvSpPr/>
          <p:nvPr/>
        </p:nvSpPr>
        <p:spPr>
          <a:xfrm>
            <a:off x="566928" y="4469587"/>
            <a:ext cx="694944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836408" y="1783080"/>
            <a:ext cx="378835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Chart.yaml</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values.yaml</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defaults, read by templates as .Values.</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.helmignore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400800" cy="2468880"/>
          </a:xfrm>
          <a:prstGeom prst="rect">
            <a:avLst/>
          </a:prstGeom>
          <a:solidFill>
            <a:srgbClr val="151515"/>
          </a:solidFill>
          <a:ln w="12700">
            <a:solidFill>
              <a:srgbClr val="151515"/>
            </a:solidFill>
            <a:prstDash val="solid"/>
          </a:ln>
        </p:spPr>
      </p:sp>
      <p:sp>
        <p:nvSpPr>
          <p:cNvPr id="8" name="Text 5"/>
          <p:cNvSpPr/>
          <p:nvPr/>
        </p:nvSpPr>
        <p:spPr>
          <a:xfrm>
            <a:off x="749808" y="1783080"/>
            <a:ext cx="6035040" cy="2286000"/>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v2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name: shipping-service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type: application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version: 0.4.0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appVersion: "0.1.0"
</a:t>
            </a:r>
            <a:endParaRPr lang="en-US" sz="2000" dirty="0"/>
          </a:p>
        </p:txBody>
      </p:sp>
      <p:sp>
        <p:nvSpPr>
          <p:cNvPr id="9" name="Text 6"/>
          <p:cNvSpPr/>
          <p:nvPr/>
        </p:nvSpPr>
        <p:spPr>
          <a:xfrm>
            <a:off x="566928" y="4233672"/>
            <a:ext cx="640080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783080"/>
            <a:ext cx="433699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apiVersion: v2</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type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version</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appVersion</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[host]$ helm history shipping -n hfd-04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[host]$ helm get values shipping -n hfd-04 --all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[host]$ helm get manifest shipping -n hfd-04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[host]$ kubectl -n hfd-04 get secrets -l owner=helm
</a:t>
            </a:r>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one Secret per revision, type helm.sh/release.v1
</a:t>
            </a:r>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sh.helm.release.v1.shipping.v1, .v2, .v3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[host]$ helm uninstall shipping -n hfd-04 --keep-history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[host]$ helm list -n hfd-04 --uninstalled
</a:t>
            </a:r>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-f file in order, then --set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cd examples/05-values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helm template shipping ./shipping-service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 values-prod.yaml --set replicaCount=5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helm template shipping ./shipping-service --set-string image.tag=12345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--set-string forces a string; --set image.tag=12345 fails the schema (number, want string)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helm template shipping ./shipping-service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--set-json 'resources={"limits":{"memory":"1Gi"}}'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--set-json takes a JSON value for a map or list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helm template shipping ./shipping-service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--set-file config.defaultCarrier=carrier.txt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--set-file uses the file content, trailing newline included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helm template shipping ./shipping-service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--set-literal config.defaultCarrier=ACME,Post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691640"/>
            <a:ext cx="7132320" cy="4251960"/>
          </a:xfrm>
          <a:prstGeom prst="rect">
            <a:avLst/>
          </a:prstGeom>
          <a:solidFill>
            <a:srgbClr val="151515"/>
          </a:solidFill>
          <a:ln w="12700">
            <a:solidFill>
              <a:srgbClr val="151515"/>
            </a:solidFill>
            <a:prstDash val="solid"/>
          </a:ln>
        </p:spPr>
      </p:sp>
      <p:sp>
        <p:nvSpPr>
          <p:cNvPr id="8" name="Text 5"/>
          <p:cNvSpPr/>
          <p:nvPr/>
        </p:nvSpPr>
        <p:spPr>
          <a:xfrm>
            <a:off x="749808" y="1783080"/>
            <a:ext cx="6766560"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"$schema": "https://json-schema.org/draft-07/schema#",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 "object",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"additionalProperties": false,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"replicaCount": {"type": "integer", "minimum": 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"image":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 "object",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"pullPolicy": {"enum": ["Always", "IfNotPresent", "Never"]}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"service":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"nodePort": {"type": ["integer", "null"],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"minimum": 30000, "maximum": 32767}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71323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8019288" y="1783080"/>
            <a:ext cx="360547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Runs on the merged values</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additionalProperties: false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enum, minimum, maximum</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Strict by design</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7498080" cy="2862072"/>
          </a:xfrm>
          <a:prstGeom prst="rect">
            <a:avLst/>
          </a:prstGeom>
          <a:solidFill>
            <a:srgbClr val="151515"/>
          </a:solidFill>
          <a:ln w="12700">
            <a:solidFill>
              <a:srgbClr val="151515"/>
            </a:solidFill>
            <a:prstDash val="solid"/>
          </a:ln>
        </p:spPr>
      </p:sp>
      <p:sp>
        <p:nvSpPr>
          <p:cNvPr id="8" name="Text 5"/>
          <p:cNvSpPr/>
          <p:nvPr/>
        </p:nvSpPr>
        <p:spPr>
          <a:xfrm>
            <a:off x="749808" y="1783080"/>
            <a:ext cx="7132320" cy="2679192"/>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$fullname := printf "%s-%s" .Release.Name .Chart.Name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$image := printf "%s:%s"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(required "image.repository is required" .Values.image.repository)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(.Values.image.tag | default .Chart.AppVersion)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apiVersion: apps/v1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kind: Deployment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name: {{ $fullname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log-level: {{ .Values.config.logLevel | quote }}
</a:t>
            </a:r>
            <a:endParaRPr lang="en-US" sz="1200" dirty="0"/>
          </a:p>
        </p:txBody>
      </p:sp>
      <p:sp>
        <p:nvSpPr>
          <p:cNvPr id="9" name="Text 6"/>
          <p:cNvSpPr/>
          <p:nvPr/>
        </p:nvSpPr>
        <p:spPr>
          <a:xfrm>
            <a:off x="566928" y="4626864"/>
            <a:ext cx="749808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8385048" y="1783080"/>
            <a:ext cx="323971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.Values, .Release, .Chart</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Pipelines</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Variables</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declared with := and read as $name.</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Whitespace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with .Values.imagePullSecrets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imagePullSecrets: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 toYaml . | nindent 8 }}      # inside with, dot is the list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with .Values.podAnnotations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annotations: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 range $key, $value := .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 $key | quote }}: {{ tpl $value $ | quote }}   # $ is always the root context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 end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if and (eq .Values.service.type "NodePort") .Values.service.nodePort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nodePort: {{ .Values.service.nodePort }}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end }}
</a:t>
            </a:r>
            <a:endParaRPr lang="en-US" sz="16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7680960" cy="4251960"/>
          </a:xfrm>
          <a:prstGeom prst="rect">
            <a:avLst/>
          </a:prstGeom>
          <a:solidFill>
            <a:srgbClr val="151515"/>
          </a:solidFill>
          <a:ln w="12700">
            <a:solidFill>
              <a:srgbClr val="151515"/>
            </a:solidFill>
            <a:prstDash val="solid"/>
          </a:ln>
        </p:spPr>
      </p:sp>
      <p:sp>
        <p:nvSpPr>
          <p:cNvPr id="8" name="Text 5"/>
          <p:cNvSpPr/>
          <p:nvPr/>
        </p:nvSpPr>
        <p:spPr>
          <a:xfrm>
            <a:off x="749808" y="1783080"/>
            <a:ext cx="7315200"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_helpers.tpl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define "shipping-service.name"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default .Chart.Name .Values.nameOverride | trunc 63 | trimSuffix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define "shipping-service.selectorLabels"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app.kubernetes.io/name: {{ include "shipping-service.name"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app.kubernetes.io/instance: {{ .Release.Name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call site, in any template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200" dirty="0"/>
          </a:p>
        </p:txBody>
      </p:sp>
      <p:sp>
        <p:nvSpPr>
          <p:cNvPr id="9" name="Text 6"/>
          <p:cNvSpPr/>
          <p:nvPr/>
        </p:nvSpPr>
        <p:spPr>
          <a:xfrm>
            <a:off x="566928" y="5943600"/>
            <a:ext cx="768096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8567928" y="1783080"/>
            <a:ext cx="305683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define ... end</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include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template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Pass the context</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072384"/>
        </p:xfrm>
        <a:graphic>
          <a:graphicData uri="http://schemas.openxmlformats.org/drawingml/2006/table">
            <a:tbl>
              <a:tblPr/>
              <a:tblGrid>
                <a:gridCol w="1737360"/>
                <a:gridCol w="2560320"/>
                <a:gridCol w="6757416"/>
              </a:tblGrid>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tpl</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Render a string</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required</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Stop on empty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fail</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Reject a combination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lookup</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 the cluster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Returns an empty map under helm template and --dry-run=client; works with --dry-run=server</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include "pc-lib.fullname" . }} {{ .Chart.AppVersion }} installed as release "{{ .Release.Name }}" in namespace {{ .Release.Namespace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Storage: {{ .Values.config.storage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Reach the service: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eq .Values.service.type "NodePort"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[host]$ minikube -p helm4dev service {{ include "pc-lib.fullname" . }} -n {{ .Release.Namespace }} --url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else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Run the chart test: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7315200" cy="1828800"/>
          </a:xfrm>
          <a:prstGeom prst="rect">
            <a:avLst/>
          </a:prstGeom>
          <a:solidFill>
            <a:srgbClr val="151515"/>
          </a:solidFill>
          <a:ln w="12700">
            <a:solidFill>
              <a:srgbClr val="151515"/>
            </a:solidFill>
            <a:prstDash val="solid"/>
          </a:ln>
        </p:spPr>
      </p:sp>
      <p:sp>
        <p:nvSpPr>
          <p:cNvPr id="8" name="Text 5"/>
          <p:cNvSpPr/>
          <p:nvPr/>
        </p:nvSpPr>
        <p:spPr>
          <a:xfrm>
            <a:off x="749808" y="1783080"/>
            <a:ext cx="6949440" cy="164592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template: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metadata: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annotations: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checksum/config: {{ include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(print $.Template.BasePath "/configmap.yaml") . | sha256sum }}
</a:t>
            </a:r>
            <a:endParaRPr lang="en-US" sz="1200" dirty="0"/>
          </a:p>
        </p:txBody>
      </p:sp>
      <p:sp>
        <p:nvSpPr>
          <p:cNvPr id="9" name="Text 6"/>
          <p:cNvSpPr/>
          <p:nvPr/>
        </p:nvSpPr>
        <p:spPr>
          <a:xfrm>
            <a:off x="566928" y="3593592"/>
            <a:ext cx="731520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8202168" y="1783080"/>
            <a:ext cx="342259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problem</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fix</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Deterministic input only</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500" dirty="0"/>
          </a:p>
          <a:p>
            <a:pPr marL="228600" indent="-2286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Alternative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194560"/>
                <a:gridCol w="2377440"/>
                <a:gridCol w="6483096"/>
              </a:tblGrid>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existingSecret</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Nothing in Git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External Secrets</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ExternalSecret in Git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Sealed Secrets</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Encrypted in Git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SOPS</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Encrypted values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auth.token</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Plain in values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743200"/>
                <a:gridCol w="2103120"/>
                <a:gridCol w="6208776"/>
              </a:tblGrid>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helm.sh/hook</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hook-weight</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Order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hook-delete-policy</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Cleanup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pre-install</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Database exists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post-install</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Needs readiness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Runs after --wait; deadlocks when readiness depends on the migration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7223760" cy="3097987"/>
          </a:xfrm>
          <a:prstGeom prst="rect">
            <a:avLst/>
          </a:prstGeom>
          <a:solidFill>
            <a:srgbClr val="151515"/>
          </a:solidFill>
          <a:ln w="12700">
            <a:solidFill>
              <a:srgbClr val="151515"/>
            </a:solidFill>
            <a:prstDash val="solid"/>
          </a:ln>
        </p:spPr>
      </p:sp>
      <p:sp>
        <p:nvSpPr>
          <p:cNvPr id="8" name="Text 5"/>
          <p:cNvSpPr/>
          <p:nvPr/>
        </p:nvSpPr>
        <p:spPr>
          <a:xfrm>
            <a:off x="749808" y="1783080"/>
            <a:ext cx="6858000" cy="2915107"/>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[host]$ cd examples/12-release-lifecycle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[host]$ helm upgrade shipping ./shipping-service -n hfd-12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 image.tag=doesnotexist --wait --timeout 60s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--rollback-on-failure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[host]$ helm history shipping -n hfd-12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4 failed     Upgrade "shipping" failed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5 deployed   Rollback to 3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[host]$ helm upgrade shipping ./shipping-service -n hfd-12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--cleanup-on-fail --wait
</a:t>
            </a:r>
            <a:endParaRPr lang="en-US" sz="1200" dirty="0"/>
          </a:p>
        </p:txBody>
      </p:sp>
      <p:sp>
        <p:nvSpPr>
          <p:cNvPr id="9" name="Text 6"/>
          <p:cNvSpPr/>
          <p:nvPr/>
        </p:nvSpPr>
        <p:spPr>
          <a:xfrm>
            <a:off x="566928" y="4862779"/>
            <a:ext cx="722376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examples/12-release-lifecycle; demo.sh steps 3 and 4</a:t>
            </a:r>
            <a:endParaRPr lang="en-US" sz="1300" dirty="0"/>
          </a:p>
        </p:txBody>
      </p:sp>
      <p:sp>
        <p:nvSpPr>
          <p:cNvPr id="10" name="Text 7"/>
          <p:cNvSpPr/>
          <p:nvPr/>
        </p:nvSpPr>
        <p:spPr>
          <a:xfrm>
            <a:off x="8110728" y="1783080"/>
            <a:ext cx="3514039" cy="411480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--wait strategies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400" dirty="0"/>
          </a:p>
          <a:p>
            <a:pPr marL="228600" indent="-2286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--rollback-on-failure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400" dirty="0"/>
          </a:p>
          <a:p>
            <a:pPr marL="228600" indent="-2286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--cleanup-on-fail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400" dirty="0"/>
          </a:p>
          <a:p>
            <a:pPr marL="228600" indent="-2286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Default for new releases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helm install </a:t>
            </a:r>
            <a:pPr indent="0" marL="0">
              <a:lnSpc>
                <a:spcPct val="112000"/>
              </a:lnSpc>
              <a:buNone/>
            </a:pPr>
            <a:r>
              <a:rPr lang="en-US" sz="1900" dirty="0">
                <a:solidFill>
                  <a:srgbClr val="151515"/>
                </a:solidFill>
                <a:latin typeface="Red Hat Mono" pitchFamily="34" charset="0"/>
                <a:ea typeface="Red Hat Mono" pitchFamily="34" charset="-122"/>
                <a:cs typeface="Red Hat Mono" pitchFamily="34" charset="-120"/>
              </a:rPr>
              <a:t>--server-side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is true; upgrade defaults to auto and follows the previous revision's method.</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Field ownership</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--force-conflicts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--take-ownership</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with </a:t>
            </a:r>
            <a:pPr indent="0" marL="0">
              <a:lnSpc>
                <a:spcPct val="112000"/>
              </a:lnSpc>
              <a:buNone/>
            </a:pPr>
            <a:r>
              <a:rPr lang="en-US" sz="1900" dirty="0">
                <a:solidFill>
                  <a:srgbClr val="151515"/>
                </a:solidFill>
                <a:latin typeface="Red Hat Mono" pitchFamily="34" charset="0"/>
                <a:ea typeface="Red Hat Mono" pitchFamily="34" charset="-122"/>
                <a:cs typeface="Red Hat Mono" pitchFamily="34" charset="-120"/>
              </a:rPr>
              <a:t>--force-conflicts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lets an upgrade adopt resources that lack Helm's ownership annotations and belong to another manager.</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--force-replace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client-side replace; on Helm 4.3.0 it needs </a:t>
            </a:r>
            <a:pPr indent="0" marL="0">
              <a:lnSpc>
                <a:spcPct val="112000"/>
              </a:lnSpc>
              <a:buNone/>
            </a:pPr>
            <a:r>
              <a:rPr lang="en-US" sz="1900" dirty="0">
                <a:solidFill>
                  <a:srgbClr val="151515"/>
                </a:solidFill>
                <a:latin typeface="Red Hat Mono" pitchFamily="34" charset="0"/>
                <a:ea typeface="Red Hat Mono" pitchFamily="34" charset="-122"/>
                <a:cs typeface="Red Hat Mono" pitchFamily="34" charset="-120"/>
              </a:rPr>
              <a:t>--server-side=false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cd examples/05-values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helm lint ./shipping-service -f values-prod.yaml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helm template shipping ./shipping-service -n hfd-05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--show-only templates/deployment.yaml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helm template shipping ./shipping-service | kubeconform -strict -summary -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hfd-05 --dry-run=client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hfd-05 --dry-run=server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Testing and debugging</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the debug ladder, helm diff, helm-unittest, chart-testing, kubeconform and a chart CI pipeline.</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Multi-service applications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Distribution</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Extending and delivering</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2000" dirty="0"/>
          </a:p>
          <a:p>
            <a:pPr marL="228600" indent="-2286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OpenShift</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059936"/>
        </p:xfrm>
        <a:graphic>
          <a:graphicData uri="http://schemas.openxmlformats.org/drawingml/2006/table">
            <a:tbl>
              <a:tblPr/>
              <a:tblGrid>
                <a:gridCol w="3017520"/>
                <a:gridCol w="3931920"/>
                <a:gridCol w="4105656"/>
              </a:tblGrid>
              <a:tr h="67665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--atomic</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--rollback-on-failure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 and upgrade; implies --wait=watcher</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--force</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--force-replace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client-side only: needs --server-side=false; both spellings warn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--wait (boolean)</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--wait=watcher|hookOnly|legacy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 bare --wait means watcher; no flag means hookOnly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--dry-run (boolean)</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--dry-run=none|client|server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--post-renderer &lt;exe&gt;</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 &lt;plugin&gt;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600" b="1" dirty="0">
                          <a:solidFill>
                            <a:srgbClr val="EE0000"/>
                          </a:solidFill>
                          <a:latin typeface="Red Hat Mono" pitchFamily="34" charset="0"/>
                          <a:ea typeface="Red Hat Mono" pitchFamily="34" charset="-122"/>
                          <a:cs typeface="Red Hat Mono" pitchFamily="34" charset="-120"/>
                        </a:rPr>
                        <a:t>registry login oci://host</a:t>
                      </a:r>
                      <a:endParaRPr lang="en-US" sz="16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registry login host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Domain name only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2026-10-08T18:03:50Z</dcterms:created>
  <dcterms:modified xsi:type="dcterms:W3CDTF">2026-10-08T18:03:50Z</dcterms:modified>
</cp:coreProperties>
</file>