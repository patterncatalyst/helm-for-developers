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the outline (chapter 00)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or ./demo.sh offline, which runs helm show chart and helm template without a cluster.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in Helm 4.3.0: with no value flags, the last release's values are reused; with any -f or --set flag, the chart defaults plus the values given in that command are used and the earlier overrides drop out unless --reuse-values or --reset-then-reuse-values is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The commands assume the working directory examples/05-values, so the chart is ./shipping-service.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so a NodePort release gets the minikube service command and every other type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platform umbrella chart hit this deadlock on its first install attempt.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the observed failure path in chapter 12 shows a failed upgrade rolled back on the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induced failure and the two recovery behaviors. The commands assume the working directory examples/12-release-lifecycle.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which on 4.3.0 needs --take-ownership --force-conflicts because the existing fields belong to another manager. Step 10 shows --force-replace rejected under server-side apply and working with --server-side=false.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The commands assume the working directory examples/05-values.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kinds resolve against the API server, lookup returns live objects and .Capabilities.APIVersions reflects the real cluster. On Helm 4.3.0 it does not schema-validate fields: a string containerPort, an unknown field or a Pod Security violation all pass, so use kubeconform, or kubectl apply --server-side --dry-run=server on helm template output, for that.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the reference artifact: it is tested, packaged, signed, extended with plugins and promoted across environments. What to show: the reference charts under charts/ (shipping-service, notification-service, shipping-platform) and the umbrella install in chapter 22. Fallback: the outline (chapter 00) for the chapter list with durations. The cheat sheet in appendix chapter 29 accompanies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a helm3-reference marker in the source. The old spellings of the rename pair still work in Helm 4 with a deprecation warning, which makes them findable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Values: precedence, override flags, schema</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Verification: lint, template, dry-run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chart is a versioned package</a:t>
            </a:r>
            <a:r>
              <a:rPr lang="en-US" sz="20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release is a named installation</a:t>
            </a:r>
            <a:r>
              <a:rPr lang="en-US" sz="20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records every change</a:t>
            </a:r>
            <a:r>
              <a:rPr lang="en-US" sz="20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is a command-line client</a:t>
            </a:r>
            <a:r>
              <a:rPr lang="en-US" sz="20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950208"/>
        </p:xfrm>
        <a:graphic>
          <a:graphicData uri="http://schemas.openxmlformats.org/drawingml/2006/table">
            <a:tbl>
              <a:tblPr/>
              <a:tblGrid>
                <a:gridCol w="2194560"/>
                <a:gridCol w="2743200"/>
                <a:gridCol w="6117336"/>
              </a:tblGrid>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Apply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Server-side apply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Replaces Helm 3's atomic flag;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kstatus watcher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endParaRPr lang="en-US" sz="1300" dirty="0">
                        <a:latin typeface="Red Hat Text" charset="0"/>
                        <a:ea typeface="Red Hat Text" charset="0"/>
                        <a:cs typeface="Red Hat Text" charset="0"/>
                      </a:endParaRPr>
                    </a:p>
                    <a:p>
                      <a:pPr algn="l" indent="0" marL="0">
                        <a:buNone/>
                      </a:pPr>
                      <a:r>
                        <a:rPr lang="en-US" sz="1300" dirty="0">
                          <a:solidFill>
                            <a:srgbClr val="242424"/>
                          </a:solidFill>
                          <a:latin typeface="Red Hat Text" pitchFamily="34" charset="0"/>
                          <a:ea typeface="Red Hat Text" pitchFamily="34" charset="-122"/>
                          <a:cs typeface="Red Hat Text" pitchFamily="34" charset="-120"/>
                        </a:rPr>
                        <a:t> takes watcher, hookOnly or legacy; a bare </a:t>
                      </a: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Plugins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Typed, optional Wasm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Charts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v2 unchanged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a:t>
            </a:r>
            <a:r>
              <a:rPr lang="en-US" sz="20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Release</a:t>
            </a:r>
            <a:r>
              <a:rPr lang="en-US" sz="20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Repository or registry</a:t>
            </a:r>
            <a:r>
              <a:rPr lang="en-US" sz="20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417320"/>
            <a:ext cx="6949440" cy="2406396"/>
          </a:xfrm>
          <a:prstGeom prst="rect">
            <a:avLst/>
          </a:prstGeom>
          <a:solidFill>
            <a:srgbClr val="151515"/>
          </a:solidFill>
          <a:ln w="12700">
            <a:solidFill>
              <a:srgbClr val="151515"/>
            </a:solidFill>
            <a:prstDash val="solid"/>
          </a:ln>
        </p:spPr>
      </p:sp>
      <p:sp>
        <p:nvSpPr>
          <p:cNvPr id="8" name="Text 5"/>
          <p:cNvSpPr/>
          <p:nvPr/>
        </p:nvSpPr>
        <p:spPr>
          <a:xfrm>
            <a:off x="749808" y="1508760"/>
            <a:ext cx="6583680" cy="2223516"/>
          </a:xfrm>
          <a:prstGeom prst="rect">
            <a:avLst/>
          </a:prstGeom>
          <a:noFill/>
          <a:ln/>
        </p:spPr>
        <p:txBody>
          <a:bodyPr wrap="square" rtlCol="0" anchor="t"/>
          <a:lstStyle/>
          <a:p>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shipping-service/
</a:t>
            </a:r>
            <a:r>
              <a:rPr lang="en-US" sz="1500" dirty="0">
                <a:solidFill>
                  <a:srgbClr val="E6E6E6"/>
                </a:solidFill>
                <a:latin typeface="Red Hat Mono" pitchFamily="34" charset="0"/>
                <a:ea typeface="Red Hat Mono" pitchFamily="34" charset="-122"/>
                <a:cs typeface="Red Hat Mono" pitchFamily="34" charset="-120"/>
              </a:rPr>
              <a:t>  Chart.yaml     # required: name, version, appVersion
</a:t>
            </a:r>
            <a:r>
              <a:rPr lang="en-US" sz="1500" dirty="0">
                <a:solidFill>
                  <a:srgbClr val="E6E6E6"/>
                </a:solidFill>
                <a:latin typeface="Red Hat Mono" pitchFamily="34" charset="0"/>
                <a:ea typeface="Red Hat Mono" pitchFamily="34" charset="-122"/>
                <a:cs typeface="Red Hat Mono" pitchFamily="34" charset="-120"/>
              </a:rPr>
              <a:t>  values.yaml    # defaults read through .Values
</a:t>
            </a:r>
            <a:r>
              <a:rPr lang="en-US" sz="1500" dirty="0">
                <a:solidFill>
                  <a:srgbClr val="E6E6E6"/>
                </a:solidFill>
                <a:latin typeface="Red Hat Mono" pitchFamily="34" charset="0"/>
                <a:ea typeface="Red Hat Mono" pitchFamily="34" charset="-122"/>
                <a:cs typeface="Red Hat Mono" pitchFamily="34" charset="-120"/>
              </a:rPr>
              <a:t>  .helmignore    # files left out of the package
</a:t>
            </a:r>
            <a:r>
              <a:rPr lang="en-US" sz="1500" dirty="0">
                <a:solidFill>
                  <a:srgbClr val="E6E6E6"/>
                </a:solidFill>
                <a:latin typeface="Red Hat Mono" pitchFamily="34" charset="0"/>
                <a:ea typeface="Red Hat Mono" pitchFamily="34" charset="-122"/>
                <a:cs typeface="Red Hat Mono" pitchFamily="34" charset="-120"/>
              </a:rPr>
              <a:t>  templates/
</a:t>
            </a:r>
            <a:r>
              <a:rPr lang="en-US" sz="1500" dirty="0">
                <a:solidFill>
                  <a:srgbClr val="E6E6E6"/>
                </a:solidFill>
                <a:latin typeface="Red Hat Mono" pitchFamily="34" charset="0"/>
                <a:ea typeface="Red Hat Mono" pitchFamily="34" charset="-122"/>
                <a:cs typeface="Red Hat Mono" pitchFamily="34" charset="-120"/>
              </a:rPr>
              <a:t>    configmap.yaml
</a:t>
            </a:r>
            <a:r>
              <a:rPr lang="en-US" sz="1500" dirty="0">
                <a:solidFill>
                  <a:srgbClr val="E6E6E6"/>
                </a:solidFill>
                <a:latin typeface="Red Hat Mono" pitchFamily="34" charset="0"/>
                <a:ea typeface="Red Hat Mono" pitchFamily="34" charset="-122"/>
                <a:cs typeface="Red Hat Mono" pitchFamily="34" charset="-120"/>
              </a:rPr>
              <a:t>    deployment.yaml
</a:t>
            </a:r>
            <a:r>
              <a:rPr lang="en-US" sz="1500" dirty="0">
                <a:solidFill>
                  <a:srgbClr val="E6E6E6"/>
                </a:solidFill>
                <a:latin typeface="Red Hat Mono" pitchFamily="34" charset="0"/>
                <a:ea typeface="Red Hat Mono" pitchFamily="34" charset="-122"/>
                <a:cs typeface="Red Hat Mono" pitchFamily="34" charset="-120"/>
              </a:rPr>
              <a:t>    service.yaml
</a:t>
            </a:r>
            <a:endParaRPr lang="en-US" sz="1500" dirty="0"/>
          </a:p>
        </p:txBody>
      </p:sp>
      <p:sp>
        <p:nvSpPr>
          <p:cNvPr id="9" name="Text 6"/>
          <p:cNvSpPr/>
          <p:nvPr/>
        </p:nvSpPr>
        <p:spPr>
          <a:xfrm>
            <a:off x="566928" y="3915156"/>
            <a:ext cx="694944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836408" y="1600200"/>
            <a:ext cx="378835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Chart.yaml</a:t>
            </a:r>
            <a:r>
              <a:rPr lang="en-US" sz="15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values.yaml</a:t>
            </a:r>
            <a:r>
              <a:rPr lang="en-US" sz="1500" dirty="0">
                <a:solidFill>
                  <a:srgbClr val="242424"/>
                </a:solidFill>
                <a:latin typeface="Red Hat Text" pitchFamily="34" charset="0"/>
                <a:ea typeface="Red Hat Text" pitchFamily="34" charset="-122"/>
                <a:cs typeface="Red Hat Text" pitchFamily="34" charset="-120"/>
              </a:rPr>
              <a:t>: defaults, read by templates as .Values.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templates/</a:t>
            </a:r>
            <a:r>
              <a:rPr lang="en-US" sz="15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.helmignore</a:t>
            </a:r>
            <a:r>
              <a:rPr lang="en-US" sz="15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6400800" cy="2377440"/>
          </a:xfrm>
          <a:prstGeom prst="rect">
            <a:avLst/>
          </a:prstGeom>
          <a:solidFill>
            <a:srgbClr val="151515"/>
          </a:solidFill>
          <a:ln w="12700">
            <a:solidFill>
              <a:srgbClr val="151515"/>
            </a:solidFill>
            <a:prstDash val="solid"/>
          </a:ln>
        </p:spPr>
      </p:sp>
      <p:sp>
        <p:nvSpPr>
          <p:cNvPr id="8" name="Text 5"/>
          <p:cNvSpPr/>
          <p:nvPr/>
        </p:nvSpPr>
        <p:spPr>
          <a:xfrm>
            <a:off x="749808" y="1508760"/>
            <a:ext cx="6035040" cy="2194560"/>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v2
</a:t>
            </a:r>
            <a:r>
              <a:rPr lang="en-US" sz="2000" dirty="0">
                <a:solidFill>
                  <a:srgbClr val="E6E6E6"/>
                </a:solidFill>
                <a:latin typeface="Red Hat Mono" pitchFamily="34" charset="0"/>
                <a:ea typeface="Red Hat Mono" pitchFamily="34" charset="-122"/>
                <a:cs typeface="Red Hat Mono" pitchFamily="34" charset="-120"/>
              </a:rPr>
              <a:t>name: shipping-service
</a:t>
            </a:r>
            <a:r>
              <a:rPr lang="en-US" sz="2000" dirty="0">
                <a:solidFill>
                  <a:srgbClr val="E6E6E6"/>
                </a:solidFill>
                <a:latin typeface="Red Hat Mono" pitchFamily="34" charset="0"/>
                <a:ea typeface="Red Hat Mono" pitchFamily="34" charset="-122"/>
                <a:cs typeface="Red Hat Mono" pitchFamily="34" charset="-120"/>
              </a:rPr>
              <a:t>type: application
</a:t>
            </a:r>
            <a:r>
              <a:rPr lang="en-US" sz="2000" dirty="0">
                <a:solidFill>
                  <a:srgbClr val="E6E6E6"/>
                </a:solidFill>
                <a:latin typeface="Red Hat Mono" pitchFamily="34" charset="0"/>
                <a:ea typeface="Red Hat Mono" pitchFamily="34" charset="-122"/>
                <a:cs typeface="Red Hat Mono" pitchFamily="34" charset="-120"/>
              </a:rPr>
              <a:t>version: 0.4.0
</a:t>
            </a:r>
            <a:r>
              <a:rPr lang="en-US" sz="2000" dirty="0">
                <a:solidFill>
                  <a:srgbClr val="E6E6E6"/>
                </a:solidFill>
                <a:latin typeface="Red Hat Mono" pitchFamily="34" charset="0"/>
                <a:ea typeface="Red Hat Mono" pitchFamily="34" charset="-122"/>
                <a:cs typeface="Red Hat Mono" pitchFamily="34" charset="-120"/>
              </a:rPr>
              <a:t>appVersion: "0.1.0"
</a:t>
            </a:r>
            <a:endParaRPr lang="en-US" sz="2000" dirty="0"/>
          </a:p>
        </p:txBody>
      </p:sp>
      <p:sp>
        <p:nvSpPr>
          <p:cNvPr id="9" name="Text 6"/>
          <p:cNvSpPr/>
          <p:nvPr/>
        </p:nvSpPr>
        <p:spPr>
          <a:xfrm>
            <a:off x="566928" y="3886200"/>
            <a:ext cx="640080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600200"/>
            <a:ext cx="433699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apiVersion: v2</a:t>
            </a:r>
            <a:r>
              <a:rPr lang="en-US" sz="15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type</a:t>
            </a:r>
            <a:r>
              <a:rPr lang="en-US" sz="15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version</a:t>
            </a:r>
            <a:r>
              <a:rPr lang="en-US" sz="15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appVersion</a:t>
            </a:r>
            <a:r>
              <a:rPr lang="en-US" sz="15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[host]$ helm history shipping -n hfd-04
</a:t>
            </a:r>
            <a:r>
              <a:rPr lang="en-US" sz="2000" dirty="0">
                <a:solidFill>
                  <a:srgbClr val="E6E6E6"/>
                </a:solidFill>
                <a:latin typeface="Red Hat Mono" pitchFamily="34" charset="0"/>
                <a:ea typeface="Red Hat Mono" pitchFamily="34" charset="-122"/>
                <a:cs typeface="Red Hat Mono" pitchFamily="34" charset="-120"/>
              </a:rPr>
              <a:t>[host]$ helm get values shipping -n hfd-04 --all
</a:t>
            </a:r>
            <a:r>
              <a:rPr lang="en-US" sz="2000" dirty="0">
                <a:solidFill>
                  <a:srgbClr val="E6E6E6"/>
                </a:solidFill>
                <a:latin typeface="Red Hat Mono" pitchFamily="34" charset="0"/>
                <a:ea typeface="Red Hat Mono" pitchFamily="34" charset="-122"/>
                <a:cs typeface="Red Hat Mono" pitchFamily="34" charset="-120"/>
              </a:rPr>
              <a:t>[host]$ helm get manifest shipping -n hfd-04
</a:t>
            </a:r>
            <a:r>
              <a:rPr lang="en-US" sz="2000" dirty="0">
                <a:solidFill>
                  <a:srgbClr val="E6E6E6"/>
                </a:solidFill>
                <a:latin typeface="Red Hat Mono" pitchFamily="34" charset="0"/>
                <a:ea typeface="Red Hat Mono" pitchFamily="34" charset="-122"/>
                <a:cs typeface="Red Hat Mono" pitchFamily="34" charset="-120"/>
              </a:rPr>
              <a:t>[host]$ kubectl -n hfd-04 get secrets -l owner=helm
</a:t>
            </a:r>
            <a:r>
              <a:rPr lang="en-US" sz="2000" dirty="0">
                <a:solidFill>
                  <a:srgbClr val="8FB98F"/>
                </a:solidFill>
                <a:latin typeface="Red Hat Mono" pitchFamily="34" charset="0"/>
                <a:ea typeface="Red Hat Mono" pitchFamily="34" charset="-122"/>
                <a:cs typeface="Red Hat Mono" pitchFamily="34" charset="-120"/>
              </a:rPr>
              <a:t># one Secret per revision, type helm.sh/release.v1
</a:t>
            </a:r>
            <a:r>
              <a:rPr lang="en-US" sz="2000" dirty="0">
                <a:solidFill>
                  <a:srgbClr val="8FB98F"/>
                </a:solidFill>
                <a:latin typeface="Red Hat Mono" pitchFamily="34" charset="0"/>
                <a:ea typeface="Red Hat Mono" pitchFamily="34" charset="-122"/>
                <a:cs typeface="Red Hat Mono" pitchFamily="34" charset="-120"/>
              </a:rPr>
              <a:t># sh.helm.release.v1.shipping.v1, .v2, .v3
</a:t>
            </a:r>
            <a:r>
              <a:rPr lang="en-US" sz="2000" dirty="0">
                <a:solidFill>
                  <a:srgbClr val="E6E6E6"/>
                </a:solidFill>
                <a:latin typeface="Red Hat Mono" pitchFamily="34" charset="0"/>
                <a:ea typeface="Red Hat Mono" pitchFamily="34" charset="-122"/>
                <a:cs typeface="Red Hat Mono" pitchFamily="34" charset="-120"/>
              </a:rPr>
              <a:t>[host]$ helm uninstall shipping -n hfd-04 --keep-history
</a:t>
            </a:r>
            <a:r>
              <a:rPr lang="en-US" sz="2000" dirty="0">
                <a:solidFill>
                  <a:srgbClr val="E6E6E6"/>
                </a:solidFill>
                <a:latin typeface="Red Hat Mono" pitchFamily="34" charset="0"/>
                <a:ea typeface="Red Hat Mono" pitchFamily="34" charset="-122"/>
                <a:cs typeface="Red Hat Mono" pitchFamily="34" charset="-120"/>
              </a:rPr>
              <a:t>[host]$ helm list -n hfd-04 --uninstalled
</a:t>
            </a:r>
            <a:r>
              <a:rPr lang="en-US" sz="20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a:t>
            </a:r>
            <a:r>
              <a:rPr lang="en-US" sz="1200" i="1" dirty="0">
                <a:solidFill>
                  <a:srgbClr val="151515"/>
                </a:solidFill>
                <a:latin typeface="Red Hat Mono" pitchFamily="34" charset="0"/>
                <a:ea typeface="Red Hat Mono" pitchFamily="34" charset="-122"/>
                <a:cs typeface="Red Hat Mono" pitchFamily="34" charset="-120"/>
              </a:rPr>
              <a:t>-f</a:t>
            </a:r>
            <a:r>
              <a:rPr lang="en-US" sz="1300" i="1" dirty="0">
                <a:solidFill>
                  <a:srgbClr val="5A5A5A"/>
                </a:solidFill>
                <a:latin typeface="Red Hat Text" pitchFamily="34" charset="0"/>
                <a:ea typeface="Red Hat Text" pitchFamily="34" charset="-122"/>
                <a:cs typeface="Red Hat Text" pitchFamily="34" charset="-120"/>
              </a:rPr>
              <a:t> file in order, then </a:t>
            </a:r>
            <a:r>
              <a:rPr lang="en-US" sz="1200" i="1" dirty="0">
                <a:solidFill>
                  <a:srgbClr val="151515"/>
                </a:solidFill>
                <a:latin typeface="Red Hat Mono" pitchFamily="34" charset="0"/>
                <a:ea typeface="Red Hat Mono" pitchFamily="34" charset="-122"/>
                <a:cs typeface="Red Hat Mono" pitchFamily="34" charset="-120"/>
              </a:rPr>
              <a:t>--set</a:t>
            </a:r>
            <a:r>
              <a:rPr lang="en-US" sz="1300" i="1" dirty="0">
                <a:solidFill>
                  <a:srgbClr val="5A5A5A"/>
                </a:solidFill>
                <a:latin typeface="Red Hat Text" pitchFamily="34" charset="0"/>
                <a:ea typeface="Red Hat Text" pitchFamily="34" charset="-122"/>
                <a:cs typeface="Red Hat Text" pitchFamily="34" charset="-120"/>
              </a:rPr>
              <a: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402726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844385"/>
          </a:xfrm>
          <a:prstGeom prst="rect">
            <a:avLst/>
          </a:prstGeom>
          <a:noFill/>
          <a:ln/>
        </p:spPr>
        <p:txBody>
          <a:bodyPr wrap="square" rtlCol="0" anchor="t"/>
          <a:lstStyle/>
          <a:p>
            <a:pPr algn="l" indent="0" marL="0">
              <a:lnSpc>
                <a:spcPct val="110000"/>
              </a:lnSpc>
              <a:buNone/>
            </a:pPr>
            <a:r>
              <a:rPr lang="en-US" sz="1450" dirty="0">
                <a:solidFill>
                  <a:srgbClr val="E6E6E6"/>
                </a:solidFill>
                <a:latin typeface="Red Hat Mono" pitchFamily="34" charset="0"/>
                <a:ea typeface="Red Hat Mono" pitchFamily="34" charset="-122"/>
                <a:cs typeface="Red Hat Mono" pitchFamily="34" charset="-120"/>
              </a:rPr>
              <a:t>[host]$ cd examples/05-values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-f values-prod.yaml --set replicaCount=5
</a:t>
            </a:r>
            <a:r>
              <a:rPr lang="en-US" sz="145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--set-string image.tag=12345
</a:t>
            </a:r>
            <a:r>
              <a:rPr lang="en-US" sz="1450" dirty="0">
                <a:solidFill>
                  <a:srgbClr val="8FB98F"/>
                </a:solidFill>
                <a:latin typeface="Red Hat Mono" pitchFamily="34" charset="0"/>
                <a:ea typeface="Red Hat Mono" pitchFamily="34" charset="-122"/>
                <a:cs typeface="Red Hat Mono" pitchFamily="34" charset="-120"/>
              </a:rPr>
              <a:t># --set-string forces a string; --set image.tag=12345 fails the schema (number, want string)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--set-json 'resources={"limits":{"memory":"1Gi"}}'
</a:t>
            </a:r>
            <a:r>
              <a:rPr lang="en-US" sz="1450" dirty="0">
                <a:solidFill>
                  <a:srgbClr val="8FB98F"/>
                </a:solidFill>
                <a:latin typeface="Red Hat Mono" pitchFamily="34" charset="0"/>
                <a:ea typeface="Red Hat Mono" pitchFamily="34" charset="-122"/>
                <a:cs typeface="Red Hat Mono" pitchFamily="34" charset="-120"/>
              </a:rPr>
              <a:t># --set-json takes a JSON value for a map or list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--set-file config.defaultCarrier=carrier.txt
</a:t>
            </a:r>
            <a:r>
              <a:rPr lang="en-US" sz="1450" dirty="0">
                <a:solidFill>
                  <a:srgbClr val="8FB98F"/>
                </a:solidFill>
                <a:latin typeface="Red Hat Mono" pitchFamily="34" charset="0"/>
                <a:ea typeface="Red Hat Mono" pitchFamily="34" charset="-122"/>
                <a:cs typeface="Red Hat Mono" pitchFamily="34" charset="-120"/>
              </a:rPr>
              <a:t># --set-file uses the file content, trailing newline included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--set-literal config.defaultCarrier=ACME,Post
</a:t>
            </a:r>
            <a:r>
              <a:rPr lang="en-US" sz="145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450" dirty="0"/>
          </a:p>
        </p:txBody>
      </p:sp>
      <p:sp>
        <p:nvSpPr>
          <p:cNvPr id="9" name="Text 6"/>
          <p:cNvSpPr/>
          <p:nvPr/>
        </p:nvSpPr>
        <p:spPr>
          <a:xfrm>
            <a:off x="566928" y="553602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417320"/>
            <a:ext cx="7680960" cy="3553473"/>
          </a:xfrm>
          <a:prstGeom prst="rect">
            <a:avLst/>
          </a:prstGeom>
          <a:solidFill>
            <a:srgbClr val="151515"/>
          </a:solidFill>
          <a:ln w="12700">
            <a:solidFill>
              <a:srgbClr val="151515"/>
            </a:solidFill>
            <a:prstDash val="solid"/>
          </a:ln>
        </p:spPr>
      </p:sp>
      <p:sp>
        <p:nvSpPr>
          <p:cNvPr id="8" name="Text 5"/>
          <p:cNvSpPr/>
          <p:nvPr/>
        </p:nvSpPr>
        <p:spPr>
          <a:xfrm>
            <a:off x="749808" y="1508760"/>
            <a:ext cx="7315200" cy="3370593"/>
          </a:xfrm>
          <a:prstGeom prst="rect">
            <a:avLst/>
          </a:prstGeom>
          <a:noFill/>
          <a:ln/>
        </p:spPr>
        <p:txBody>
          <a:bodyPr wrap="square" rtlCol="0" anchor="t"/>
          <a:lstStyle/>
          <a:p>
            <a:pPr algn="l" indent="0" marL="0">
              <a:lnSpc>
                <a:spcPct val="110000"/>
              </a:lnSpc>
              <a:buNone/>
            </a:pPr>
            <a:r>
              <a:rPr lang="en-US" sz="1350" dirty="0">
                <a:solidFill>
                  <a:srgbClr val="E6E6E6"/>
                </a:solidFill>
                <a:latin typeface="Red Hat Mono" pitchFamily="34" charset="0"/>
                <a:ea typeface="Red Hat Mono" pitchFamily="34" charset="-122"/>
                <a:cs typeface="Red Hat Mono" pitchFamily="34" charset="-120"/>
              </a:rPr>
              <a:t>{
</a:t>
            </a:r>
            <a:r>
              <a:rPr lang="en-US" sz="1350" dirty="0">
                <a:solidFill>
                  <a:srgbClr val="E6E6E6"/>
                </a:solidFill>
                <a:latin typeface="Red Hat Mono" pitchFamily="34" charset="0"/>
                <a:ea typeface="Red Hat Mono" pitchFamily="34" charset="-122"/>
                <a:cs typeface="Red Hat Mono" pitchFamily="34" charset="-120"/>
              </a:rPr>
              <a:t>  "$schema": "https://json-schema.org/draft-07/schema#",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"additionalProperties": false,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"replicaCount": {"type": "integer", "minimum": 0},
</a:t>
            </a:r>
            <a:r>
              <a:rPr lang="en-US" sz="1350" dirty="0">
                <a:solidFill>
                  <a:srgbClr val="E6E6E6"/>
                </a:solidFill>
                <a:latin typeface="Red Hat Mono" pitchFamily="34" charset="0"/>
                <a:ea typeface="Red Hat Mono" pitchFamily="34" charset="-122"/>
                <a:cs typeface="Red Hat Mono" pitchFamily="34" charset="-120"/>
              </a:rPr>
              <a:t>    "image": {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"pullPolicy": {"enum": ["Always", "IfNotPresent", "Never"]}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a:t>
            </a:r>
            <a:endParaRPr lang="en-US" sz="1350" dirty="0"/>
          </a:p>
        </p:txBody>
      </p:sp>
      <p:sp>
        <p:nvSpPr>
          <p:cNvPr id="9" name="Text 6"/>
          <p:cNvSpPr/>
          <p:nvPr/>
        </p:nvSpPr>
        <p:spPr>
          <a:xfrm>
            <a:off x="566928" y="5062233"/>
            <a:ext cx="768096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8567928" y="1600200"/>
            <a:ext cx="305683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Runs on the merged values</a:t>
            </a:r>
            <a:r>
              <a:rPr lang="en-US" sz="14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additionalProperties: false</a:t>
            </a:r>
            <a:r>
              <a:rPr lang="en-US" sz="14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enum, minimum, maximum</a:t>
            </a:r>
            <a:r>
              <a:rPr lang="en-US" sz="14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Strict by design</a:t>
            </a:r>
            <a:r>
              <a:rPr lang="en-US" sz="14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572639"/>
          </a:xfrm>
          <a:prstGeom prst="rect">
            <a:avLst/>
          </a:prstGeom>
          <a:solidFill>
            <a:srgbClr val="151515"/>
          </a:solidFill>
          <a:ln w="12700">
            <a:solidFill>
              <a:srgbClr val="151515"/>
            </a:solidFill>
            <a:prstDash val="solid"/>
          </a:ln>
        </p:spPr>
      </p:sp>
      <p:sp>
        <p:nvSpPr>
          <p:cNvPr id="8" name="Text 5"/>
          <p:cNvSpPr/>
          <p:nvPr/>
        </p:nvSpPr>
        <p:spPr>
          <a:xfrm>
            <a:off x="749808" y="1508760"/>
            <a:ext cx="7680960" cy="2389759"/>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$fullname := printf "%s-%s" .Release.Name .Chart.Name -}}
</a:t>
            </a:r>
            <a:r>
              <a:rPr lang="en-US" sz="1300" dirty="0">
                <a:solidFill>
                  <a:srgbClr val="E6E6E6"/>
                </a:solidFill>
                <a:latin typeface="Red Hat Mono" pitchFamily="34" charset="0"/>
                <a:ea typeface="Red Hat Mono" pitchFamily="34" charset="-122"/>
                <a:cs typeface="Red Hat Mono" pitchFamily="34" charset="-120"/>
              </a:rPr>
              <a:t>{{- $image := printf "%s:%s"
</a:t>
            </a:r>
            <a:r>
              <a:rPr lang="en-US" sz="1300" dirty="0">
                <a:solidFill>
                  <a:srgbClr val="E6E6E6"/>
                </a:solidFill>
                <a:latin typeface="Red Hat Mono" pitchFamily="34" charset="0"/>
                <a:ea typeface="Red Hat Mono" pitchFamily="34" charset="-122"/>
                <a:cs typeface="Red Hat Mono" pitchFamily="34" charset="-120"/>
              </a:rPr>
              <a:t>      (required "image.repository is required" .Values.image.repository)
</a:t>
            </a:r>
            <a:r>
              <a:rPr lang="en-US" sz="1300" dirty="0">
                <a:solidFill>
                  <a:srgbClr val="E6E6E6"/>
                </a:solidFill>
                <a:latin typeface="Red Hat Mono" pitchFamily="34" charset="0"/>
                <a:ea typeface="Red Hat Mono" pitchFamily="34" charset="-122"/>
                <a:cs typeface="Red Hat Mono" pitchFamily="34" charset="-120"/>
              </a:rPr>
              <a:t>      (.Values.image.tag | default .Chart.AppVersion) -}}
</a:t>
            </a:r>
            <a:r>
              <a:rPr lang="en-US" sz="1300" dirty="0">
                <a:solidFill>
                  <a:srgbClr val="E6E6E6"/>
                </a:solidFill>
                <a:latin typeface="Red Hat Mono" pitchFamily="34" charset="0"/>
                <a:ea typeface="Red Hat Mono" pitchFamily="34" charset="-122"/>
                <a:cs typeface="Red Hat Mono" pitchFamily="34" charset="-120"/>
              </a:rPr>
              <a:t>apiVersion: apps/v1
</a:t>
            </a:r>
            <a:r>
              <a:rPr lang="en-US" sz="1300" dirty="0">
                <a:solidFill>
                  <a:srgbClr val="E6E6E6"/>
                </a:solidFill>
                <a:latin typeface="Red Hat Mono" pitchFamily="34" charset="0"/>
                <a:ea typeface="Red Hat Mono" pitchFamily="34" charset="-122"/>
                <a:cs typeface="Red Hat Mono" pitchFamily="34" charset="-120"/>
              </a:rPr>
              <a:t>kind: Deployment
</a:t>
            </a:r>
            <a:r>
              <a:rPr lang="en-US" sz="1300" dirty="0">
                <a:solidFill>
                  <a:srgbClr val="E6E6E6"/>
                </a:solidFill>
                <a:latin typeface="Red Hat Mono" pitchFamily="34" charset="0"/>
                <a:ea typeface="Red Hat Mono" pitchFamily="34" charset="-122"/>
                <a:cs typeface="Red Hat Mono" pitchFamily="34" charset="-120"/>
              </a:rPr>
              <a:t>metadata:
</a:t>
            </a:r>
            <a:r>
              <a:rPr lang="en-US" sz="1300" dirty="0">
                <a:solidFill>
                  <a:srgbClr val="E6E6E6"/>
                </a:solidFill>
                <a:latin typeface="Red Hat Mono" pitchFamily="34" charset="0"/>
                <a:ea typeface="Red Hat Mono" pitchFamily="34" charset="-122"/>
                <a:cs typeface="Red Hat Mono" pitchFamily="34" charset="-120"/>
              </a:rPr>
              <a:t>  name: {{ $fullname }}
</a:t>
            </a:r>
            <a:r>
              <a:rPr lang="en-US" sz="1300" dirty="0">
                <a:solidFill>
                  <a:srgbClr val="E6E6E6"/>
                </a:solidFill>
                <a:latin typeface="Red Hat Mono" pitchFamily="34" charset="0"/>
                <a:ea typeface="Red Hat Mono" pitchFamily="34" charset="-122"/>
                <a:cs typeface="Red Hat Mono" pitchFamily="34" charset="-120"/>
              </a:rPr>
              <a:t>  labels:
</a:t>
            </a:r>
            <a:r>
              <a:rPr lang="en-US" sz="1300" dirty="0">
                <a:solidFill>
                  <a:srgbClr val="E6E6E6"/>
                </a:solidFill>
                <a:latin typeface="Red Hat Mono" pitchFamily="34" charset="0"/>
                <a:ea typeface="Red Hat Mono" pitchFamily="34" charset="-122"/>
                <a:cs typeface="Red Hat Mono" pitchFamily="34" charset="-120"/>
              </a:rPr>
              <a:t>    log-level: {{ .Values.config.logLevel | quote }}
</a:t>
            </a:r>
            <a:endParaRPr lang="en-US" sz="1300" dirty="0"/>
          </a:p>
        </p:txBody>
      </p:sp>
      <p:sp>
        <p:nvSpPr>
          <p:cNvPr id="9" name="Text 6"/>
          <p:cNvSpPr/>
          <p:nvPr/>
        </p:nvSpPr>
        <p:spPr>
          <a:xfrm>
            <a:off x="566928" y="408139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 .Release, .Chart</a:t>
            </a:r>
            <a:r>
              <a:rPr lang="en-US" sz="14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Pipelines</a:t>
            </a:r>
            <a:r>
              <a:rPr lang="en-US" sz="14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Variables</a:t>
            </a:r>
            <a:r>
              <a:rPr lang="en-US" sz="1400" dirty="0">
                <a:solidFill>
                  <a:srgbClr val="242424"/>
                </a:solidFill>
                <a:latin typeface="Red Hat Text" pitchFamily="34" charset="0"/>
                <a:ea typeface="Red Hat Text" pitchFamily="34" charset="-122"/>
                <a:cs typeface="Red Hat Text" pitchFamily="34" charset="-120"/>
              </a:rPr>
              <a:t>: declared with := and read as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Whitespace</a:t>
            </a:r>
            <a:r>
              <a:rPr lang="en-US" sz="14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with .Values.imagePullSecrets }}
</a:t>
            </a:r>
            <a:r>
              <a:rPr lang="en-US" sz="1650" dirty="0">
                <a:solidFill>
                  <a:srgbClr val="E6E6E6"/>
                </a:solidFill>
                <a:latin typeface="Red Hat Mono" pitchFamily="34" charset="0"/>
                <a:ea typeface="Red Hat Mono" pitchFamily="34" charset="-122"/>
                <a:cs typeface="Red Hat Mono" pitchFamily="34" charset="-120"/>
              </a:rPr>
              <a:t>imagePullSecrets:
</a:t>
            </a:r>
            <a:r>
              <a:rPr lang="en-US" sz="1650" dirty="0">
                <a:solidFill>
                  <a:srgbClr val="E6E6E6"/>
                </a:solidFill>
                <a:latin typeface="Red Hat Mono" pitchFamily="34" charset="0"/>
                <a:ea typeface="Red Hat Mono" pitchFamily="34" charset="-122"/>
                <a:cs typeface="Red Hat Mono" pitchFamily="34" charset="-120"/>
              </a:rPr>
              <a:t>  {{- toYaml . | nindent 8 }}      # inside with, dot is the list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with .Values.podAnnotations }}
</a:t>
            </a:r>
            <a:r>
              <a:rPr lang="en-US" sz="1650" dirty="0">
                <a:solidFill>
                  <a:srgbClr val="E6E6E6"/>
                </a:solidFill>
                <a:latin typeface="Red Hat Mono" pitchFamily="34" charset="0"/>
                <a:ea typeface="Red Hat Mono" pitchFamily="34" charset="-122"/>
                <a:cs typeface="Red Hat Mono" pitchFamily="34" charset="-120"/>
              </a:rPr>
              <a:t>annotations:
</a:t>
            </a:r>
            <a:r>
              <a:rPr lang="en-US" sz="1650" dirty="0">
                <a:solidFill>
                  <a:srgbClr val="E6E6E6"/>
                </a:solidFill>
                <a:latin typeface="Red Hat Mono" pitchFamily="34" charset="0"/>
                <a:ea typeface="Red Hat Mono" pitchFamily="34" charset="-122"/>
                <a:cs typeface="Red Hat Mono" pitchFamily="34" charset="-120"/>
              </a:rPr>
              <a:t>  {{- range $key, $value := . }}
</a:t>
            </a:r>
            <a:r>
              <a:rPr lang="en-US" sz="1650" dirty="0">
                <a:solidFill>
                  <a:srgbClr val="E6E6E6"/>
                </a:solidFill>
                <a:latin typeface="Red Hat Mono" pitchFamily="34" charset="0"/>
                <a:ea typeface="Red Hat Mono" pitchFamily="34" charset="-122"/>
                <a:cs typeface="Red Hat Mono" pitchFamily="34" charset="-120"/>
              </a:rPr>
              <a:t>  {{ $key | quote }}: {{ tpl $value $ | quote }}   # $ is always the root context
</a:t>
            </a:r>
            <a:r>
              <a:rPr lang="en-US" sz="1650" dirty="0">
                <a:solidFill>
                  <a:srgbClr val="E6E6E6"/>
                </a:solidFill>
                <a:latin typeface="Red Hat Mono" pitchFamily="34" charset="0"/>
                <a:ea typeface="Red Hat Mono" pitchFamily="34" charset="-122"/>
                <a:cs typeface="Red Hat Mono" pitchFamily="34" charset="-120"/>
              </a:rPr>
              <a:t>  {{- end }}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if and (eq .Values.service.type "NodePort") .Values.service.nodePort }}
</a:t>
            </a:r>
            <a:r>
              <a:rPr lang="en-US" sz="1650" dirty="0">
                <a:solidFill>
                  <a:srgbClr val="E6E6E6"/>
                </a:solidFill>
                <a:latin typeface="Red Hat Mono" pitchFamily="34" charset="0"/>
                <a:ea typeface="Red Hat Mono" pitchFamily="34" charset="-122"/>
                <a:cs typeface="Red Hat Mono" pitchFamily="34" charset="-120"/>
              </a:rPr>
              <a:t>nodePort: {{ .Values.service.nodePort }}
</a:t>
            </a:r>
            <a:r>
              <a:rPr lang="en-US" sz="1650" dirty="0">
                <a:solidFill>
                  <a:srgbClr val="E6E6E6"/>
                </a:solidFill>
                <a:latin typeface="Red Hat Mono" pitchFamily="34" charset="0"/>
                <a:ea typeface="Red Hat Mono" pitchFamily="34" charset="-122"/>
                <a:cs typeface="Red Hat Mono" pitchFamily="34" charset="-120"/>
              </a:rPr>
              <a:t>{{- end }}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3112929"/>
          </a:xfrm>
          <a:prstGeom prst="rect">
            <a:avLst/>
          </a:prstGeom>
          <a:solidFill>
            <a:srgbClr val="151515"/>
          </a:solidFill>
          <a:ln w="12700">
            <a:solidFill>
              <a:srgbClr val="151515"/>
            </a:solidFill>
            <a:prstDash val="solid"/>
          </a:ln>
        </p:spPr>
      </p:sp>
      <p:sp>
        <p:nvSpPr>
          <p:cNvPr id="8" name="Text 5"/>
          <p:cNvSpPr/>
          <p:nvPr/>
        </p:nvSpPr>
        <p:spPr>
          <a:xfrm>
            <a:off x="749808" y="1508760"/>
            <a:ext cx="7680960" cy="2930049"/>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 _helpers.tpl */}}
</a:t>
            </a:r>
            <a:r>
              <a:rPr lang="en-US" sz="1250" dirty="0">
                <a:solidFill>
                  <a:srgbClr val="E6E6E6"/>
                </a:solidFill>
                <a:latin typeface="Red Hat Mono" pitchFamily="34" charset="0"/>
                <a:ea typeface="Red Hat Mono" pitchFamily="34" charset="-122"/>
                <a:cs typeface="Red Hat Mono" pitchFamily="34" charset="-120"/>
              </a:rPr>
              <a:t>{{- define "shipping-service.name" -}}
</a:t>
            </a:r>
            <a:r>
              <a:rPr lang="en-US" sz="1250" dirty="0">
                <a:solidFill>
                  <a:srgbClr val="E6E6E6"/>
                </a:solidFill>
                <a:latin typeface="Red Hat Mono" pitchFamily="34" charset="0"/>
                <a:ea typeface="Red Hat Mono" pitchFamily="34" charset="-122"/>
                <a:cs typeface="Red Hat Mono" pitchFamily="34" charset="-120"/>
              </a:rPr>
              <a:t>{{- default .Chart.Name .Values.nameOverride | trunc 63 | trimSuffix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define "shipping-service.selectorLabels" -}}
</a:t>
            </a:r>
            <a:r>
              <a:rPr lang="en-US" sz="1250" dirty="0">
                <a:solidFill>
                  <a:srgbClr val="E6E6E6"/>
                </a:solidFill>
                <a:latin typeface="Red Hat Mono" pitchFamily="34" charset="0"/>
                <a:ea typeface="Red Hat Mono" pitchFamily="34" charset="-122"/>
                <a:cs typeface="Red Hat Mono" pitchFamily="34" charset="-120"/>
              </a:rPr>
              <a:t>app.kubernetes.io/name: {{ include "shipping-service.name" . }}
</a:t>
            </a:r>
            <a:r>
              <a:rPr lang="en-US" sz="1250" dirty="0">
                <a:solidFill>
                  <a:srgbClr val="E6E6E6"/>
                </a:solidFill>
                <a:latin typeface="Red Hat Mono" pitchFamily="34" charset="0"/>
                <a:ea typeface="Red Hat Mono" pitchFamily="34" charset="-122"/>
                <a:cs typeface="Red Hat Mono" pitchFamily="34" charset="-120"/>
              </a:rPr>
              <a:t>app.kubernetes.io/instance: {{ .Release.Name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call site, in any template */}}
</a:t>
            </a:r>
            <a:r>
              <a:rPr lang="en-US" sz="1250" dirty="0">
                <a:solidFill>
                  <a:srgbClr val="E6E6E6"/>
                </a:solidFill>
                <a:latin typeface="Red Hat Mono" pitchFamily="34" charset="0"/>
                <a:ea typeface="Red Hat Mono" pitchFamily="34" charset="-122"/>
                <a:cs typeface="Red Hat Mono" pitchFamily="34" charset="-120"/>
              </a:rPr>
              <a:t>  labels:
</a:t>
            </a:r>
            <a:r>
              <a:rPr lang="en-US" sz="125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250" dirty="0"/>
          </a:p>
        </p:txBody>
      </p:sp>
      <p:sp>
        <p:nvSpPr>
          <p:cNvPr id="9" name="Text 6"/>
          <p:cNvSpPr/>
          <p:nvPr/>
        </p:nvSpPr>
        <p:spPr>
          <a:xfrm>
            <a:off x="566928" y="462168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define ... end</a:t>
            </a:r>
            <a:r>
              <a:rPr lang="en-US" sz="14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include</a:t>
            </a:r>
            <a:r>
              <a:rPr lang="en-US" sz="14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a:t>
            </a:r>
            <a:r>
              <a:rPr lang="en-US" sz="14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Pass the context</a:t>
            </a:r>
            <a:r>
              <a:rPr lang="en-US" sz="14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072384"/>
        </p:xfrm>
        <a:graphic>
          <a:graphicData uri="http://schemas.openxmlformats.org/drawingml/2006/table">
            <a:tbl>
              <a:tblPr/>
              <a:tblGrid>
                <a:gridCol w="1737360"/>
                <a:gridCol w="2560320"/>
                <a:gridCol w="675741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tpl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Render a string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Stop on empty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Reject a combination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lookup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 the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Returns an empty map under helm template and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--dry-run=client</a:t>
                      </a:r>
                      <a:r>
                        <a:rPr lang="en-US" sz="1300" dirty="0">
                          <a:solidFill>
                            <a:srgbClr val="242424"/>
                          </a:solidFill>
                          <a:latin typeface="Red Hat Text" pitchFamily="34" charset="0"/>
                          <a:ea typeface="Red Hat Text" pitchFamily="34" charset="-122"/>
                          <a:cs typeface="Red Hat Text" pitchFamily="34" charset="-120"/>
                        </a:rPr>
                        <a:t>; works with </a:t>
                      </a:r>
                      <a:r>
                        <a:rPr lang="en-US" sz="1200" dirty="0">
                          <a:solidFill>
                            <a:srgbClr val="151515"/>
                          </a:solidFill>
                          <a:latin typeface="Red Hat Mono" pitchFamily="34" charset="0"/>
                          <a:ea typeface="Red Hat Mono" pitchFamily="34" charset="-122"/>
                          <a:cs typeface="Red Hat Mono" pitchFamily="34" charset="-120"/>
                        </a:rPr>
                        <a:t>--dry-run=server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417320"/>
            <a:ext cx="11055096" cy="23774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2194560"/>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Reach the service:
</a:t>
            </a:r>
            <a:r>
              <a:rPr lang="en-US" sz="1250" dirty="0">
                <a:solidFill>
                  <a:srgbClr val="E6E6E6"/>
                </a:solidFill>
                <a:latin typeface="Red Hat Mono" pitchFamily="34" charset="0"/>
                <a:ea typeface="Red Hat Mono" pitchFamily="34" charset="-122"/>
                <a:cs typeface="Red Hat Mono" pitchFamily="34" charset="-120"/>
              </a:rPr>
              <a:t>{{- if eq .Values.service.type "NodePort" }}
</a:t>
            </a:r>
            <a:r>
              <a:rPr lang="en-US" sz="1250" dirty="0">
                <a:solidFill>
                  <a:srgbClr val="E6E6E6"/>
                </a:solidFill>
                <a:latin typeface="Red Hat Mono" pitchFamily="34" charset="0"/>
                <a:ea typeface="Red Hat Mono" pitchFamily="34" charset="-122"/>
                <a:cs typeface="Red Hat Mono" pitchFamily="34" charset="-120"/>
              </a:rPr>
              <a:t>  [host]$ minikube -p helm4dev service {{ include "pc-lib.fullname" . }} -n {{ .Release.Namespace }} --url
</a:t>
            </a:r>
            <a:r>
              <a:rPr lang="en-US" sz="1250" dirty="0">
                <a:solidFill>
                  <a:srgbClr val="E6E6E6"/>
                </a:solidFill>
                <a:latin typeface="Red Hat Mono" pitchFamily="34" charset="0"/>
                <a:ea typeface="Red Hat Mono" pitchFamily="34" charset="-122"/>
                <a:cs typeface="Red Hat Mono" pitchFamily="34" charset="-120"/>
              </a:rPr>
              <a:t>{{- else }}
</a:t>
            </a:r>
            <a:r>
              <a:rPr lang="en-US" sz="125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Run the chart test:
</a:t>
            </a:r>
            <a:r>
              <a:rPr lang="en-US" sz="125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250" dirty="0"/>
          </a:p>
        </p:txBody>
      </p:sp>
      <p:sp>
        <p:nvSpPr>
          <p:cNvPr id="9" name="Text 6"/>
          <p:cNvSpPr/>
          <p:nvPr/>
        </p:nvSpPr>
        <p:spPr>
          <a:xfrm>
            <a:off x="566928" y="38862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 (abridged: the header and storage lines are omitted)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377440"/>
          </a:xfrm>
          <a:prstGeom prst="rect">
            <a:avLst/>
          </a:prstGeom>
          <a:solidFill>
            <a:srgbClr val="151515"/>
          </a:solidFill>
          <a:ln w="12700">
            <a:solidFill>
              <a:srgbClr val="151515"/>
            </a:solidFill>
            <a:prstDash val="solid"/>
          </a:ln>
        </p:spPr>
      </p:sp>
      <p:sp>
        <p:nvSpPr>
          <p:cNvPr id="8" name="Text 5"/>
          <p:cNvSpPr/>
          <p:nvPr/>
        </p:nvSpPr>
        <p:spPr>
          <a:xfrm>
            <a:off x="749808" y="1508760"/>
            <a:ext cx="7680960" cy="219456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template:
</a:t>
            </a:r>
            <a:r>
              <a:rPr lang="en-US" sz="1300" dirty="0">
                <a:solidFill>
                  <a:srgbClr val="E6E6E6"/>
                </a:solidFill>
                <a:latin typeface="Red Hat Mono" pitchFamily="34" charset="0"/>
                <a:ea typeface="Red Hat Mono" pitchFamily="34" charset="-122"/>
                <a:cs typeface="Red Hat Mono" pitchFamily="34" charset="-120"/>
              </a:rPr>
              <a:t>    metadata:
</a:t>
            </a:r>
            <a:r>
              <a:rPr lang="en-US" sz="1300" dirty="0">
                <a:solidFill>
                  <a:srgbClr val="E6E6E6"/>
                </a:solidFill>
                <a:latin typeface="Red Hat Mono" pitchFamily="34" charset="0"/>
                <a:ea typeface="Red Hat Mono" pitchFamily="34" charset="-122"/>
                <a:cs typeface="Red Hat Mono" pitchFamily="34" charset="-120"/>
              </a:rPr>
              <a:t>      annotations:
</a:t>
            </a:r>
            <a:r>
              <a:rPr lang="en-US" sz="1300" dirty="0">
                <a:solidFill>
                  <a:srgbClr val="E6E6E6"/>
                </a:solidFill>
                <a:latin typeface="Red Hat Mono" pitchFamily="34" charset="0"/>
                <a:ea typeface="Red Hat Mono" pitchFamily="34" charset="-122"/>
                <a:cs typeface="Red Hat Mono" pitchFamily="34" charset="-120"/>
              </a:rPr>
              <a:t>        checksum/config: {{ include
</a:t>
            </a:r>
            <a:r>
              <a:rPr lang="en-US" sz="1300" dirty="0">
                <a:solidFill>
                  <a:srgbClr val="E6E6E6"/>
                </a:solidFill>
                <a:latin typeface="Red Hat Mono" pitchFamily="34" charset="0"/>
                <a:ea typeface="Red Hat Mono" pitchFamily="34" charset="-122"/>
                <a:cs typeface="Red Hat Mono" pitchFamily="34" charset="-120"/>
              </a:rPr>
              <a:t>          (print $.Template.BasePath "/configmap.yaml") . | sha256sum }}
</a:t>
            </a:r>
            <a:endParaRPr lang="en-US" sz="1300" dirty="0"/>
          </a:p>
        </p:txBody>
      </p:sp>
      <p:sp>
        <p:nvSpPr>
          <p:cNvPr id="9" name="Text 6"/>
          <p:cNvSpPr/>
          <p:nvPr/>
        </p:nvSpPr>
        <p:spPr>
          <a:xfrm>
            <a:off x="566928" y="3886200"/>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problem</a:t>
            </a:r>
            <a:r>
              <a:rPr lang="en-US" sz="14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fix</a:t>
            </a:r>
            <a:r>
              <a:rPr lang="en-US" sz="14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Deterministic input only</a:t>
            </a:r>
            <a:r>
              <a:rPr lang="en-US" sz="14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Alternative</a:t>
            </a:r>
            <a:r>
              <a:rPr lang="en-US" sz="14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194560"/>
                <a:gridCol w="2377440"/>
                <a:gridCol w="648309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existingSecret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Nothing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External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ExternalSecret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Sealed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auth.token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Plain in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743200"/>
                <a:gridCol w="2103120"/>
                <a:gridCol w="620877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helm.sh/hook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hook-delete-policy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Cleanup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Database exists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readiness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after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deadlocks when readiness depends on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8046720" cy="2788755"/>
          </a:xfrm>
          <a:prstGeom prst="rect">
            <a:avLst/>
          </a:prstGeom>
          <a:solidFill>
            <a:srgbClr val="151515"/>
          </a:solidFill>
          <a:ln w="12700">
            <a:solidFill>
              <a:srgbClr val="151515"/>
            </a:solidFill>
            <a:prstDash val="solid"/>
          </a:ln>
        </p:spPr>
      </p:sp>
      <p:sp>
        <p:nvSpPr>
          <p:cNvPr id="8" name="Text 5"/>
          <p:cNvSpPr/>
          <p:nvPr/>
        </p:nvSpPr>
        <p:spPr>
          <a:xfrm>
            <a:off x="749808" y="1508760"/>
            <a:ext cx="7680960" cy="2605875"/>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cd examples/12-release-lifecycle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--set image.tag=doesnotexist --wait --timeout 60s \
</a:t>
            </a:r>
            <a:r>
              <a:rPr lang="en-US" sz="1300" dirty="0">
                <a:solidFill>
                  <a:srgbClr val="E6E6E6"/>
                </a:solidFill>
                <a:latin typeface="Red Hat Mono" pitchFamily="34" charset="0"/>
                <a:ea typeface="Red Hat Mono" pitchFamily="34" charset="-122"/>
                <a:cs typeface="Red Hat Mono" pitchFamily="34" charset="-120"/>
              </a:rPr>
              <a:t>          --rollback-on-failure
</a:t>
            </a:r>
            <a:r>
              <a:rPr lang="en-US" sz="13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r>
              <a:rPr lang="en-US" sz="13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r>
              <a:rPr lang="en-US" sz="1300" dirty="0">
                <a:solidFill>
                  <a:srgbClr val="E6E6E6"/>
                </a:solidFill>
                <a:latin typeface="Red Hat Mono" pitchFamily="34" charset="0"/>
                <a:ea typeface="Red Hat Mono" pitchFamily="34" charset="-122"/>
                <a:cs typeface="Red Hat Mono" pitchFamily="34" charset="-120"/>
              </a:rPr>
              <a:t>[host]$ helm history shipping -n hfd-12
</a:t>
            </a:r>
            <a:r>
              <a:rPr lang="en-US" sz="1300" dirty="0">
                <a:solidFill>
                  <a:srgbClr val="8FB98F"/>
                </a:solidFill>
                <a:latin typeface="Red Hat Mono" pitchFamily="34" charset="0"/>
                <a:ea typeface="Red Hat Mono" pitchFamily="34" charset="-122"/>
                <a:cs typeface="Red Hat Mono" pitchFamily="34" charset="-120"/>
              </a:rPr>
              <a:t># 4 failed     Upgrade "shipping" failed
</a:t>
            </a:r>
            <a:r>
              <a:rPr lang="en-US" sz="1300" dirty="0">
                <a:solidFill>
                  <a:srgbClr val="8FB98F"/>
                </a:solidFill>
                <a:latin typeface="Red Hat Mono" pitchFamily="34" charset="0"/>
                <a:ea typeface="Red Hat Mono" pitchFamily="34" charset="-122"/>
                <a:cs typeface="Red Hat Mono" pitchFamily="34" charset="-120"/>
              </a:rPr>
              <a:t># 5 deployed   Rollback to 3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--cleanup-on-fail --wait
</a:t>
            </a:r>
            <a:endParaRPr lang="en-US" sz="1300" dirty="0"/>
          </a:p>
        </p:txBody>
      </p:sp>
      <p:sp>
        <p:nvSpPr>
          <p:cNvPr id="9" name="Text 6"/>
          <p:cNvSpPr/>
          <p:nvPr/>
        </p:nvSpPr>
        <p:spPr>
          <a:xfrm>
            <a:off x="566928" y="4297515"/>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examples/12-release-lifecycle; demo.sh steps 3 and 4</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--wait</a:t>
            </a:r>
            <a:r>
              <a:rPr lang="en-US" sz="1400" b="1" dirty="0">
                <a:solidFill>
                  <a:srgbClr val="151515"/>
                </a:solidFill>
                <a:latin typeface="Red Hat Text" pitchFamily="34" charset="0"/>
                <a:ea typeface="Red Hat Text" pitchFamily="34" charset="-122"/>
                <a:cs typeface="Red Hat Text" pitchFamily="34" charset="-120"/>
              </a:rPr>
              <a:t> strategies</a:t>
            </a: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--rollback-on-failure</a:t>
            </a: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--cleanup-on-fail</a:t>
            </a: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3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Default for new releases</a:t>
            </a:r>
            <a:r>
              <a:rPr lang="en-US" sz="2000" dirty="0">
                <a:solidFill>
                  <a:srgbClr val="242424"/>
                </a:solidFill>
                <a:latin typeface="Red Hat Text" pitchFamily="34" charset="0"/>
                <a:ea typeface="Red Hat Text" pitchFamily="34" charset="-122"/>
                <a:cs typeface="Red Hat Text" pitchFamily="34" charset="-120"/>
              </a:rPr>
              <a:t>: helm install </a:t>
            </a:r>
            <a:r>
              <a:rPr lang="en-US" sz="1900" dirty="0">
                <a:solidFill>
                  <a:srgbClr val="151515"/>
                </a:solidFill>
                <a:latin typeface="Red Hat Mono" pitchFamily="34" charset="0"/>
                <a:ea typeface="Red Hat Mono" pitchFamily="34" charset="-122"/>
                <a:cs typeface="Red Hat Mono" pitchFamily="34" charset="-120"/>
              </a:rPr>
              <a:t>--server-side</a:t>
            </a:r>
            <a:r>
              <a:rPr lang="en-US" sz="2000" dirty="0">
                <a:solidFill>
                  <a:srgbClr val="242424"/>
                </a:solidFill>
                <a:latin typeface="Red Hat Text" pitchFamily="34" charset="0"/>
                <a:ea typeface="Red Hat Text" pitchFamily="34" charset="-122"/>
                <a:cs typeface="Red Hat Text" pitchFamily="34" charset="-120"/>
              </a:rPr>
              <a:t> is true; upgrade defaults to auto and follows the previous revision's method.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Field ownership</a:t>
            </a:r>
            <a:r>
              <a:rPr lang="en-US" sz="20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--take-ownership</a:t>
            </a:r>
            <a:r>
              <a:rPr lang="en-US" sz="2000" dirty="0">
                <a:solidFill>
                  <a:srgbClr val="242424"/>
                </a:solidFill>
                <a:latin typeface="Red Hat Text" pitchFamily="34" charset="0"/>
                <a:ea typeface="Red Hat Text" pitchFamily="34" charset="-122"/>
                <a:cs typeface="Red Hat Text" pitchFamily="34" charset="-120"/>
              </a:rPr>
              <a:t>: with </a:t>
            </a: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lets an upgrade adopt resources that lack Helm's ownership annotations and belong to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--force-replace</a:t>
            </a:r>
            <a:r>
              <a:rPr lang="en-US" sz="2000" dirty="0">
                <a:solidFill>
                  <a:srgbClr val="242424"/>
                </a:solidFill>
                <a:latin typeface="Red Hat Text" pitchFamily="34" charset="0"/>
                <a:ea typeface="Red Hat Text" pitchFamily="34" charset="-122"/>
                <a:cs typeface="Red Hat Text" pitchFamily="34" charset="-120"/>
              </a:rPr>
              <a:t>: client-side replace; on Helm 4.3.0 it needs </a:t>
            </a:r>
            <a:r>
              <a:rPr lang="en-US" sz="1900" dirty="0">
                <a:solidFill>
                  <a:srgbClr val="151515"/>
                </a:solidFill>
                <a:latin typeface="Red Hat Mono" pitchFamily="34" charset="0"/>
                <a:ea typeface="Red Hat Mono" pitchFamily="34" charset="-122"/>
                <a:cs typeface="Red Hat Mono" pitchFamily="34" charset="-120"/>
              </a:rPr>
              <a:t>--server-side=false</a:t>
            </a:r>
            <a:r>
              <a:rPr lang="en-US" sz="2000" dirty="0">
                <a:solidFill>
                  <a:srgbClr val="242424"/>
                </a:solidFill>
                <a:latin typeface="Red Hat Text" pitchFamily="34" charset="0"/>
                <a:ea typeface="Red Hat Text" pitchFamily="34" charset="-122"/>
                <a:cs typeface="Red Hat Text" pitchFamily="34" charset="-120"/>
              </a:rPr>
              <a: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2506142"/>
          </a:xfrm>
          <a:prstGeom prst="rect">
            <a:avLst/>
          </a:prstGeom>
          <a:solidFill>
            <a:srgbClr val="151515"/>
          </a:solidFill>
          <a:ln w="12700">
            <a:solidFill>
              <a:srgbClr val="151515"/>
            </a:solidFill>
            <a:prstDash val="solid"/>
          </a:ln>
        </p:spPr>
      </p:sp>
      <p:sp>
        <p:nvSpPr>
          <p:cNvPr id="8" name="Text 5"/>
          <p:cNvSpPr/>
          <p:nvPr/>
        </p:nvSpPr>
        <p:spPr>
          <a:xfrm>
            <a:off x="749808" y="1508760"/>
            <a:ext cx="10689336" cy="2323262"/>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cd examples/05-values
</a:t>
            </a:r>
            <a:r>
              <a:rPr lang="en-US" sz="1400" dirty="0">
                <a:solidFill>
                  <a:srgbClr val="E6E6E6"/>
                </a:solidFill>
                <a:latin typeface="Red Hat Mono" pitchFamily="34" charset="0"/>
                <a:ea typeface="Red Hat Mono" pitchFamily="34" charset="-122"/>
                <a:cs typeface="Red Hat Mono" pitchFamily="34" charset="-120"/>
              </a:rPr>
              <a:t>[host]$ helm lint ./shipping-service -f values-prod.yaml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-n hfd-05 \
</a:t>
            </a:r>
            <a:r>
              <a:rPr lang="en-US" sz="1400" dirty="0">
                <a:solidFill>
                  <a:srgbClr val="E6E6E6"/>
                </a:solidFill>
                <a:latin typeface="Red Hat Mono" pitchFamily="34" charset="0"/>
                <a:ea typeface="Red Hat Mono" pitchFamily="34" charset="-122"/>
                <a:cs typeface="Red Hat Mono" pitchFamily="34" charset="-120"/>
              </a:rPr>
              <a:t>          --show-only templates/deployment.yaml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 kubeconform -strict -summary -
</a:t>
            </a:r>
            <a:r>
              <a:rPr lang="en-US" sz="14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hfd-05 --dry-run=client
</a:t>
            </a:r>
            <a:r>
              <a:rPr lang="en-US" sz="14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hfd-05 --dry-run=server
</a:t>
            </a:r>
            <a:endParaRPr lang="en-US" sz="1400" dirty="0"/>
          </a:p>
        </p:txBody>
      </p:sp>
      <p:sp>
        <p:nvSpPr>
          <p:cNvPr id="9" name="Text 6"/>
          <p:cNvSpPr/>
          <p:nvPr/>
        </p:nvSpPr>
        <p:spPr>
          <a:xfrm>
            <a:off x="566928" y="401490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Testing and debugging</a:t>
            </a:r>
            <a:r>
              <a:rPr lang="en-US" sz="2000" dirty="0">
                <a:solidFill>
                  <a:srgbClr val="242424"/>
                </a:solidFill>
                <a:latin typeface="Red Hat Text" pitchFamily="34" charset="0"/>
                <a:ea typeface="Red Hat Text" pitchFamily="34" charset="-122"/>
                <a:cs typeface="Red Hat Text" pitchFamily="34" charset="-120"/>
              </a:rPr>
              <a:t>: the debug ladder, helm diff,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r>
              <a:rPr lang="en-US" sz="2000" dirty="0">
                <a:solidFill>
                  <a:srgbClr val="242424"/>
                </a:solidFill>
                <a:latin typeface="Red Hat Text" pitchFamily="34" charset="0"/>
                <a:ea typeface="Red Hat Text" pitchFamily="34" charset="-122"/>
                <a:cs typeface="Red Hat Text" pitchFamily="34" charset="-120"/>
              </a:rPr>
              <a:t>, kubeconform and a chart CI pipeline.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Multi-service applications</a:t>
            </a:r>
            <a:r>
              <a:rPr lang="en-US" sz="20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Distribution</a:t>
            </a:r>
            <a:r>
              <a:rPr lang="en-US" sz="20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Extending and delivering</a:t>
            </a:r>
            <a:r>
              <a:rPr lang="en-US" sz="20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OpenShift</a:t>
            </a:r>
            <a:r>
              <a:rPr lang="en-US" sz="20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059936"/>
        </p:xfrm>
        <a:graphic>
          <a:graphicData uri="http://schemas.openxmlformats.org/drawingml/2006/table">
            <a:tbl>
              <a:tblPr/>
              <a:tblGrid>
                <a:gridCol w="3017520"/>
                <a:gridCol w="3931920"/>
                <a:gridCol w="410565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--atomic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 and upgrade;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--force-replace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only: needs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--server-side=false</a:t>
                      </a:r>
                      <a:r>
                        <a:rPr lang="en-US" sz="1300" dirty="0">
                          <a:solidFill>
                            <a:srgbClr val="242424"/>
                          </a:solidFill>
                          <a:latin typeface="Red Hat Text" pitchFamily="34" charset="0"/>
                          <a:ea typeface="Red Hat Text" pitchFamily="34" charset="-122"/>
                          <a:cs typeface="Red Hat Text" pitchFamily="34" charset="-120"/>
                        </a:rPr>
                        <a:t>; both spellings warn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--wait=watcher|hookOnly|legacy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bare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 no flag means hookOnly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--dry-run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--dry-run=none|client|server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&lt;exe&gt;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--post-renderer</a:t>
                      </a:r>
                      <a:endParaRPr lang="en-US" sz="1400" dirty="0">
                        <a:latin typeface="Red Hat Text" charset="0"/>
                        <a:ea typeface="Red Hat Text" charset="0"/>
                        <a:cs typeface="Red Hat Text" charset="0"/>
                      </a:endParaRPr>
                    </a:p>
                    <a:p>
                      <a:pPr algn="l" indent="0" marL="0">
                        <a:buNone/>
                      </a:pPr>
                      <a:r>
                        <a:rPr lang="en-US" sz="1400" b="1" dirty="0">
                          <a:solidFill>
                            <a:srgbClr val="151515"/>
                          </a:solidFill>
                          <a:latin typeface="Red Hat Text" pitchFamily="34" charset="0"/>
                          <a:ea typeface="Red Hat Text" pitchFamily="34" charset="-122"/>
                          <a:cs typeface="Red Hat Text" pitchFamily="34" charset="-120"/>
                        </a:rPr>
                        <a:t> &lt;plugin&gt;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registry login oci://host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registry login host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Domain name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2026-10-08T18:43:36Z</dcterms:created>
  <dcterms:modified xsi:type="dcterms:W3CDTF">2026-10-08T18:43:36Z</dcterms:modified>
</cp:coreProperties>
</file>